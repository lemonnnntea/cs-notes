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6" r:id="rId2"/>
    <p:sldId id="257" r:id="rId3"/>
    <p:sldId id="258" r:id="rId4"/>
    <p:sldId id="314" r:id="rId5"/>
    <p:sldId id="260" r:id="rId6"/>
    <p:sldId id="304" r:id="rId7"/>
    <p:sldId id="305" r:id="rId8"/>
    <p:sldId id="265" r:id="rId9"/>
    <p:sldId id="266" r:id="rId10"/>
    <p:sldId id="307" r:id="rId11"/>
    <p:sldId id="308" r:id="rId12"/>
    <p:sldId id="309" r:id="rId13"/>
    <p:sldId id="310" r:id="rId14"/>
    <p:sldId id="311" r:id="rId15"/>
    <p:sldId id="313" r:id="rId16"/>
    <p:sldId id="267" r:id="rId17"/>
    <p:sldId id="323" r:id="rId18"/>
    <p:sldId id="324" r:id="rId19"/>
    <p:sldId id="325" r:id="rId20"/>
    <p:sldId id="268" r:id="rId21"/>
    <p:sldId id="315" r:id="rId22"/>
    <p:sldId id="319" r:id="rId23"/>
    <p:sldId id="320" r:id="rId24"/>
    <p:sldId id="321" r:id="rId25"/>
    <p:sldId id="987" r:id="rId26"/>
    <p:sldId id="322" r:id="rId27"/>
  </p:sldIdLst>
  <p:sldSz cx="9144000" cy="6858000" type="screen4x3"/>
  <p:notesSz cx="6858000" cy="9144000"/>
  <p:custDataLst>
    <p:tags r:id="rId29"/>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CC"/>
    <a:srgbClr val="FFFF99"/>
    <a:srgbClr val="0000FF"/>
    <a:srgbClr val="FF0000"/>
    <a:srgbClr val="996600"/>
    <a:srgbClr val="99FFCC"/>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63" d="100"/>
          <a:sy n="63" d="100"/>
        </p:scale>
        <p:origin x="572" y="-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panose="020B0604020202020204" pitchFamily="34" charset="0"/>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panose="020B0604020202020204" pitchFamily="34" charset="0"/>
              </a:defRPr>
            </a:lvl1pPr>
          </a:lstStyle>
          <a:p>
            <a:pPr>
              <a:defRPr/>
            </a:pPr>
            <a:fld id="{CEA5CB3F-0A36-44F5-9CB3-8AD50A6BC785}" type="datetimeFigureOut">
              <a:rPr lang="zh-CN" altLang="en-US"/>
              <a:t>2025/2/23</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panose="020B0604020202020204" pitchFamily="34" charset="0"/>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pPr>
              <a:defRPr/>
            </a:pPr>
            <a:fld id="{636267FD-F688-4B12-B533-F32EE5C49780}"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3A561AE9-C0A0-4E0A-AF60-6DBCB14562CE}" type="slidenum">
              <a:rPr kumimoji="1" lang="en-US" altLang="zh-CN" smtClean="0">
                <a:latin typeface="Times New Roman" panose="02020603050405020304" pitchFamily="18" charset="0"/>
              </a:rPr>
              <a:t>6</a:t>
            </a:fld>
            <a:endParaRPr kumimoji="1" lang="en-US" altLang="zh-CN">
              <a:latin typeface="Times New Roman" panose="02020603050405020304" pitchFamily="18" charset="0"/>
            </a:endParaRPr>
          </a:p>
        </p:txBody>
      </p:sp>
      <p:sp>
        <p:nvSpPr>
          <p:cNvPr id="11267"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26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8F3ADAA-DE7D-47CD-920F-BCB07615D3AD}" type="slidenum">
              <a:rPr lang="en-US" altLang="zh-CN" smtClean="0"/>
              <a:t>25</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D7DF84A0-7CD2-4D23-A3EE-42D0E0C6EDF1}"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矩形 3"/>
          <p:cNvSpPr/>
          <p:nvPr userDrawn="1"/>
        </p:nvSpPr>
        <p:spPr>
          <a:xfrm>
            <a:off x="395288" y="1052513"/>
            <a:ext cx="8424862" cy="73025"/>
          </a:xfrm>
          <a:prstGeom prst="rect">
            <a:avLst/>
          </a:prstGeom>
          <a:gradFill>
            <a:gsLst>
              <a:gs pos="0">
                <a:srgbClr val="3399FF"/>
              </a:gs>
              <a:gs pos="16000">
                <a:srgbClr val="00CCCC"/>
              </a:gs>
              <a:gs pos="47000">
                <a:srgbClr val="9999FF"/>
              </a:gs>
              <a:gs pos="60001">
                <a:srgbClr val="2E6792"/>
              </a:gs>
              <a:gs pos="71001">
                <a:srgbClr val="3333CC"/>
              </a:gs>
              <a:gs pos="81000">
                <a:srgbClr val="1170FF"/>
              </a:gs>
              <a:gs pos="100000">
                <a:srgbClr val="006699"/>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96EA18F3-16AF-4148-8399-10D766028C28}"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81023ECD-D3D4-47C1-AB97-B5EF9D0AFF79}"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B1F661D3-21D9-4C6D-8C92-1EB6FAB29D10}"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164D4607-0796-4DF2-85D0-915B56D7109B}"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8D297ACD-BB33-46A4-A7FF-9C20216DFB5C}"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矩形 1"/>
          <p:cNvSpPr/>
          <p:nvPr userDrawn="1"/>
        </p:nvSpPr>
        <p:spPr>
          <a:xfrm>
            <a:off x="395288" y="1052513"/>
            <a:ext cx="8424862" cy="73025"/>
          </a:xfrm>
          <a:prstGeom prst="rect">
            <a:avLst/>
          </a:prstGeom>
          <a:gradFill>
            <a:gsLst>
              <a:gs pos="0">
                <a:srgbClr val="3399FF"/>
              </a:gs>
              <a:gs pos="16000">
                <a:srgbClr val="00CCCC"/>
              </a:gs>
              <a:gs pos="47000">
                <a:srgbClr val="9999FF"/>
              </a:gs>
              <a:gs pos="60001">
                <a:srgbClr val="2E6792"/>
              </a:gs>
              <a:gs pos="71001">
                <a:srgbClr val="3333CC"/>
              </a:gs>
              <a:gs pos="81000">
                <a:srgbClr val="1170FF"/>
              </a:gs>
              <a:gs pos="100000">
                <a:srgbClr val="006699"/>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2FC16DE8-544B-401F-9FF9-F45438506830}"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324CCA41-81E5-4C0B-A987-FBDD9C4CDEC8}"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663A6ED3-DD02-416D-B951-FCBB58EBEE16}"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A26B76DF-FDAB-41BD-A0B3-CBC4856AA514}"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6FF12194-8B3B-4BCE-92E7-D91C76B21A6E}"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lstStyle>
            <a:lvl1pPr eaLnBrk="1" hangingPunct="1">
              <a:defRPr sz="1400">
                <a:latin typeface="Arial" panose="020B0604020202020204" pitchFamily="34" charset="0"/>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lstStyle>
            <a:lvl1pPr algn="ctr" eaLnBrk="1" hangingPunct="1">
              <a:defRPr sz="1400">
                <a:latin typeface="Arial" panose="020B0604020202020204" pitchFamily="34" charset="0"/>
              </a:defRPr>
            </a:lvl1pPr>
          </a:lstStyle>
          <a:p>
            <a:pPr>
              <a:defRPr/>
            </a:pPr>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lstStyle>
            <a:lvl1pPr algn="r" eaLnBrk="1" hangingPunct="1">
              <a:defRPr sz="1400"/>
            </a:lvl1pPr>
          </a:lstStyle>
          <a:p>
            <a:pPr>
              <a:defRPr/>
            </a:pPr>
            <a:fld id="{88031096-C7D0-461F-BA9F-0AB4DDC361F6}"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9.wmf"/><Relationship Id="rId5" Type="http://schemas.openxmlformats.org/officeDocument/2006/relationships/oleObject" Target="../embeddings/oleObject3.bin"/><Relationship Id="rId4" Type="http://schemas.openxmlformats.org/officeDocument/2006/relationships/image" Target="../media/image8.wmf"/><Relationship Id="rId9"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slide" Target="slide3.xml"/><Relationship Id="rId1" Type="http://schemas.openxmlformats.org/officeDocument/2006/relationships/slideLayout" Target="../slideLayouts/slideLayout2.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4"/>
          <p:cNvSpPr>
            <a:spLocks noChangeArrowheads="1"/>
          </p:cNvSpPr>
          <p:nvPr/>
        </p:nvSpPr>
        <p:spPr bwMode="auto">
          <a:xfrm>
            <a:off x="2051050" y="2134269"/>
            <a:ext cx="5838825" cy="3382963"/>
          </a:xfrm>
          <a:prstGeom prst="rect">
            <a:avLst/>
          </a:prstGeom>
          <a:noFill/>
          <a:ln>
            <a:noFill/>
          </a:ln>
          <a:effectLst/>
        </p:spPr>
        <p:txBody>
          <a:bodyPr/>
          <a:lstStyle/>
          <a:p>
            <a:pPr eaLnBrk="1" hangingPunct="1">
              <a:spcBef>
                <a:spcPct val="50000"/>
              </a:spcBef>
              <a:defRPr/>
            </a:pPr>
            <a:r>
              <a:rPr lang="en-US" altLang="zh-CN" sz="3000" b="1" dirty="0">
                <a:effectLst>
                  <a:outerShdw blurRad="38100" dist="38100" dir="2700000" algn="tl">
                    <a:srgbClr val="000000">
                      <a:alpha val="43137"/>
                    </a:srgbClr>
                  </a:outerShdw>
                </a:effectLst>
                <a:latin typeface="+mn-ea"/>
                <a:ea typeface="+mn-ea"/>
              </a:rPr>
              <a:t>2.1  </a:t>
            </a:r>
            <a:r>
              <a:rPr lang="zh-CN" altLang="en-US" sz="3000" b="1" dirty="0">
                <a:effectLst>
                  <a:outerShdw blurRad="38100" dist="38100" dir="2700000" algn="tl">
                    <a:srgbClr val="000000">
                      <a:alpha val="43137"/>
                    </a:srgbClr>
                  </a:outerShdw>
                </a:effectLst>
                <a:latin typeface="+mn-ea"/>
                <a:ea typeface="+mn-ea"/>
              </a:rPr>
              <a:t>单片机的基本结构 </a:t>
            </a:r>
          </a:p>
          <a:p>
            <a:pPr eaLnBrk="1" hangingPunct="1">
              <a:spcBef>
                <a:spcPct val="50000"/>
              </a:spcBef>
              <a:defRPr/>
            </a:pPr>
            <a:r>
              <a:rPr lang="en-US" altLang="zh-CN" sz="3000" b="1" dirty="0">
                <a:effectLst>
                  <a:outerShdw blurRad="38100" dist="38100" dir="2700000" algn="tl">
                    <a:srgbClr val="000000">
                      <a:alpha val="43137"/>
                    </a:srgbClr>
                  </a:outerShdw>
                </a:effectLst>
                <a:latin typeface="+mn-ea"/>
                <a:ea typeface="+mn-ea"/>
              </a:rPr>
              <a:t>2.2  </a:t>
            </a:r>
            <a:r>
              <a:rPr lang="zh-CN" altLang="en-US" sz="3000" b="1" dirty="0">
                <a:effectLst>
                  <a:outerShdw blurRad="38100" dist="38100" dir="2700000" algn="tl">
                    <a:srgbClr val="000000">
                      <a:alpha val="43137"/>
                    </a:srgbClr>
                  </a:outerShdw>
                </a:effectLst>
                <a:latin typeface="+mn-ea"/>
                <a:ea typeface="+mn-ea"/>
              </a:rPr>
              <a:t>单片机的存储器结构 </a:t>
            </a:r>
          </a:p>
          <a:p>
            <a:pPr eaLnBrk="1" hangingPunct="1">
              <a:spcBef>
                <a:spcPct val="50000"/>
              </a:spcBef>
              <a:defRPr/>
            </a:pPr>
            <a:r>
              <a:rPr lang="en-US" altLang="zh-CN" sz="3000" b="1" dirty="0">
                <a:effectLst>
                  <a:outerShdw blurRad="38100" dist="38100" dir="2700000" algn="tl">
                    <a:srgbClr val="000000">
                      <a:alpha val="43137"/>
                    </a:srgbClr>
                  </a:outerShdw>
                </a:effectLst>
                <a:latin typeface="+mn-ea"/>
                <a:ea typeface="+mn-ea"/>
              </a:rPr>
              <a:t>2.3  </a:t>
            </a:r>
            <a:r>
              <a:rPr lang="zh-CN" altLang="en-US" sz="3000" b="1" dirty="0">
                <a:effectLst>
                  <a:outerShdw blurRad="38100" dist="38100" dir="2700000" algn="tl">
                    <a:srgbClr val="000000">
                      <a:alpha val="43137"/>
                    </a:srgbClr>
                  </a:outerShdw>
                </a:effectLst>
                <a:latin typeface="+mn-ea"/>
                <a:ea typeface="+mn-ea"/>
              </a:rPr>
              <a:t>单片机的复位与时序 </a:t>
            </a:r>
          </a:p>
          <a:p>
            <a:pPr eaLnBrk="1" hangingPunct="1">
              <a:spcBef>
                <a:spcPct val="50000"/>
              </a:spcBef>
              <a:defRPr/>
            </a:pPr>
            <a:r>
              <a:rPr lang="en-US" altLang="zh-CN" sz="3000" b="1" dirty="0">
                <a:effectLst>
                  <a:outerShdw blurRad="38100" dist="38100" dir="2700000" algn="tl">
                    <a:srgbClr val="000000">
                      <a:alpha val="43137"/>
                    </a:srgbClr>
                  </a:outerShdw>
                </a:effectLst>
                <a:latin typeface="+mn-ea"/>
                <a:ea typeface="+mn-ea"/>
              </a:rPr>
              <a:t>2.4  </a:t>
            </a:r>
            <a:r>
              <a:rPr lang="zh-CN" altLang="en-US" sz="3000" b="1" dirty="0">
                <a:effectLst>
                  <a:outerShdw blurRad="38100" dist="38100" dir="2700000" algn="tl">
                    <a:srgbClr val="000000">
                      <a:alpha val="43137"/>
                    </a:srgbClr>
                  </a:outerShdw>
                </a:effectLst>
                <a:latin typeface="+mn-ea"/>
                <a:ea typeface="+mn-ea"/>
              </a:rPr>
              <a:t>单片机并行</a:t>
            </a:r>
            <a:r>
              <a:rPr lang="en-US" altLang="zh-CN" sz="3000" b="1" dirty="0">
                <a:effectLst>
                  <a:outerShdw blurRad="38100" dist="38100" dir="2700000" algn="tl">
                    <a:srgbClr val="000000">
                      <a:alpha val="43137"/>
                    </a:srgbClr>
                  </a:outerShdw>
                </a:effectLst>
                <a:latin typeface="+mn-ea"/>
                <a:ea typeface="+mn-ea"/>
              </a:rPr>
              <a:t>I/O</a:t>
            </a:r>
            <a:r>
              <a:rPr lang="zh-CN" altLang="en-US" sz="3000" b="1" dirty="0">
                <a:effectLst>
                  <a:outerShdw blurRad="38100" dist="38100" dir="2700000" algn="tl">
                    <a:srgbClr val="000000">
                      <a:alpha val="43137"/>
                    </a:srgbClr>
                  </a:outerShdw>
                </a:effectLst>
                <a:latin typeface="+mn-ea"/>
                <a:ea typeface="+mn-ea"/>
              </a:rPr>
              <a:t>口 </a:t>
            </a:r>
          </a:p>
          <a:p>
            <a:pPr marL="342900" indent="-342900" eaLnBrk="1" hangingPunct="1">
              <a:spcBef>
                <a:spcPct val="20000"/>
              </a:spcBef>
              <a:buClr>
                <a:srgbClr val="7513D7"/>
              </a:buClr>
              <a:buSzPct val="95000"/>
              <a:buFont typeface="Wingdings" panose="05000000000000000000" pitchFamily="2" charset="2"/>
              <a:buChar char="Ø"/>
              <a:defRPr/>
            </a:pPr>
            <a:endParaRPr lang="zh-CN" altLang="en-US" sz="3000" b="1" dirty="0">
              <a:effectLst>
                <a:outerShdw blurRad="38100" dist="38100" dir="2700000" algn="tl">
                  <a:srgbClr val="000000">
                    <a:alpha val="43137"/>
                  </a:srgbClr>
                </a:outerShdw>
              </a:effectLst>
              <a:latin typeface="+mn-ea"/>
              <a:ea typeface="+mn-ea"/>
            </a:endParaRPr>
          </a:p>
          <a:p>
            <a:pPr marL="342900" indent="-342900" eaLnBrk="1" hangingPunct="1">
              <a:spcBef>
                <a:spcPct val="20000"/>
              </a:spcBef>
              <a:buClr>
                <a:srgbClr val="7513D7"/>
              </a:buClr>
              <a:buSzPct val="95000"/>
              <a:buFont typeface="Wingdings" panose="05000000000000000000" pitchFamily="2" charset="2"/>
              <a:buChar char="Ø"/>
              <a:defRPr/>
            </a:pPr>
            <a:endParaRPr lang="en-US" altLang="zh-CN" sz="3000" b="1" dirty="0">
              <a:effectLst>
                <a:outerShdw blurRad="38100" dist="38100" dir="2700000" algn="tl">
                  <a:srgbClr val="000000">
                    <a:alpha val="43137"/>
                  </a:srgbClr>
                </a:outerShdw>
              </a:effectLst>
              <a:latin typeface="+mn-ea"/>
              <a:ea typeface="+mn-ea"/>
            </a:endParaRPr>
          </a:p>
        </p:txBody>
      </p:sp>
      <p:sp>
        <p:nvSpPr>
          <p:cNvPr id="2053" name="Rectangle 5"/>
          <p:cNvSpPr>
            <a:spLocks noChangeArrowheads="1"/>
          </p:cNvSpPr>
          <p:nvPr/>
        </p:nvSpPr>
        <p:spPr bwMode="auto">
          <a:xfrm>
            <a:off x="684212" y="188913"/>
            <a:ext cx="7920235" cy="1143000"/>
          </a:xfrm>
          <a:prstGeom prst="rect">
            <a:avLst/>
          </a:prstGeom>
          <a:noFill/>
          <a:ln>
            <a:noFill/>
          </a:ln>
          <a:effectLst/>
        </p:spPr>
        <p:txBody>
          <a:bodyPr anchor="ctr"/>
          <a:lstStyle/>
          <a:p>
            <a:pPr algn="ctr" eaLnBrk="1" hangingPunct="1">
              <a:defRPr/>
            </a:pPr>
            <a:r>
              <a:rPr lang="zh-CN" altLang="en-US" sz="3600" b="1" dirty="0">
                <a:solidFill>
                  <a:srgbClr val="C00000"/>
                </a:solidFill>
                <a:effectLst>
                  <a:outerShdw blurRad="38100" dist="38100" dir="2700000" algn="tl">
                    <a:srgbClr val="C0C0C0"/>
                  </a:outerShdw>
                </a:effectLst>
                <a:latin typeface="楷体" panose="02010609060101010101" pitchFamily="49" charset="-122"/>
                <a:ea typeface="楷体" panose="02010609060101010101" pitchFamily="49" charset="-122"/>
              </a:rPr>
              <a:t>第</a:t>
            </a:r>
            <a:r>
              <a:rPr lang="en-US" altLang="zh-CN" sz="3600" b="1" dirty="0">
                <a:solidFill>
                  <a:srgbClr val="C00000"/>
                </a:solidFill>
                <a:effectLst>
                  <a:outerShdw blurRad="38100" dist="38100" dir="2700000" algn="tl">
                    <a:srgbClr val="C0C0C0"/>
                  </a:outerShdw>
                </a:effectLst>
                <a:latin typeface="楷体" panose="02010609060101010101" pitchFamily="49" charset="-122"/>
                <a:ea typeface="楷体" panose="02010609060101010101" pitchFamily="49" charset="-122"/>
              </a:rPr>
              <a:t>2</a:t>
            </a:r>
            <a:r>
              <a:rPr lang="zh-CN" altLang="en-US" sz="3600" b="1" dirty="0">
                <a:solidFill>
                  <a:srgbClr val="C00000"/>
                </a:solidFill>
                <a:effectLst>
                  <a:outerShdw blurRad="38100" dist="38100" dir="2700000" algn="tl">
                    <a:srgbClr val="C0C0C0"/>
                  </a:outerShdw>
                </a:effectLst>
                <a:latin typeface="楷体" panose="02010609060101010101" pitchFamily="49" charset="-122"/>
                <a:ea typeface="楷体" panose="02010609060101010101" pitchFamily="49" charset="-122"/>
              </a:rPr>
              <a:t>章  </a:t>
            </a:r>
            <a:r>
              <a:rPr lang="en-US" altLang="zh-CN" sz="3600" b="1" dirty="0">
                <a:solidFill>
                  <a:srgbClr val="C00000"/>
                </a:solidFill>
                <a:effectLst>
                  <a:outerShdw blurRad="38100" dist="38100" dir="2700000" algn="tl">
                    <a:srgbClr val="C0C0C0"/>
                  </a:outerShdw>
                </a:effectLst>
                <a:latin typeface="楷体" panose="02010609060101010101" pitchFamily="49" charset="-122"/>
                <a:ea typeface="楷体" panose="02010609060101010101" pitchFamily="49" charset="-122"/>
              </a:rPr>
              <a:t>MCS-51</a:t>
            </a:r>
            <a:r>
              <a:rPr lang="zh-CN" altLang="en-US" sz="3600" b="1" dirty="0">
                <a:solidFill>
                  <a:srgbClr val="C00000"/>
                </a:solidFill>
                <a:effectLst>
                  <a:outerShdw blurRad="38100" dist="38100" dir="2700000" algn="tl">
                    <a:srgbClr val="C0C0C0"/>
                  </a:outerShdw>
                </a:effectLst>
                <a:latin typeface="楷体" panose="02010609060101010101" pitchFamily="49" charset="-122"/>
                <a:ea typeface="楷体" panose="02010609060101010101" pitchFamily="49" charset="-122"/>
              </a:rPr>
              <a:t>单片机的结构组成</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827088" y="549275"/>
            <a:ext cx="6121400" cy="3140075"/>
          </a:xfrm>
          <a:prstGeom prst="rect">
            <a:avLst/>
          </a:prstGeom>
          <a:noFill/>
          <a:ln>
            <a:noFill/>
          </a:ln>
          <a:effectLst/>
        </p:spPr>
        <p:txBody>
          <a:bodyPr>
            <a:spAutoFit/>
          </a:bodyPr>
          <a:lstStyle/>
          <a:p>
            <a:pPr eaLnBrk="1" hangingPunct="1">
              <a:spcBef>
                <a:spcPct val="50000"/>
              </a:spcBef>
              <a:defRPr/>
            </a:pPr>
            <a:r>
              <a:rPr lang="zh-CN" altLang="en-US" sz="3000" b="1" dirty="0">
                <a:solidFill>
                  <a:srgbClr val="FF3300"/>
                </a:solidFill>
                <a:effectLst>
                  <a:outerShdw blurRad="38100" dist="38100" dir="2700000" algn="tl">
                    <a:srgbClr val="000000">
                      <a:alpha val="43137"/>
                    </a:srgbClr>
                  </a:outerShdw>
                </a:effectLst>
                <a:ea typeface="黑体" panose="02010609060101010101" pitchFamily="49" charset="-122"/>
              </a:rPr>
              <a:t>要点：</a:t>
            </a:r>
          </a:p>
          <a:p>
            <a:pPr eaLnBrk="1" hangingPunct="1">
              <a:spcBef>
                <a:spcPct val="50000"/>
              </a:spcBef>
              <a:buClr>
                <a:srgbClr val="0000FF"/>
              </a:buClr>
              <a:buFont typeface="Wingdings" panose="05000000000000000000" pitchFamily="2" charset="2"/>
              <a:buChar char="Ø"/>
              <a:defRPr/>
            </a:pPr>
            <a:r>
              <a:rPr lang="zh-CN" altLang="en-US" sz="2800" b="1" dirty="0">
                <a:effectLst>
                  <a:outerShdw blurRad="38100" dist="38100" dir="2700000" algn="tl">
                    <a:srgbClr val="000000">
                      <a:alpha val="43137"/>
                    </a:srgbClr>
                  </a:outerShdw>
                </a:effectLst>
                <a:latin typeface="楷体_GB2312" pitchFamily="49" charset="-122"/>
                <a:ea typeface="楷体_GB2312" pitchFamily="49" charset="-122"/>
              </a:rPr>
              <a:t> </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单片机的基本组成</a:t>
            </a:r>
          </a:p>
          <a:p>
            <a:pPr eaLnBrk="1" hangingPunct="1">
              <a:spcBef>
                <a:spcPct val="50000"/>
              </a:spcBef>
              <a:buClr>
                <a:srgbClr val="0000FF"/>
              </a:buClr>
              <a:buFont typeface="Wingdings" panose="05000000000000000000" pitchFamily="2" charset="2"/>
              <a:buChar char="Ø"/>
              <a:defRPr/>
            </a:pP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存储器的组织结构</a:t>
            </a:r>
          </a:p>
          <a:p>
            <a:pPr eaLnBrk="1" hangingPunct="1">
              <a:spcBef>
                <a:spcPct val="50000"/>
              </a:spcBef>
              <a:buClr>
                <a:srgbClr val="0000FF"/>
              </a:buClr>
              <a:buFont typeface="Wingdings" panose="05000000000000000000" pitchFamily="2" charset="2"/>
              <a:buChar char="Ø"/>
              <a:defRPr/>
            </a:pP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单片机复位、时钟及时序</a:t>
            </a:r>
          </a:p>
          <a:p>
            <a:pPr eaLnBrk="1" hangingPunct="1">
              <a:spcBef>
                <a:spcPct val="50000"/>
              </a:spcBef>
              <a:buClr>
                <a:srgbClr val="0000FF"/>
              </a:buClr>
              <a:buFont typeface="Wingdings" panose="05000000000000000000" pitchFamily="2" charset="2"/>
              <a:buChar char="Ø"/>
              <a:defRPr/>
            </a:pP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并行</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I/O</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口的基本原理和操作特点</a:t>
            </a:r>
          </a:p>
        </p:txBody>
      </p:sp>
      <p:sp>
        <p:nvSpPr>
          <p:cNvPr id="3075" name="Text Box 3"/>
          <p:cNvSpPr txBox="1">
            <a:spLocks noChangeArrowheads="1"/>
          </p:cNvSpPr>
          <p:nvPr/>
        </p:nvSpPr>
        <p:spPr bwMode="auto">
          <a:xfrm>
            <a:off x="827088" y="3773488"/>
            <a:ext cx="6121400" cy="1200150"/>
          </a:xfrm>
          <a:prstGeom prst="rect">
            <a:avLst/>
          </a:prstGeom>
          <a:noFill/>
          <a:ln>
            <a:noFill/>
          </a:ln>
          <a:effectLst/>
        </p:spPr>
        <p:txBody>
          <a:bodyPr>
            <a:spAutoFit/>
          </a:bodyPr>
          <a:lstStyle/>
          <a:p>
            <a:pPr eaLnBrk="1" hangingPunct="1">
              <a:spcBef>
                <a:spcPct val="50000"/>
              </a:spcBef>
              <a:defRPr/>
            </a:pPr>
            <a:r>
              <a:rPr lang="zh-CN" altLang="en-US" sz="3000" b="1" dirty="0">
                <a:solidFill>
                  <a:srgbClr val="FF3300"/>
                </a:solidFill>
                <a:effectLst>
                  <a:outerShdw blurRad="38100" dist="38100" dir="2700000" algn="tl">
                    <a:srgbClr val="000000">
                      <a:alpha val="43137"/>
                    </a:srgbClr>
                  </a:outerShdw>
                </a:effectLst>
                <a:ea typeface="黑体" panose="02010609060101010101" pitchFamily="49" charset="-122"/>
              </a:rPr>
              <a:t>难点：</a:t>
            </a:r>
          </a:p>
          <a:p>
            <a:pPr eaLnBrk="1" hangingPunct="1">
              <a:spcBef>
                <a:spcPct val="50000"/>
              </a:spcBef>
              <a:buClr>
                <a:srgbClr val="0000FF"/>
              </a:buClr>
              <a:buFont typeface="Wingdings" panose="05000000000000000000" pitchFamily="2" charset="2"/>
              <a:buChar char="Ø"/>
              <a:defRPr/>
            </a:pPr>
            <a:r>
              <a:rPr lang="zh-CN" altLang="en-US" sz="2800" b="1" dirty="0">
                <a:effectLst>
                  <a:outerShdw blurRad="38100" dist="38100" dir="2700000" algn="tl">
                    <a:srgbClr val="000000">
                      <a:alpha val="43137"/>
                    </a:srgbClr>
                  </a:outerShdw>
                </a:effectLst>
                <a:latin typeface="楷体_GB2312" pitchFamily="49" charset="-122"/>
                <a:ea typeface="楷体_GB2312" pitchFamily="49" charset="-122"/>
              </a:rPr>
              <a:t> </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并行</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I/O</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口的基本原理</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diamond(in)">
                                      <p:cBhvr>
                                        <p:cTn id="7" dur="10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075"/>
                                        </p:tgtEl>
                                        <p:attrNameLst>
                                          <p:attrName>style.visibility</p:attrName>
                                        </p:attrNameLst>
                                      </p:cBhvr>
                                      <p:to>
                                        <p:strVal val="visible"/>
                                      </p:to>
                                    </p:set>
                                    <p:animEffect transition="in" filter="box(in)">
                                      <p:cBhvr>
                                        <p:cTn id="12" dur="5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 grpId="0" autoUpdateAnimBg="0"/>
      <p:bldP spid="3075"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39750" y="1900238"/>
            <a:ext cx="8604250" cy="4105275"/>
            <a:chOff x="539750" y="1900238"/>
            <a:chExt cx="8604250" cy="4105275"/>
          </a:xfrm>
        </p:grpSpPr>
        <p:pic>
          <p:nvPicPr>
            <p:cNvPr id="4100" name="Picture 4" descr="snap2"/>
            <p:cNvPicPr>
              <a:picLocks noChangeAspect="1" noChangeArrowheads="1"/>
            </p:cNvPicPr>
            <p:nvPr/>
          </p:nvPicPr>
          <p:blipFill>
            <a:blip r:embed="rId2">
              <a:lum bright="-18000" contrast="30000"/>
              <a:extLst>
                <a:ext uri="{28A0092B-C50C-407E-A947-70E740481C1C}">
                  <a14:useLocalDpi xmlns:a14="http://schemas.microsoft.com/office/drawing/2010/main" val="0"/>
                </a:ext>
              </a:extLst>
            </a:blip>
            <a:srcRect/>
            <a:stretch>
              <a:fillRect/>
            </a:stretch>
          </p:blipFill>
          <p:spPr bwMode="auto">
            <a:xfrm>
              <a:off x="539750" y="1900238"/>
              <a:ext cx="8604250" cy="410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4406518" y="2431285"/>
              <a:ext cx="1101586" cy="504825"/>
            </a:xfrm>
            <a:prstGeom prst="rect">
              <a:avLst/>
            </a:prstGeom>
            <a:solidFill>
              <a:schemeClr val="bg1"/>
            </a:solidFill>
            <a:ln w="31750">
              <a:noFill/>
            </a:ln>
          </p:spPr>
          <p:style>
            <a:lnRef idx="2">
              <a:schemeClr val="accent1">
                <a:shade val="50000"/>
              </a:schemeClr>
            </a:lnRef>
            <a:fillRef idx="1">
              <a:schemeClr val="accent1"/>
            </a:fillRef>
            <a:effectRef idx="0">
              <a:schemeClr val="accent1"/>
            </a:effectRef>
            <a:fontRef idx="minor">
              <a:schemeClr val="lt1"/>
            </a:fontRef>
          </p:style>
          <p:txBody>
            <a:bodyPr lIns="72000" rIns="72000" anchor="ctr"/>
            <a:lstStyle/>
            <a:p>
              <a:pPr algn="ctr" eaLnBrk="1" hangingPunct="1">
                <a:defRPr/>
              </a:pPr>
              <a:r>
                <a:rPr lang="en-US" altLang="zh-CN" sz="2600" b="1" dirty="0">
                  <a:solidFill>
                    <a:srgbClr val="99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256B</a:t>
              </a:r>
              <a:endParaRPr lang="zh-CN" altLang="en-US" sz="2600" b="1" dirty="0">
                <a:solidFill>
                  <a:srgbClr val="9900CC"/>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sp>
        <p:nvSpPr>
          <p:cNvPr id="4098" name="Rectangle 2"/>
          <p:cNvSpPr>
            <a:spLocks noGrp="1" noChangeArrowheads="1"/>
          </p:cNvSpPr>
          <p:nvPr>
            <p:ph type="ctrTitle"/>
          </p:nvPr>
        </p:nvSpPr>
        <p:spPr>
          <a:xfrm>
            <a:off x="1476375" y="547688"/>
            <a:ext cx="6408738" cy="649287"/>
          </a:xfrm>
        </p:spPr>
        <p:txBody>
          <a:bodyPr/>
          <a:lstStyle/>
          <a:p>
            <a:pPr eaLnBrk="1" hangingPunct="1">
              <a:defRPr/>
            </a:pPr>
            <a:r>
              <a:rPr lang="en-US" altLang="zh-CN" sz="3600" b="1" dirty="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2.1  </a:t>
            </a:r>
            <a:r>
              <a:rPr lang="zh-CN" altLang="en-US" sz="3600" b="1" dirty="0">
                <a:solidFill>
                  <a:srgbClr val="C0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单片机的基本结构</a:t>
            </a:r>
          </a:p>
        </p:txBody>
      </p:sp>
      <p:sp>
        <p:nvSpPr>
          <p:cNvPr id="4099" name="Text Box 3"/>
          <p:cNvSpPr txBox="1">
            <a:spLocks noChangeArrowheads="1"/>
          </p:cNvSpPr>
          <p:nvPr/>
        </p:nvSpPr>
        <p:spPr bwMode="auto">
          <a:xfrm>
            <a:off x="827088" y="1268413"/>
            <a:ext cx="6337300" cy="584200"/>
          </a:xfrm>
          <a:prstGeom prst="rect">
            <a:avLst/>
          </a:prstGeom>
          <a:noFill/>
          <a:ln>
            <a:noFill/>
          </a:ln>
          <a:effectLst/>
        </p:spPr>
        <p:txBody>
          <a:bodyPr>
            <a:spAutoFit/>
          </a:bodyPr>
          <a:lstStyle/>
          <a:p>
            <a:pPr eaLnBrk="1" hangingPunct="1">
              <a:spcBef>
                <a:spcPct val="50000"/>
              </a:spcBef>
              <a:defRPr/>
            </a:pPr>
            <a:r>
              <a:rPr lang="en-US" altLang="zh-CN" sz="32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2.1.1  MCS-51</a:t>
            </a:r>
            <a:r>
              <a:rPr lang="zh-CN" altLang="en-US" sz="32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单片机的内部结构</a:t>
            </a:r>
          </a:p>
        </p:txBody>
      </p:sp>
      <p:sp>
        <p:nvSpPr>
          <p:cNvPr id="2" name="矩形 1"/>
          <p:cNvSpPr/>
          <p:nvPr/>
        </p:nvSpPr>
        <p:spPr>
          <a:xfrm>
            <a:off x="1279525" y="1916113"/>
            <a:ext cx="647700" cy="504825"/>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7" name="矩形 6"/>
          <p:cNvSpPr/>
          <p:nvPr/>
        </p:nvSpPr>
        <p:spPr>
          <a:xfrm>
            <a:off x="1279525" y="2473325"/>
            <a:ext cx="647700" cy="504825"/>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9" name="矩形 8"/>
          <p:cNvSpPr/>
          <p:nvPr/>
        </p:nvSpPr>
        <p:spPr>
          <a:xfrm>
            <a:off x="2343150" y="2976563"/>
            <a:ext cx="647700" cy="504825"/>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0" name="矩形 9"/>
          <p:cNvSpPr/>
          <p:nvPr/>
        </p:nvSpPr>
        <p:spPr>
          <a:xfrm>
            <a:off x="7092950" y="3481388"/>
            <a:ext cx="725488" cy="504825"/>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3" name="矩形 12"/>
          <p:cNvSpPr/>
          <p:nvPr/>
        </p:nvSpPr>
        <p:spPr>
          <a:xfrm>
            <a:off x="1279525" y="3952875"/>
            <a:ext cx="647700" cy="504825"/>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4" name="矩形 13"/>
          <p:cNvSpPr/>
          <p:nvPr/>
        </p:nvSpPr>
        <p:spPr>
          <a:xfrm>
            <a:off x="4121150" y="3987800"/>
            <a:ext cx="647700" cy="504825"/>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5" name="矩形 14"/>
          <p:cNvSpPr/>
          <p:nvPr/>
        </p:nvSpPr>
        <p:spPr>
          <a:xfrm>
            <a:off x="1279525" y="4522788"/>
            <a:ext cx="647700" cy="504825"/>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6" name="矩形 15"/>
          <p:cNvSpPr/>
          <p:nvPr/>
        </p:nvSpPr>
        <p:spPr>
          <a:xfrm>
            <a:off x="1279525" y="5027613"/>
            <a:ext cx="647700" cy="504825"/>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7" name="矩形 16"/>
          <p:cNvSpPr/>
          <p:nvPr/>
        </p:nvSpPr>
        <p:spPr>
          <a:xfrm>
            <a:off x="2990850" y="5046663"/>
            <a:ext cx="647700" cy="504825"/>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8" name="矩形 17"/>
          <p:cNvSpPr/>
          <p:nvPr/>
        </p:nvSpPr>
        <p:spPr>
          <a:xfrm>
            <a:off x="1279525" y="5534025"/>
            <a:ext cx="987425" cy="504825"/>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randombar(horizontal)">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arn(inVertical)">
                                      <p:cBhvr>
                                        <p:cTn id="16" dur="500"/>
                                        <p:tgtEl>
                                          <p:spTgt spid="2"/>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barn(inVertical)">
                                      <p:cBhvr>
                                        <p:cTn id="19" dur="500"/>
                                        <p:tgtEl>
                                          <p:spTgt spid="7"/>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arn(inVertical)">
                                      <p:cBhvr>
                                        <p:cTn id="22" dur="500"/>
                                        <p:tgtEl>
                                          <p:spTgt spid="9"/>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arn(inVertical)">
                                      <p:cBhvr>
                                        <p:cTn id="25" dur="500"/>
                                        <p:tgtEl>
                                          <p:spTgt spid="10"/>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barn(inVertical)">
                                      <p:cBhvr>
                                        <p:cTn id="28" dur="500"/>
                                        <p:tgtEl>
                                          <p:spTgt spid="13"/>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barn(inVertical)">
                                      <p:cBhvr>
                                        <p:cTn id="31" dur="500"/>
                                        <p:tgtEl>
                                          <p:spTgt spid="14"/>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barn(inVertical)">
                                      <p:cBhvr>
                                        <p:cTn id="34" dur="500"/>
                                        <p:tgtEl>
                                          <p:spTgt spid="15"/>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barn(inVertical)">
                                      <p:cBhvr>
                                        <p:cTn id="37" dur="500"/>
                                        <p:tgtEl>
                                          <p:spTgt spid="16"/>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barn(inVertical)">
                                      <p:cBhvr>
                                        <p:cTn id="40" dur="500"/>
                                        <p:tgtEl>
                                          <p:spTgt spid="17"/>
                                        </p:tgtEl>
                                      </p:cBhvr>
                                    </p:animEffect>
                                  </p:childTnLst>
                                </p:cTn>
                              </p:par>
                              <p:par>
                                <p:cTn id="41" presetID="16" presetClass="entr" presetSubtype="21"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barn(inVertical)">
                                      <p:cBhvr>
                                        <p:cTn id="4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autoUpdateAnimBg="0"/>
      <p:bldP spid="2" grpId="0" animBg="1"/>
      <p:bldP spid="7" grpId="0" animBg="1"/>
      <p:bldP spid="9" grpId="0" animBg="1"/>
      <p:bldP spid="10" grpId="0" animBg="1"/>
      <p:bldP spid="13" grpId="0" animBg="1"/>
      <p:bldP spid="14" grpId="0" animBg="1"/>
      <p:bldP spid="15" grpId="0" animBg="1"/>
      <p:bldP spid="16" grpId="0" animBg="1"/>
      <p:bldP spid="17" grpId="0" animBg="1"/>
      <p:bldP spid="1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5"/>
          <p:cNvSpPr txBox="1">
            <a:spLocks noChangeArrowheads="1"/>
          </p:cNvSpPr>
          <p:nvPr/>
        </p:nvSpPr>
        <p:spPr bwMode="auto">
          <a:xfrm>
            <a:off x="917575" y="1268413"/>
            <a:ext cx="7308850" cy="4402137"/>
          </a:xfrm>
          <a:prstGeom prst="rect">
            <a:avLst/>
          </a:prstGeom>
          <a:solidFill>
            <a:srgbClr val="CCFFCC"/>
          </a:solidFill>
          <a:ln w="57150" cmpd="thinThick">
            <a:solidFill>
              <a:srgbClr val="7513D7"/>
            </a:solidFill>
            <a:miter lim="800000"/>
          </a:ln>
          <a:effec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2800" b="1" dirty="0">
                <a:effectLst>
                  <a:outerShdw blurRad="38100" dist="38100" dir="2700000" algn="tl">
                    <a:srgbClr val="000000">
                      <a:alpha val="43137"/>
                    </a:srgbClr>
                  </a:outerShdw>
                </a:effectLst>
                <a:latin typeface="+mn-ea"/>
                <a:ea typeface="+mn-ea"/>
                <a:cs typeface="Times New Roman" panose="02020603050405020304" pitchFamily="18" charset="0"/>
              </a:rPr>
              <a:t>1</a:t>
            </a:r>
            <a:r>
              <a:rPr lang="zh-CN" altLang="en-US" sz="2800" b="1" dirty="0">
                <a:effectLst>
                  <a:outerShdw blurRad="38100" dist="38100" dir="2700000" algn="tl">
                    <a:srgbClr val="000000">
                      <a:alpha val="43137"/>
                    </a:srgbClr>
                  </a:outerShdw>
                </a:effectLst>
                <a:latin typeface="+mn-ea"/>
                <a:ea typeface="+mn-ea"/>
                <a:cs typeface="Times New Roman" panose="02020603050405020304" pitchFamily="18" charset="0"/>
              </a:rPr>
              <a:t>、不同点：</a:t>
            </a:r>
          </a:p>
          <a:p>
            <a:pPr eaLnBrk="1" hangingPunct="1">
              <a:defRPr/>
            </a:pPr>
            <a:r>
              <a:rPr lang="zh-CN" altLang="en-US" sz="2800" b="1" dirty="0">
                <a:effectLst>
                  <a:outerShdw blurRad="38100" dist="38100" dir="2700000" algn="tl">
                    <a:srgbClr val="000000">
                      <a:alpha val="43137"/>
                    </a:srgbClr>
                  </a:outerShdw>
                </a:effectLst>
                <a:latin typeface="+mn-ea"/>
                <a:ea typeface="+mn-ea"/>
                <a:cs typeface="Times New Roman" panose="02020603050405020304" pitchFamily="18" charset="0"/>
              </a:rPr>
              <a:t>  </a:t>
            </a:r>
            <a:r>
              <a:rPr lang="en-US" altLang="zh-CN" sz="2800" b="1" dirty="0">
                <a:effectLst>
                  <a:outerShdw blurRad="38100" dist="38100" dir="2700000" algn="tl">
                    <a:srgbClr val="000000">
                      <a:alpha val="43137"/>
                    </a:srgbClr>
                  </a:outerShdw>
                </a:effectLst>
                <a:latin typeface="+mn-ea"/>
                <a:ea typeface="+mn-ea"/>
                <a:cs typeface="Times New Roman" panose="02020603050405020304" pitchFamily="18" charset="0"/>
              </a:rPr>
              <a:t>8051</a:t>
            </a:r>
            <a:r>
              <a:rPr lang="zh-CN" altLang="en-US" sz="2800" b="1" dirty="0">
                <a:effectLst>
                  <a:outerShdw blurRad="38100" dist="38100" dir="2700000" algn="tl">
                    <a:srgbClr val="000000">
                      <a:alpha val="43137"/>
                    </a:srgbClr>
                  </a:outerShdw>
                </a:effectLst>
                <a:latin typeface="+mn-ea"/>
                <a:ea typeface="+mn-ea"/>
                <a:cs typeface="Times New Roman" panose="02020603050405020304" pitchFamily="18" charset="0"/>
              </a:rPr>
              <a:t>是</a:t>
            </a:r>
            <a:r>
              <a:rPr lang="en-US" altLang="zh-CN" sz="2800" b="1" dirty="0">
                <a:effectLst>
                  <a:outerShdw blurRad="38100" dist="38100" dir="2700000" algn="tl">
                    <a:srgbClr val="000000">
                      <a:alpha val="43137"/>
                    </a:srgbClr>
                  </a:outerShdw>
                </a:effectLst>
                <a:latin typeface="+mn-ea"/>
                <a:ea typeface="+mn-ea"/>
                <a:cs typeface="Times New Roman" panose="02020603050405020304" pitchFamily="18" charset="0"/>
              </a:rPr>
              <a:t>ROM</a:t>
            </a:r>
            <a:r>
              <a:rPr lang="zh-CN" altLang="en-US" sz="2800" b="1" dirty="0">
                <a:effectLst>
                  <a:outerShdw blurRad="38100" dist="38100" dir="2700000" algn="tl">
                    <a:srgbClr val="000000">
                      <a:alpha val="43137"/>
                    </a:srgbClr>
                  </a:outerShdw>
                </a:effectLst>
                <a:latin typeface="+mn-ea"/>
                <a:ea typeface="+mn-ea"/>
                <a:cs typeface="Times New Roman" panose="02020603050405020304" pitchFamily="18" charset="0"/>
              </a:rPr>
              <a:t>型单片机，内部有</a:t>
            </a:r>
            <a:r>
              <a:rPr lang="en-US" altLang="zh-CN" sz="2800" b="1" dirty="0">
                <a:effectLst>
                  <a:outerShdw blurRad="38100" dist="38100" dir="2700000" algn="tl">
                    <a:srgbClr val="000000">
                      <a:alpha val="43137"/>
                    </a:srgbClr>
                  </a:outerShdw>
                </a:effectLst>
                <a:latin typeface="+mn-ea"/>
                <a:ea typeface="+mn-ea"/>
                <a:cs typeface="Times New Roman" panose="02020603050405020304" pitchFamily="18" charset="0"/>
              </a:rPr>
              <a:t>4KB</a:t>
            </a:r>
            <a:r>
              <a:rPr lang="zh-CN" altLang="en-US" sz="2800" b="1" dirty="0">
                <a:effectLst>
                  <a:outerShdw blurRad="38100" dist="38100" dir="2700000" algn="tl">
                    <a:srgbClr val="000000">
                      <a:alpha val="43137"/>
                    </a:srgbClr>
                  </a:outerShdw>
                </a:effectLst>
                <a:latin typeface="+mn-ea"/>
                <a:ea typeface="+mn-ea"/>
                <a:cs typeface="Times New Roman" panose="02020603050405020304" pitchFamily="18" charset="0"/>
              </a:rPr>
              <a:t>的</a:t>
            </a:r>
            <a:r>
              <a:rPr lang="en-US" altLang="zh-CN" sz="2800" b="1" dirty="0">
                <a:effectLst>
                  <a:outerShdw blurRad="38100" dist="38100" dir="2700000" algn="tl">
                    <a:srgbClr val="000000">
                      <a:alpha val="43137"/>
                    </a:srgbClr>
                  </a:outerShdw>
                </a:effectLst>
                <a:latin typeface="+mn-ea"/>
                <a:ea typeface="+mn-ea"/>
                <a:cs typeface="Times New Roman" panose="02020603050405020304" pitchFamily="18" charset="0"/>
              </a:rPr>
              <a:t>ROM</a:t>
            </a:r>
            <a:r>
              <a:rPr lang="zh-CN" altLang="en-US" sz="2800" b="1" dirty="0">
                <a:effectLst>
                  <a:outerShdw blurRad="38100" dist="38100" dir="2700000" algn="tl">
                    <a:srgbClr val="000000">
                      <a:alpha val="43137"/>
                    </a:srgbClr>
                  </a:outerShdw>
                </a:effectLst>
                <a:latin typeface="+mn-ea"/>
                <a:ea typeface="+mn-ea"/>
                <a:cs typeface="Times New Roman" panose="02020603050405020304" pitchFamily="18" charset="0"/>
              </a:rPr>
              <a:t>；</a:t>
            </a:r>
            <a:endParaRPr lang="en-US" altLang="zh-CN" sz="28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eaLnBrk="1" hangingPunct="1">
              <a:defRPr/>
            </a:pPr>
            <a:r>
              <a:rPr lang="en-US" altLang="zh-CN" sz="2800" b="1" dirty="0">
                <a:effectLst>
                  <a:outerShdw blurRad="38100" dist="38100" dir="2700000" algn="tl">
                    <a:srgbClr val="000000">
                      <a:alpha val="43137"/>
                    </a:srgbClr>
                  </a:outerShdw>
                </a:effectLst>
                <a:latin typeface="+mn-ea"/>
                <a:ea typeface="+mn-ea"/>
                <a:cs typeface="Times New Roman" panose="02020603050405020304" pitchFamily="18" charset="0"/>
              </a:rPr>
              <a:t>  8751</a:t>
            </a:r>
            <a:r>
              <a:rPr lang="zh-CN" altLang="en-US" sz="2800" b="1" dirty="0">
                <a:effectLst>
                  <a:outerShdw blurRad="38100" dist="38100" dir="2700000" algn="tl">
                    <a:srgbClr val="000000">
                      <a:alpha val="43137"/>
                    </a:srgbClr>
                  </a:outerShdw>
                </a:effectLst>
                <a:latin typeface="+mn-ea"/>
                <a:ea typeface="+mn-ea"/>
                <a:cs typeface="Times New Roman" panose="02020603050405020304" pitchFamily="18" charset="0"/>
              </a:rPr>
              <a:t>片内含有</a:t>
            </a:r>
            <a:r>
              <a:rPr lang="en-US" altLang="zh-CN" sz="2800" b="1" dirty="0">
                <a:effectLst>
                  <a:outerShdw blurRad="38100" dist="38100" dir="2700000" algn="tl">
                    <a:srgbClr val="000000">
                      <a:alpha val="43137"/>
                    </a:srgbClr>
                  </a:outerShdw>
                </a:effectLst>
                <a:latin typeface="+mn-ea"/>
                <a:ea typeface="+mn-ea"/>
                <a:cs typeface="Times New Roman" panose="02020603050405020304" pitchFamily="18" charset="0"/>
              </a:rPr>
              <a:t>4KB</a:t>
            </a:r>
            <a:r>
              <a:rPr lang="zh-CN" altLang="en-US" sz="2800" b="1" dirty="0">
                <a:effectLst>
                  <a:outerShdw blurRad="38100" dist="38100" dir="2700000" algn="tl">
                    <a:srgbClr val="000000">
                      <a:alpha val="43137"/>
                    </a:srgbClr>
                  </a:outerShdw>
                </a:effectLst>
                <a:latin typeface="+mn-ea"/>
                <a:ea typeface="+mn-ea"/>
                <a:cs typeface="Times New Roman" panose="02020603050405020304" pitchFamily="18" charset="0"/>
              </a:rPr>
              <a:t>的</a:t>
            </a:r>
            <a:r>
              <a:rPr lang="en-US" altLang="zh-CN" sz="2800" b="1" dirty="0">
                <a:effectLst>
                  <a:outerShdw blurRad="38100" dist="38100" dir="2700000" algn="tl">
                    <a:srgbClr val="000000">
                      <a:alpha val="43137"/>
                    </a:srgbClr>
                  </a:outerShdw>
                </a:effectLst>
                <a:latin typeface="+mn-ea"/>
                <a:ea typeface="+mn-ea"/>
                <a:cs typeface="Times New Roman" panose="02020603050405020304" pitchFamily="18" charset="0"/>
              </a:rPr>
              <a:t>EPROM</a:t>
            </a:r>
            <a:r>
              <a:rPr lang="zh-CN" altLang="en-US" sz="2800" b="1" dirty="0">
                <a:effectLst>
                  <a:outerShdw blurRad="38100" dist="38100" dir="2700000" algn="tl">
                    <a:srgbClr val="000000">
                      <a:alpha val="43137"/>
                    </a:srgbClr>
                  </a:outerShdw>
                </a:effectLst>
                <a:latin typeface="+mn-ea"/>
                <a:ea typeface="+mn-ea"/>
                <a:cs typeface="Times New Roman" panose="02020603050405020304" pitchFamily="18" charset="0"/>
              </a:rPr>
              <a:t>；</a:t>
            </a:r>
            <a:endParaRPr lang="en-US" altLang="zh-CN" sz="28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eaLnBrk="1" hangingPunct="1">
              <a:defRPr/>
            </a:pPr>
            <a:r>
              <a:rPr lang="en-US" altLang="zh-CN" sz="2800" b="1" dirty="0">
                <a:effectLst>
                  <a:outerShdw blurRad="38100" dist="38100" dir="2700000" algn="tl">
                    <a:srgbClr val="000000">
                      <a:alpha val="43137"/>
                    </a:srgbClr>
                  </a:outerShdw>
                </a:effectLst>
                <a:latin typeface="+mn-ea"/>
                <a:ea typeface="+mn-ea"/>
                <a:cs typeface="Times New Roman" panose="02020603050405020304" pitchFamily="18" charset="0"/>
              </a:rPr>
              <a:t>  8031</a:t>
            </a:r>
            <a:r>
              <a:rPr lang="zh-CN" altLang="en-US" sz="2800" b="1" dirty="0">
                <a:effectLst>
                  <a:outerShdw blurRad="38100" dist="38100" dir="2700000" algn="tl">
                    <a:srgbClr val="000000">
                      <a:alpha val="43137"/>
                    </a:srgbClr>
                  </a:outerShdw>
                </a:effectLst>
                <a:latin typeface="+mn-ea"/>
                <a:ea typeface="+mn-ea"/>
                <a:cs typeface="Times New Roman" panose="02020603050405020304" pitchFamily="18" charset="0"/>
              </a:rPr>
              <a:t>片内没有</a:t>
            </a:r>
            <a:r>
              <a:rPr lang="en-US" altLang="zh-CN" sz="2800" b="1" dirty="0">
                <a:effectLst>
                  <a:outerShdw blurRad="38100" dist="38100" dir="2700000" algn="tl">
                    <a:srgbClr val="000000">
                      <a:alpha val="43137"/>
                    </a:srgbClr>
                  </a:outerShdw>
                </a:effectLst>
                <a:latin typeface="+mn-ea"/>
                <a:ea typeface="+mn-ea"/>
                <a:cs typeface="Times New Roman" panose="02020603050405020304" pitchFamily="18" charset="0"/>
              </a:rPr>
              <a:t>ROM</a:t>
            </a:r>
            <a:r>
              <a:rPr lang="zh-CN" altLang="en-US" sz="2800" b="1" dirty="0">
                <a:effectLst>
                  <a:outerShdw blurRad="38100" dist="38100" dir="2700000" algn="tl">
                    <a:srgbClr val="000000">
                      <a:alpha val="43137"/>
                    </a:srgbClr>
                  </a:outerShdw>
                </a:effectLst>
                <a:latin typeface="+mn-ea"/>
                <a:ea typeface="+mn-ea"/>
                <a:cs typeface="Times New Roman" panose="02020603050405020304" pitchFamily="18" charset="0"/>
              </a:rPr>
              <a:t>，使用时需外接</a:t>
            </a:r>
            <a:r>
              <a:rPr lang="en-US" altLang="zh-CN" sz="2800" b="1" dirty="0">
                <a:effectLst>
                  <a:outerShdw blurRad="38100" dist="38100" dir="2700000" algn="tl">
                    <a:srgbClr val="000000">
                      <a:alpha val="43137"/>
                    </a:srgbClr>
                  </a:outerShdw>
                </a:effectLst>
                <a:latin typeface="+mn-ea"/>
                <a:ea typeface="+mn-ea"/>
                <a:cs typeface="Times New Roman" panose="02020603050405020304" pitchFamily="18" charset="0"/>
              </a:rPr>
              <a:t>EPROM</a:t>
            </a:r>
            <a:r>
              <a:rPr lang="zh-CN" altLang="en-US" sz="2800" b="1" dirty="0">
                <a:effectLst>
                  <a:outerShdw blurRad="38100" dist="38100" dir="2700000" algn="tl">
                    <a:srgbClr val="000000">
                      <a:alpha val="43137"/>
                    </a:srgbClr>
                  </a:outerShdw>
                </a:effectLst>
                <a:latin typeface="+mn-ea"/>
                <a:ea typeface="+mn-ea"/>
                <a:cs typeface="Times New Roman" panose="02020603050405020304" pitchFamily="18" charset="0"/>
              </a:rPr>
              <a:t>。</a:t>
            </a:r>
          </a:p>
          <a:p>
            <a:pPr eaLnBrk="1" hangingPunct="1">
              <a:defRPr/>
            </a:pPr>
            <a:endParaRPr lang="zh-CN" altLang="en-US" sz="2800" b="1" dirty="0">
              <a:effectLst>
                <a:outerShdw blurRad="38100" dist="38100" dir="2700000" algn="tl">
                  <a:srgbClr val="000000">
                    <a:alpha val="43137"/>
                  </a:srgbClr>
                </a:outerShdw>
              </a:effectLst>
              <a:latin typeface="+mn-ea"/>
              <a:ea typeface="+mn-ea"/>
              <a:cs typeface="Times New Roman" panose="02020603050405020304" pitchFamily="18" charset="0"/>
            </a:endParaRPr>
          </a:p>
          <a:p>
            <a:pPr eaLnBrk="1" hangingPunct="1">
              <a:defRPr/>
            </a:pPr>
            <a:r>
              <a:rPr lang="en-US" altLang="zh-CN" sz="2800" b="1" dirty="0">
                <a:effectLst>
                  <a:outerShdw blurRad="38100" dist="38100" dir="2700000" algn="tl">
                    <a:srgbClr val="000000">
                      <a:alpha val="43137"/>
                    </a:srgbClr>
                  </a:outerShdw>
                </a:effectLst>
                <a:latin typeface="+mn-ea"/>
                <a:ea typeface="+mn-ea"/>
                <a:cs typeface="Times New Roman" panose="02020603050405020304" pitchFamily="18" charset="0"/>
              </a:rPr>
              <a:t>2</a:t>
            </a:r>
            <a:r>
              <a:rPr lang="zh-CN" altLang="en-US" sz="2800" b="1" dirty="0">
                <a:effectLst>
                  <a:outerShdw blurRad="38100" dist="38100" dir="2700000" algn="tl">
                    <a:srgbClr val="000000">
                      <a:alpha val="43137"/>
                    </a:srgbClr>
                  </a:outerShdw>
                </a:effectLst>
                <a:latin typeface="+mn-ea"/>
                <a:ea typeface="+mn-ea"/>
                <a:cs typeface="Times New Roman" panose="02020603050405020304" pitchFamily="18" charset="0"/>
              </a:rPr>
              <a:t>、相同点：</a:t>
            </a:r>
          </a:p>
          <a:p>
            <a:pPr eaLnBrk="1" hangingPunct="1">
              <a:defRPr/>
            </a:pPr>
            <a:r>
              <a:rPr lang="zh-CN" altLang="en-US" sz="2800" b="1" dirty="0">
                <a:effectLst>
                  <a:outerShdw blurRad="38100" dist="38100" dir="2700000" algn="tl">
                    <a:srgbClr val="000000">
                      <a:alpha val="43137"/>
                    </a:srgbClr>
                  </a:outerShdw>
                </a:effectLst>
                <a:latin typeface="+mn-ea"/>
                <a:ea typeface="+mn-ea"/>
                <a:cs typeface="Times New Roman" panose="02020603050405020304" pitchFamily="18" charset="0"/>
              </a:rPr>
              <a:t>  （</a:t>
            </a:r>
            <a:r>
              <a:rPr lang="en-US" altLang="zh-CN" sz="2800" b="1" dirty="0">
                <a:effectLst>
                  <a:outerShdw blurRad="38100" dist="38100" dir="2700000" algn="tl">
                    <a:srgbClr val="000000">
                      <a:alpha val="43137"/>
                    </a:srgbClr>
                  </a:outerShdw>
                </a:effectLst>
                <a:latin typeface="+mn-ea"/>
                <a:ea typeface="+mn-ea"/>
                <a:cs typeface="Times New Roman" panose="02020603050405020304" pitchFamily="18" charset="0"/>
              </a:rPr>
              <a:t>1</a:t>
            </a:r>
            <a:r>
              <a:rPr lang="zh-CN" altLang="en-US" sz="2800" b="1" dirty="0">
                <a:effectLst>
                  <a:outerShdw blurRad="38100" dist="38100" dir="2700000" algn="tl">
                    <a:srgbClr val="000000">
                      <a:alpha val="43137"/>
                    </a:srgbClr>
                  </a:outerShdw>
                </a:effectLst>
                <a:latin typeface="+mn-ea"/>
                <a:ea typeface="+mn-ea"/>
                <a:cs typeface="Times New Roman" panose="02020603050405020304" pitchFamily="18" charset="0"/>
              </a:rPr>
              <a:t>）面向控制的</a:t>
            </a:r>
            <a:r>
              <a:rPr lang="en-US" altLang="zh-CN" sz="2800" b="1" dirty="0">
                <a:effectLst>
                  <a:outerShdw blurRad="38100" dist="38100" dir="2700000" algn="tl">
                    <a:srgbClr val="000000">
                      <a:alpha val="43137"/>
                    </a:srgbClr>
                  </a:outerShdw>
                </a:effectLst>
                <a:latin typeface="+mn-ea"/>
                <a:ea typeface="+mn-ea"/>
                <a:cs typeface="Times New Roman" panose="02020603050405020304" pitchFamily="18" charset="0"/>
              </a:rPr>
              <a:t>8</a:t>
            </a:r>
            <a:r>
              <a:rPr lang="zh-CN" altLang="en-US" sz="2800" b="1" dirty="0">
                <a:effectLst>
                  <a:outerShdw blurRad="38100" dist="38100" dir="2700000" algn="tl">
                    <a:srgbClr val="000000">
                      <a:alpha val="43137"/>
                    </a:srgbClr>
                  </a:outerShdw>
                </a:effectLst>
                <a:latin typeface="+mn-ea"/>
                <a:ea typeface="+mn-ea"/>
                <a:cs typeface="Times New Roman" panose="02020603050405020304" pitchFamily="18" charset="0"/>
              </a:rPr>
              <a:t>位</a:t>
            </a:r>
            <a:r>
              <a:rPr lang="en-US" altLang="zh-CN" sz="2800" b="1" dirty="0">
                <a:effectLst>
                  <a:outerShdw blurRad="38100" dist="38100" dir="2700000" algn="tl">
                    <a:srgbClr val="000000">
                      <a:alpha val="43137"/>
                    </a:srgbClr>
                  </a:outerShdw>
                </a:effectLst>
                <a:latin typeface="+mn-ea"/>
                <a:ea typeface="+mn-ea"/>
                <a:cs typeface="Times New Roman" panose="02020603050405020304" pitchFamily="18" charset="0"/>
              </a:rPr>
              <a:t>CPU</a:t>
            </a:r>
            <a:r>
              <a:rPr lang="zh-CN" altLang="en-US" sz="2800" b="1" dirty="0">
                <a:effectLst>
                  <a:outerShdw blurRad="38100" dist="38100" dir="2700000" algn="tl">
                    <a:srgbClr val="000000">
                      <a:alpha val="43137"/>
                    </a:srgbClr>
                  </a:outerShdw>
                </a:effectLst>
                <a:latin typeface="+mn-ea"/>
                <a:ea typeface="+mn-ea"/>
                <a:cs typeface="Times New Roman" panose="02020603050405020304" pitchFamily="18" charset="0"/>
              </a:rPr>
              <a:t>；</a:t>
            </a:r>
          </a:p>
          <a:p>
            <a:pPr eaLnBrk="1" hangingPunct="1">
              <a:defRPr/>
            </a:pPr>
            <a:r>
              <a:rPr lang="zh-CN" altLang="en-US" sz="2800" b="1" dirty="0">
                <a:effectLst>
                  <a:outerShdw blurRad="38100" dist="38100" dir="2700000" algn="tl">
                    <a:srgbClr val="000000">
                      <a:alpha val="43137"/>
                    </a:srgbClr>
                  </a:outerShdw>
                </a:effectLst>
                <a:latin typeface="+mn-ea"/>
                <a:ea typeface="+mn-ea"/>
                <a:cs typeface="Times New Roman" panose="02020603050405020304" pitchFamily="18" charset="0"/>
              </a:rPr>
              <a:t>  （</a:t>
            </a:r>
            <a:r>
              <a:rPr lang="en-US" altLang="zh-CN" sz="2800" b="1" dirty="0">
                <a:effectLst>
                  <a:outerShdw blurRad="38100" dist="38100" dir="2700000" algn="tl">
                    <a:srgbClr val="000000">
                      <a:alpha val="43137"/>
                    </a:srgbClr>
                  </a:outerShdw>
                </a:effectLst>
                <a:latin typeface="+mn-ea"/>
                <a:ea typeface="+mn-ea"/>
                <a:cs typeface="Times New Roman" panose="02020603050405020304" pitchFamily="18" charset="0"/>
              </a:rPr>
              <a:t>2</a:t>
            </a:r>
            <a:r>
              <a:rPr lang="zh-CN" altLang="en-US" sz="2800" b="1" dirty="0">
                <a:effectLst>
                  <a:outerShdw blurRad="38100" dist="38100" dir="2700000" algn="tl">
                    <a:srgbClr val="000000">
                      <a:alpha val="43137"/>
                    </a:srgbClr>
                  </a:outerShdw>
                </a:effectLst>
                <a:latin typeface="+mn-ea"/>
                <a:ea typeface="+mn-ea"/>
                <a:cs typeface="Times New Roman" panose="02020603050405020304" pitchFamily="18" charset="0"/>
              </a:rPr>
              <a:t>）</a:t>
            </a:r>
            <a:r>
              <a:rPr lang="en-US" altLang="zh-CN" sz="2800" b="1" dirty="0">
                <a:effectLst>
                  <a:outerShdw blurRad="38100" dist="38100" dir="2700000" algn="tl">
                    <a:srgbClr val="000000">
                      <a:alpha val="43137"/>
                    </a:srgbClr>
                  </a:outerShdw>
                </a:effectLst>
                <a:latin typeface="+mn-ea"/>
                <a:ea typeface="+mn-ea"/>
                <a:cs typeface="Times New Roman" panose="02020603050405020304" pitchFamily="18" charset="0"/>
              </a:rPr>
              <a:t>256B</a:t>
            </a:r>
            <a:r>
              <a:rPr lang="zh-CN" altLang="en-US" sz="2800" b="1" dirty="0">
                <a:effectLst>
                  <a:outerShdw blurRad="38100" dist="38100" dir="2700000" algn="tl">
                    <a:srgbClr val="000000">
                      <a:alpha val="43137"/>
                    </a:srgbClr>
                  </a:outerShdw>
                </a:effectLst>
                <a:latin typeface="+mn-ea"/>
                <a:ea typeface="+mn-ea"/>
                <a:cs typeface="Times New Roman" panose="02020603050405020304" pitchFamily="18" charset="0"/>
              </a:rPr>
              <a:t>的片内数据存储器；</a:t>
            </a:r>
          </a:p>
          <a:p>
            <a:pPr eaLnBrk="1" hangingPunct="1">
              <a:defRPr/>
            </a:pPr>
            <a:r>
              <a:rPr lang="zh-CN" altLang="en-US" sz="2800" b="1" dirty="0">
                <a:effectLst>
                  <a:outerShdw blurRad="38100" dist="38100" dir="2700000" algn="tl">
                    <a:srgbClr val="000000">
                      <a:alpha val="43137"/>
                    </a:srgbClr>
                  </a:outerShdw>
                </a:effectLst>
                <a:latin typeface="+mn-ea"/>
                <a:ea typeface="+mn-ea"/>
                <a:cs typeface="Times New Roman" panose="02020603050405020304" pitchFamily="18" charset="0"/>
              </a:rPr>
              <a:t>  （</a:t>
            </a:r>
            <a:r>
              <a:rPr lang="en-US" altLang="zh-CN" sz="2800" b="1" dirty="0">
                <a:effectLst>
                  <a:outerShdw blurRad="38100" dist="38100" dir="2700000" algn="tl">
                    <a:srgbClr val="000000">
                      <a:alpha val="43137"/>
                    </a:srgbClr>
                  </a:outerShdw>
                </a:effectLst>
                <a:latin typeface="+mn-ea"/>
                <a:ea typeface="+mn-ea"/>
                <a:cs typeface="Times New Roman" panose="02020603050405020304" pitchFamily="18" charset="0"/>
              </a:rPr>
              <a:t>3</a:t>
            </a:r>
            <a:r>
              <a:rPr lang="zh-CN" altLang="en-US" sz="2800" b="1" dirty="0">
                <a:effectLst>
                  <a:outerShdw blurRad="38100" dist="38100" dir="2700000" algn="tl">
                    <a:srgbClr val="000000">
                      <a:alpha val="43137"/>
                    </a:srgbClr>
                  </a:outerShdw>
                </a:effectLst>
                <a:latin typeface="+mn-ea"/>
                <a:ea typeface="+mn-ea"/>
                <a:cs typeface="Times New Roman" panose="02020603050405020304" pitchFamily="18" charset="0"/>
              </a:rPr>
              <a:t>）可以寻址</a:t>
            </a:r>
            <a:r>
              <a:rPr lang="en-US" altLang="zh-CN" sz="2800" b="1" dirty="0">
                <a:effectLst>
                  <a:outerShdw blurRad="38100" dist="38100" dir="2700000" algn="tl">
                    <a:srgbClr val="000000">
                      <a:alpha val="43137"/>
                    </a:srgbClr>
                  </a:outerShdw>
                </a:effectLst>
                <a:latin typeface="+mn-ea"/>
                <a:ea typeface="+mn-ea"/>
                <a:cs typeface="Times New Roman" panose="02020603050405020304" pitchFamily="18" charset="0"/>
              </a:rPr>
              <a:t>64KB</a:t>
            </a:r>
            <a:r>
              <a:rPr lang="zh-CN" altLang="en-US" sz="2800" b="1" dirty="0">
                <a:effectLst>
                  <a:outerShdw blurRad="38100" dist="38100" dir="2700000" algn="tl">
                    <a:srgbClr val="000000">
                      <a:alpha val="43137"/>
                    </a:srgbClr>
                  </a:outerShdw>
                </a:effectLst>
                <a:latin typeface="+mn-ea"/>
                <a:ea typeface="+mn-ea"/>
                <a:cs typeface="Times New Roman" panose="02020603050405020304" pitchFamily="18" charset="0"/>
              </a:rPr>
              <a:t>的片外程序存储器；</a:t>
            </a:r>
          </a:p>
          <a:p>
            <a:pPr eaLnBrk="1" hangingPunct="1">
              <a:defRPr/>
            </a:pPr>
            <a:r>
              <a:rPr lang="zh-CN" altLang="en-US" sz="2800" b="1" dirty="0">
                <a:effectLst>
                  <a:outerShdw blurRad="38100" dist="38100" dir="2700000" algn="tl">
                    <a:srgbClr val="000000">
                      <a:alpha val="43137"/>
                    </a:srgbClr>
                  </a:outerShdw>
                </a:effectLst>
                <a:latin typeface="+mn-ea"/>
                <a:ea typeface="+mn-ea"/>
                <a:cs typeface="Times New Roman" panose="02020603050405020304" pitchFamily="18" charset="0"/>
              </a:rPr>
              <a:t>  （</a:t>
            </a:r>
            <a:r>
              <a:rPr lang="en-US" altLang="zh-CN" sz="2800" b="1" dirty="0">
                <a:effectLst>
                  <a:outerShdw blurRad="38100" dist="38100" dir="2700000" algn="tl">
                    <a:srgbClr val="000000">
                      <a:alpha val="43137"/>
                    </a:srgbClr>
                  </a:outerShdw>
                </a:effectLst>
                <a:latin typeface="+mn-ea"/>
                <a:ea typeface="+mn-ea"/>
                <a:cs typeface="Times New Roman" panose="02020603050405020304" pitchFamily="18" charset="0"/>
              </a:rPr>
              <a:t>4</a:t>
            </a:r>
            <a:r>
              <a:rPr lang="zh-CN" altLang="en-US" sz="2800" b="1" dirty="0">
                <a:effectLst>
                  <a:outerShdw blurRad="38100" dist="38100" dir="2700000" algn="tl">
                    <a:srgbClr val="000000">
                      <a:alpha val="43137"/>
                    </a:srgbClr>
                  </a:outerShdw>
                </a:effectLst>
                <a:latin typeface="+mn-ea"/>
                <a:ea typeface="+mn-ea"/>
                <a:cs typeface="Times New Roman" panose="02020603050405020304" pitchFamily="18" charset="0"/>
              </a:rPr>
              <a:t>）可以寻址</a:t>
            </a:r>
            <a:r>
              <a:rPr lang="en-US" altLang="zh-CN" sz="2800" b="1" dirty="0">
                <a:effectLst>
                  <a:outerShdw blurRad="38100" dist="38100" dir="2700000" algn="tl">
                    <a:srgbClr val="000000">
                      <a:alpha val="43137"/>
                    </a:srgbClr>
                  </a:outerShdw>
                </a:effectLst>
                <a:latin typeface="+mn-ea"/>
                <a:ea typeface="+mn-ea"/>
                <a:cs typeface="Times New Roman" panose="02020603050405020304" pitchFamily="18" charset="0"/>
              </a:rPr>
              <a:t>64KB</a:t>
            </a:r>
            <a:r>
              <a:rPr lang="zh-CN" altLang="en-US" sz="2800" b="1" dirty="0">
                <a:effectLst>
                  <a:outerShdw blurRad="38100" dist="38100" dir="2700000" algn="tl">
                    <a:srgbClr val="000000">
                      <a:alpha val="43137"/>
                    </a:srgbClr>
                  </a:outerShdw>
                </a:effectLst>
                <a:latin typeface="+mn-ea"/>
                <a:ea typeface="+mn-ea"/>
                <a:cs typeface="Times New Roman" panose="02020603050405020304" pitchFamily="18" charset="0"/>
              </a:rPr>
              <a:t>的片外数据存储器；</a:t>
            </a:r>
          </a:p>
        </p:txBody>
      </p:sp>
      <p:sp>
        <p:nvSpPr>
          <p:cNvPr id="5" name="文本框 4"/>
          <p:cNvSpPr txBox="1"/>
          <p:nvPr/>
        </p:nvSpPr>
        <p:spPr>
          <a:xfrm>
            <a:off x="355600" y="500063"/>
            <a:ext cx="5040313" cy="585787"/>
          </a:xfrm>
          <a:prstGeom prst="rect">
            <a:avLst/>
          </a:prstGeom>
          <a:noFill/>
        </p:spPr>
        <p:txBody>
          <a:bodyPr>
            <a:spAutoFit/>
          </a:bodyPr>
          <a:lstStyle/>
          <a:p>
            <a:pPr algn="ctr" eaLnBrk="1" hangingPunct="1">
              <a:defRPr/>
            </a:pPr>
            <a:r>
              <a:rPr lang="en-US" altLang="zh-CN" sz="3200" b="1" dirty="0">
                <a:solidFill>
                  <a:srgbClr val="0000FF"/>
                </a:solidFill>
                <a:effectLst>
                  <a:outerShdw blurRad="38100" dist="38100" dir="2700000" algn="tl">
                    <a:srgbClr val="000000"/>
                  </a:outerShdw>
                </a:effectLst>
                <a:latin typeface="华文新魏" panose="02010800040101010101" pitchFamily="2" charset="-122"/>
                <a:ea typeface="华文新魏" panose="02010800040101010101" pitchFamily="2" charset="-122"/>
                <a:cs typeface="Times New Roman" panose="02020603050405020304" pitchFamily="18" charset="0"/>
              </a:rPr>
              <a:t>8031</a:t>
            </a:r>
            <a:r>
              <a:rPr lang="zh-CN" altLang="en-US" sz="3200" b="1" dirty="0">
                <a:solidFill>
                  <a:srgbClr val="0000FF"/>
                </a:solidFill>
                <a:effectLst>
                  <a:outerShdw blurRad="38100" dist="38100" dir="2700000" algn="tl">
                    <a:srgbClr val="000000"/>
                  </a:outerShdw>
                </a:effectLst>
                <a:latin typeface="华文新魏" panose="02010800040101010101" pitchFamily="2" charset="-122"/>
                <a:ea typeface="华文新魏" panose="02010800040101010101" pitchFamily="2" charset="-122"/>
                <a:cs typeface="Times New Roman" panose="02020603050405020304" pitchFamily="18" charset="0"/>
              </a:rPr>
              <a:t>、</a:t>
            </a:r>
            <a:r>
              <a:rPr lang="en-US" altLang="zh-CN" sz="3200" b="1" dirty="0">
                <a:solidFill>
                  <a:srgbClr val="0000FF"/>
                </a:solidFill>
                <a:effectLst>
                  <a:outerShdw blurRad="38100" dist="38100" dir="2700000" algn="tl">
                    <a:srgbClr val="000000"/>
                  </a:outerShdw>
                </a:effectLst>
                <a:latin typeface="华文新魏" panose="02010800040101010101" pitchFamily="2" charset="-122"/>
                <a:ea typeface="华文新魏" panose="02010800040101010101" pitchFamily="2" charset="-122"/>
                <a:cs typeface="Times New Roman" panose="02020603050405020304" pitchFamily="18" charset="0"/>
              </a:rPr>
              <a:t>8051</a:t>
            </a:r>
            <a:r>
              <a:rPr lang="zh-CN" altLang="en-US" sz="3200" b="1" dirty="0">
                <a:solidFill>
                  <a:srgbClr val="0000FF"/>
                </a:solidFill>
                <a:effectLst>
                  <a:outerShdw blurRad="38100" dist="38100" dir="2700000" algn="tl">
                    <a:srgbClr val="000000"/>
                  </a:outerShdw>
                </a:effectLst>
                <a:latin typeface="华文新魏" panose="02010800040101010101" pitchFamily="2" charset="-122"/>
                <a:ea typeface="华文新魏" panose="02010800040101010101" pitchFamily="2" charset="-122"/>
                <a:cs typeface="Times New Roman" panose="02020603050405020304" pitchFamily="18" charset="0"/>
              </a:rPr>
              <a:t>、</a:t>
            </a:r>
            <a:r>
              <a:rPr lang="en-US" altLang="zh-CN" sz="3200" b="1" dirty="0">
                <a:solidFill>
                  <a:srgbClr val="0000FF"/>
                </a:solidFill>
                <a:effectLst>
                  <a:outerShdw blurRad="38100" dist="38100" dir="2700000" algn="tl">
                    <a:srgbClr val="000000"/>
                  </a:outerShdw>
                </a:effectLst>
                <a:latin typeface="华文新魏" panose="02010800040101010101" pitchFamily="2" charset="-122"/>
                <a:ea typeface="华文新魏" panose="02010800040101010101" pitchFamily="2" charset="-122"/>
                <a:cs typeface="Times New Roman" panose="02020603050405020304" pitchFamily="18" charset="0"/>
              </a:rPr>
              <a:t>8751</a:t>
            </a:r>
            <a:r>
              <a:rPr lang="zh-CN" altLang="en-US" sz="3200" b="1" dirty="0">
                <a:solidFill>
                  <a:srgbClr val="0000FF"/>
                </a:solidFill>
                <a:effectLst>
                  <a:outerShdw blurRad="38100" dist="38100" dir="2700000" algn="tl">
                    <a:srgbClr val="000000"/>
                  </a:outerShdw>
                </a:effectLst>
                <a:latin typeface="华文新魏" panose="02010800040101010101" pitchFamily="2" charset="-122"/>
                <a:ea typeface="华文新魏" panose="02010800040101010101" pitchFamily="2" charset="-122"/>
                <a:cs typeface="Times New Roman" panose="02020603050405020304" pitchFamily="18" charset="0"/>
              </a:rPr>
              <a:t>的区别</a:t>
            </a:r>
          </a:p>
        </p:txBody>
      </p:sp>
      <p:sp>
        <p:nvSpPr>
          <p:cNvPr id="6" name="Rectangle 2"/>
          <p:cNvSpPr>
            <a:spLocks noChangeArrowheads="1"/>
          </p:cNvSpPr>
          <p:nvPr/>
        </p:nvSpPr>
        <p:spPr bwMode="auto">
          <a:xfrm>
            <a:off x="5364163" y="331788"/>
            <a:ext cx="3509962" cy="338137"/>
          </a:xfrm>
          <a:prstGeom prst="rect">
            <a:avLst/>
          </a:prstGeom>
          <a:noFill/>
          <a:ln>
            <a:noFill/>
          </a:ln>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defRPr/>
            </a:pPr>
            <a:r>
              <a:rPr kumimoji="1" lang="en-US" altLang="zh-CN"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2.1</a:t>
            </a: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 </a:t>
            </a:r>
            <a:r>
              <a:rPr kumimoji="1" lang="en-US" altLang="zh-CN"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MCS-51</a:t>
            </a: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单片机的结构</a:t>
            </a:r>
            <a:endParaRPr kumimoji="1" lang="zh-CN" altLang="en-US" sz="24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
        <p:nvSpPr>
          <p:cNvPr id="2" name="文本框 1"/>
          <p:cNvSpPr txBox="1"/>
          <p:nvPr/>
        </p:nvSpPr>
        <p:spPr>
          <a:xfrm>
            <a:off x="6039024" y="4365104"/>
            <a:ext cx="1917352" cy="369332"/>
          </a:xfrm>
          <a:prstGeom prst="rect">
            <a:avLst/>
          </a:prstGeom>
          <a:solidFill>
            <a:srgbClr val="FFC000"/>
          </a:solidFill>
        </p:spPr>
        <p:txBody>
          <a:bodyPr wrap="square" rtlCol="0">
            <a:spAutoFit/>
          </a:bodyPr>
          <a:lstStyle/>
          <a:p>
            <a:r>
              <a:rPr lang="zh-CN" altLang="en-US" b="1" dirty="0">
                <a:solidFill>
                  <a:srgbClr val="0000FF"/>
                </a:solidFill>
                <a:effectLst>
                  <a:outerShdw blurRad="38100" dist="38100" dir="2700000" algn="tl">
                    <a:srgbClr val="000000">
                      <a:alpha val="43137"/>
                    </a:srgbClr>
                  </a:outerShdw>
                </a:effectLst>
              </a:rPr>
              <a:t>低</a:t>
            </a:r>
            <a:r>
              <a:rPr lang="en-US" altLang="zh-CN" b="1" dirty="0">
                <a:solidFill>
                  <a:srgbClr val="0000FF"/>
                </a:solidFill>
                <a:effectLst>
                  <a:outerShdw blurRad="38100" dist="38100" dir="2700000" algn="tl">
                    <a:srgbClr val="000000">
                      <a:alpha val="43137"/>
                    </a:srgbClr>
                  </a:outerShdw>
                </a:effectLst>
              </a:rPr>
              <a:t>128B</a:t>
            </a:r>
            <a:r>
              <a:rPr lang="en-US" altLang="zh-CN" b="1" dirty="0">
                <a:effectLst>
                  <a:outerShdw blurRad="38100" dist="38100" dir="2700000" algn="tl">
                    <a:srgbClr val="000000">
                      <a:alpha val="43137"/>
                    </a:srgbClr>
                  </a:outerShdw>
                </a:effectLst>
              </a:rPr>
              <a:t>+</a:t>
            </a:r>
            <a:r>
              <a:rPr lang="zh-CN" altLang="en-US" b="1" dirty="0">
                <a:effectLst>
                  <a:outerShdw blurRad="38100" dist="38100" dir="2700000" algn="tl">
                    <a:srgbClr val="000000">
                      <a:alpha val="43137"/>
                    </a:srgbClr>
                  </a:outerShdw>
                </a:effectLst>
              </a:rPr>
              <a:t>高</a:t>
            </a:r>
            <a:r>
              <a:rPr lang="en-US" altLang="zh-CN" b="1" dirty="0">
                <a:effectLst>
                  <a:outerShdw blurRad="38100" dist="38100" dir="2700000" algn="tl">
                    <a:srgbClr val="000000">
                      <a:alpha val="43137"/>
                    </a:srgbClr>
                  </a:outerShdw>
                </a:effectLst>
              </a:rPr>
              <a:t>128B</a:t>
            </a:r>
            <a:endParaRPr lang="zh-CN" altLang="en-US" b="1" dirty="0">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randombar(horizontal)">
                                      <p:cBhvr>
                                        <p:cTn id="7" dur="500"/>
                                        <p:tgtEl>
                                          <p:spTgt spid="4">
                                            <p:bg/>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randombar(horizontal)">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randombar(horizontal)">
                                      <p:cBhvr>
                                        <p:cTn id="22" dur="500"/>
                                        <p:tgtEl>
                                          <p:spTgt spid="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animEffect transition="in" filter="randombar(horizontal)">
                                      <p:cBhvr>
                                        <p:cTn id="27" dur="500"/>
                                        <p:tgtEl>
                                          <p:spTgt spid="4">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randombar(horizontal)">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randombar(horizontal)">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randombar(horizontal)">
                                      <p:cBhvr>
                                        <p:cTn id="42" dur="5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randombar(horizontal)">
                                      <p:cBhvr>
                                        <p:cTn id="47" dur="500"/>
                                        <p:tgtEl>
                                          <p:spTgt spid="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grpId="0" nodeType="clickEffect">
                                  <p:stCondLst>
                                    <p:cond delay="0"/>
                                  </p:stCondLst>
                                  <p:childTnLst>
                                    <p:set>
                                      <p:cBhvr>
                                        <p:cTn id="51" dur="1" fill="hold">
                                          <p:stCondLst>
                                            <p:cond delay="0"/>
                                          </p:stCondLst>
                                        </p:cTn>
                                        <p:tgtEl>
                                          <p:spTgt spid="4">
                                            <p:txEl>
                                              <p:pRg st="9" end="9"/>
                                            </p:txEl>
                                          </p:spTgt>
                                        </p:tgtEl>
                                        <p:attrNameLst>
                                          <p:attrName>style.visibility</p:attrName>
                                        </p:attrNameLst>
                                      </p:cBhvr>
                                      <p:to>
                                        <p:strVal val="visible"/>
                                      </p:to>
                                    </p:set>
                                    <p:animEffect transition="in" filter="randombar(horizontal)">
                                      <p:cBhvr>
                                        <p:cTn id="52" dur="500"/>
                                        <p:tgtEl>
                                          <p:spTgt spid="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0" y="0"/>
            <a:ext cx="9144000" cy="6858000"/>
          </a:xfrm>
          <a:prstGeom prst="rect">
            <a:avLst/>
          </a:prstGeom>
          <a:solidFill>
            <a:srgbClr val="E5FFE5"/>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zh-CN" sz="1800"/>
          </a:p>
        </p:txBody>
      </p:sp>
      <p:sp>
        <p:nvSpPr>
          <p:cNvPr id="9219" name="Rectangle 3"/>
          <p:cNvSpPr>
            <a:spLocks noGrp="1" noChangeArrowheads="1"/>
          </p:cNvSpPr>
          <p:nvPr>
            <p:ph type="title"/>
          </p:nvPr>
        </p:nvSpPr>
        <p:spPr>
          <a:xfrm>
            <a:off x="2627313" y="287338"/>
            <a:ext cx="4103687" cy="781050"/>
          </a:xfrm>
        </p:spPr>
        <p:txBody>
          <a:bodyPr/>
          <a:lstStyle/>
          <a:p>
            <a:pPr eaLnBrk="1" hangingPunct="1"/>
            <a:r>
              <a:rPr lang="zh-CN" altLang="en-US" b="1">
                <a:solidFill>
                  <a:srgbClr val="0033CC"/>
                </a:solidFill>
              </a:rPr>
              <a:t>结构框图</a:t>
            </a:r>
          </a:p>
        </p:txBody>
      </p:sp>
      <p:grpSp>
        <p:nvGrpSpPr>
          <p:cNvPr id="9220" name="Group 4"/>
          <p:cNvGrpSpPr/>
          <p:nvPr/>
        </p:nvGrpSpPr>
        <p:grpSpPr bwMode="auto">
          <a:xfrm>
            <a:off x="395288" y="692150"/>
            <a:ext cx="8569325" cy="5761038"/>
            <a:chOff x="332" y="935"/>
            <a:chExt cx="5088" cy="3128"/>
          </a:xfrm>
        </p:grpSpPr>
        <p:graphicFrame>
          <p:nvGraphicFramePr>
            <p:cNvPr id="9222" name="Object 5"/>
            <p:cNvGraphicFramePr>
              <a:graphicFrameLocks noChangeAspect="1"/>
            </p:cNvGraphicFramePr>
            <p:nvPr/>
          </p:nvGraphicFramePr>
          <p:xfrm>
            <a:off x="332" y="935"/>
            <a:ext cx="5088" cy="3128"/>
          </p:xfrm>
          <a:graphic>
            <a:graphicData uri="http://schemas.openxmlformats.org/presentationml/2006/ole">
              <mc:AlternateContent xmlns:mc="http://schemas.openxmlformats.org/markup-compatibility/2006">
                <mc:Choice xmlns:v="urn:schemas-microsoft-com:vml" Requires="v">
                  <p:oleObj spid="_x0000_s1031" name="Visio" r:id="rId3" imgW="4227830" imgH="2399030" progId="Visio.Drawing.6">
                    <p:embed/>
                  </p:oleObj>
                </mc:Choice>
                <mc:Fallback>
                  <p:oleObj name="Visio" r:id="rId3" imgW="4227830" imgH="2399030" progId="Visio.Drawing.6">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2" y="935"/>
                          <a:ext cx="5088" cy="3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3" name="Text Box 6"/>
            <p:cNvSpPr txBox="1">
              <a:spLocks noChangeArrowheads="1"/>
            </p:cNvSpPr>
            <p:nvPr/>
          </p:nvSpPr>
          <p:spPr bwMode="auto">
            <a:xfrm>
              <a:off x="1882" y="1414"/>
              <a:ext cx="635" cy="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b="1" dirty="0"/>
                <a:t>8031</a:t>
              </a:r>
              <a:r>
                <a:rPr lang="zh-CN" altLang="en-US" sz="1800" b="1" dirty="0"/>
                <a:t>无</a:t>
              </a:r>
            </a:p>
          </p:txBody>
        </p:sp>
        <p:sp>
          <p:nvSpPr>
            <p:cNvPr id="9" name="Text Box 6"/>
            <p:cNvSpPr txBox="1">
              <a:spLocks noChangeArrowheads="1"/>
            </p:cNvSpPr>
            <p:nvPr/>
          </p:nvSpPr>
          <p:spPr bwMode="auto">
            <a:xfrm>
              <a:off x="3072" y="1382"/>
              <a:ext cx="743"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1800" b="1" dirty="0"/>
                <a:t>RAM/SFR</a:t>
              </a:r>
              <a:endParaRPr lang="zh-CN" altLang="en-US" sz="1800" b="1" dirty="0"/>
            </a:p>
          </p:txBody>
        </p:sp>
      </p:grpSp>
      <p:sp>
        <p:nvSpPr>
          <p:cNvPr id="7" name="Rectangle 2"/>
          <p:cNvSpPr>
            <a:spLocks noChangeArrowheads="1"/>
          </p:cNvSpPr>
          <p:nvPr/>
        </p:nvSpPr>
        <p:spPr bwMode="auto">
          <a:xfrm>
            <a:off x="5364163" y="331788"/>
            <a:ext cx="3509962" cy="338137"/>
          </a:xfrm>
          <a:prstGeom prst="rect">
            <a:avLst/>
          </a:prstGeom>
          <a:noFill/>
          <a:ln>
            <a:noFill/>
          </a:ln>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defRPr/>
            </a:pPr>
            <a:r>
              <a:rPr kumimoji="1" lang="en-US" altLang="zh-CN"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2.1</a:t>
            </a: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 </a:t>
            </a:r>
            <a:r>
              <a:rPr kumimoji="1" lang="en-US" altLang="zh-CN"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MCS-51</a:t>
            </a: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单片机的结构</a:t>
            </a:r>
            <a:endParaRPr kumimoji="1" lang="zh-CN" altLang="en-US" sz="24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
        <p:nvSpPr>
          <p:cNvPr id="3" name="文本框 2"/>
          <p:cNvSpPr txBox="1"/>
          <p:nvPr/>
        </p:nvSpPr>
        <p:spPr>
          <a:xfrm>
            <a:off x="4932040" y="1920607"/>
            <a:ext cx="1368152" cy="384721"/>
          </a:xfrm>
          <a:prstGeom prst="rect">
            <a:avLst/>
          </a:prstGeom>
          <a:solidFill>
            <a:srgbClr val="FFFF99"/>
          </a:solidFill>
        </p:spPr>
        <p:txBody>
          <a:bodyPr wrap="square" lIns="0" rIns="0" bIns="0" rtlCol="0">
            <a:spAutoFit/>
          </a:bodyPr>
          <a:lstStyle/>
          <a:p>
            <a:pPr algn="ctr"/>
            <a:r>
              <a:rPr lang="en-US" altLang="zh-CN" sz="2200" dirty="0">
                <a:solidFill>
                  <a:srgbClr val="C00000"/>
                </a:solidFill>
                <a:latin typeface="Times New Roman" panose="02020603050405020304" pitchFamily="18" charset="0"/>
                <a:cs typeface="Times New Roman" panose="02020603050405020304" pitchFamily="18" charset="0"/>
              </a:rPr>
              <a:t>256B</a:t>
            </a:r>
            <a:endParaRPr lang="zh-CN" altLang="en-US" sz="2200" dirty="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73" name="Picture 25"/>
          <p:cNvPicPr>
            <a:picLocks noChangeAspect="1" noChangeArrowheads="1"/>
          </p:cNvPicPr>
          <p:nvPr/>
        </p:nvPicPr>
        <p:blipFill>
          <a:blip r:embed="rId3">
            <a:extLst>
              <a:ext uri="{28A0092B-C50C-407E-A947-70E740481C1C}">
                <a14:useLocalDpi xmlns:a14="http://schemas.microsoft.com/office/drawing/2010/main" val="0"/>
              </a:ext>
            </a:extLst>
          </a:blip>
          <a:srcRect l="9949" t="22112" r="20695" b="10742"/>
          <a:stretch>
            <a:fillRect/>
          </a:stretch>
        </p:blipFill>
        <p:spPr bwMode="auto">
          <a:xfrm>
            <a:off x="2771775" y="1108075"/>
            <a:ext cx="6265863" cy="527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Rectangle 19"/>
          <p:cNvSpPr>
            <a:spLocks noChangeArrowheads="1"/>
          </p:cNvSpPr>
          <p:nvPr/>
        </p:nvSpPr>
        <p:spPr bwMode="auto">
          <a:xfrm>
            <a:off x="352425" y="511175"/>
            <a:ext cx="15525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kumimoji="1" lang="en-US" altLang="zh-CN" sz="2800" b="1" dirty="0">
                <a:effectLst>
                  <a:outerShdw blurRad="38100" dist="38100" dir="2700000" algn="tl">
                    <a:srgbClr val="000000">
                      <a:alpha val="43137"/>
                    </a:srgbClr>
                  </a:outerShdw>
                </a:effectLst>
                <a:latin typeface="Times New Roman" panose="02020603050405020304" pitchFamily="18" charset="0"/>
              </a:rPr>
              <a:t>CPU</a:t>
            </a:r>
            <a:endParaRPr kumimoji="1" lang="zh-CN" altLang="en-US" sz="2400" b="1" dirty="0">
              <a:effectLst>
                <a:outerShdw blurRad="38100" dist="38100" dir="2700000" algn="tl">
                  <a:srgbClr val="000000">
                    <a:alpha val="43137"/>
                  </a:srgbClr>
                </a:outerShdw>
              </a:effectLst>
              <a:latin typeface="Times New Roman" panose="02020603050405020304" pitchFamily="18" charset="0"/>
            </a:endParaRPr>
          </a:p>
        </p:txBody>
      </p:sp>
      <p:sp>
        <p:nvSpPr>
          <p:cNvPr id="104453" name="Rectangle 19"/>
          <p:cNvSpPr>
            <a:spLocks noChangeArrowheads="1"/>
          </p:cNvSpPr>
          <p:nvPr/>
        </p:nvSpPr>
        <p:spPr bwMode="auto">
          <a:xfrm>
            <a:off x="233667" y="4482633"/>
            <a:ext cx="2738438" cy="1246187"/>
          </a:xfrm>
          <a:prstGeom prst="rect">
            <a:avLst/>
          </a:prstGeom>
          <a:noFill/>
          <a:ln>
            <a:noFill/>
          </a:ln>
        </p:spPr>
        <p:txBody>
          <a:bodyPr/>
          <a:lstStyle>
            <a:lvl1pPr marL="342900" indent="-3429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defRPr/>
            </a:pPr>
            <a:r>
              <a:rPr kumimoji="1" lang="en-US" altLang="zh-CN" sz="2800" b="1" dirty="0">
                <a:effectLst>
                  <a:outerShdw blurRad="38100" dist="38100" dir="2700000" algn="tl">
                    <a:srgbClr val="000000">
                      <a:alpha val="43137"/>
                    </a:srgbClr>
                  </a:outerShdw>
                </a:effectLst>
                <a:latin typeface="Times New Roman" panose="02020603050405020304" pitchFamily="18" charset="0"/>
              </a:rPr>
              <a:t>CPU = </a:t>
            </a:r>
          </a:p>
          <a:p>
            <a:pPr eaLnBrk="1" hangingPunct="1">
              <a:buFontTx/>
              <a:buNone/>
              <a:defRPr/>
            </a:pPr>
            <a:r>
              <a:rPr kumimoji="1" lang="zh-CN" altLang="en-US" sz="2800" b="1" dirty="0">
                <a:solidFill>
                  <a:schemeClr val="accent2"/>
                </a:solidFill>
                <a:effectLst>
                  <a:outerShdw blurRad="38100" dist="38100" dir="2700000" algn="tl">
                    <a:srgbClr val="000000">
                      <a:alpha val="43137"/>
                    </a:srgbClr>
                  </a:outerShdw>
                </a:effectLst>
                <a:latin typeface="Times New Roman" panose="02020603050405020304" pitchFamily="18" charset="0"/>
              </a:rPr>
              <a:t>控制器</a:t>
            </a:r>
            <a:r>
              <a:rPr kumimoji="1" lang="zh-CN" altLang="en-US" sz="2800" b="1" dirty="0">
                <a:effectLst>
                  <a:outerShdw blurRad="38100" dist="38100" dir="2700000" algn="tl">
                    <a:srgbClr val="000000">
                      <a:alpha val="43137"/>
                    </a:srgbClr>
                  </a:outerShdw>
                </a:effectLst>
                <a:latin typeface="Times New Roman" panose="02020603050405020304" pitchFamily="18" charset="0"/>
              </a:rPr>
              <a:t> </a:t>
            </a:r>
            <a:r>
              <a:rPr kumimoji="1" lang="en-US" altLang="zh-CN" sz="2800" b="1" dirty="0">
                <a:effectLst>
                  <a:outerShdw blurRad="38100" dist="38100" dir="2700000" algn="tl">
                    <a:srgbClr val="000000">
                      <a:alpha val="43137"/>
                    </a:srgbClr>
                  </a:outerShdw>
                </a:effectLst>
                <a:latin typeface="Times New Roman" panose="02020603050405020304" pitchFamily="18" charset="0"/>
              </a:rPr>
              <a:t>+ </a:t>
            </a:r>
            <a:r>
              <a:rPr kumimoji="1" lang="zh-CN" altLang="en-US" sz="2800" b="1" dirty="0">
                <a:solidFill>
                  <a:srgbClr val="FF3300"/>
                </a:solidFill>
                <a:effectLst>
                  <a:outerShdw blurRad="38100" dist="38100" dir="2700000" algn="tl">
                    <a:srgbClr val="000000">
                      <a:alpha val="43137"/>
                    </a:srgbClr>
                  </a:outerShdw>
                </a:effectLst>
                <a:latin typeface="Times New Roman" panose="02020603050405020304" pitchFamily="18" charset="0"/>
              </a:rPr>
              <a:t>运算器</a:t>
            </a:r>
            <a:endParaRPr kumimoji="1" lang="zh-CN" altLang="en-US" sz="3000" b="1" dirty="0">
              <a:solidFill>
                <a:srgbClr val="FF3300"/>
              </a:solidFill>
              <a:effectLst>
                <a:outerShdw blurRad="38100" dist="38100" dir="2700000" algn="tl">
                  <a:srgbClr val="000000">
                    <a:alpha val="43137"/>
                  </a:srgbClr>
                </a:outerShdw>
              </a:effectLst>
              <a:latin typeface="Times New Roman" panose="02020603050405020304" pitchFamily="18" charset="0"/>
            </a:endParaRPr>
          </a:p>
        </p:txBody>
      </p:sp>
      <p:sp>
        <p:nvSpPr>
          <p:cNvPr id="10246" name="Rectangle 22"/>
          <p:cNvSpPr>
            <a:spLocks noChangeArrowheads="1"/>
          </p:cNvSpPr>
          <p:nvPr/>
        </p:nvSpPr>
        <p:spPr bwMode="auto">
          <a:xfrm>
            <a:off x="1046163" y="522288"/>
            <a:ext cx="401955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dirty="0">
                <a:effectLst>
                  <a:outerShdw blurRad="38100" dist="38100" dir="2700000" algn="tl">
                    <a:srgbClr val="000000">
                      <a:alpha val="43137"/>
                    </a:srgbClr>
                  </a:outerShdw>
                </a:effectLst>
                <a:latin typeface="Times New Roman" panose="02020603050405020304" pitchFamily="18" charset="0"/>
              </a:rPr>
              <a:t>（</a:t>
            </a:r>
            <a:r>
              <a:rPr kumimoji="1" lang="en-US" altLang="zh-CN" sz="2400" b="1" dirty="0">
                <a:solidFill>
                  <a:srgbClr val="FF3300"/>
                </a:solidFill>
                <a:effectLst>
                  <a:outerShdw blurRad="38100" dist="38100" dir="2700000" algn="tl">
                    <a:srgbClr val="000000">
                      <a:alpha val="43137"/>
                    </a:srgbClr>
                  </a:outerShdw>
                </a:effectLst>
                <a:latin typeface="Times New Roman" panose="02020603050405020304" pitchFamily="18" charset="0"/>
              </a:rPr>
              <a:t>C</a:t>
            </a:r>
            <a:r>
              <a:rPr kumimoji="1" lang="en-US" altLang="zh-CN" sz="2400" b="1" dirty="0">
                <a:effectLst>
                  <a:outerShdw blurRad="38100" dist="38100" dir="2700000" algn="tl">
                    <a:srgbClr val="000000">
                      <a:alpha val="43137"/>
                    </a:srgbClr>
                  </a:outerShdw>
                </a:effectLst>
                <a:latin typeface="Times New Roman" panose="02020603050405020304" pitchFamily="18" charset="0"/>
              </a:rPr>
              <a:t>entral </a:t>
            </a:r>
            <a:r>
              <a:rPr kumimoji="1" lang="en-US" altLang="zh-CN" sz="2400" b="1" dirty="0">
                <a:solidFill>
                  <a:srgbClr val="FF3300"/>
                </a:solidFill>
                <a:effectLst>
                  <a:outerShdw blurRad="38100" dist="38100" dir="2700000" algn="tl">
                    <a:srgbClr val="000000">
                      <a:alpha val="43137"/>
                    </a:srgbClr>
                  </a:outerShdw>
                </a:effectLst>
                <a:latin typeface="Times New Roman" panose="02020603050405020304" pitchFamily="18" charset="0"/>
              </a:rPr>
              <a:t>P</a:t>
            </a:r>
            <a:r>
              <a:rPr kumimoji="1" lang="en-US" altLang="zh-CN" sz="2400" b="1" dirty="0">
                <a:effectLst>
                  <a:outerShdw blurRad="38100" dist="38100" dir="2700000" algn="tl">
                    <a:srgbClr val="000000">
                      <a:alpha val="43137"/>
                    </a:srgbClr>
                  </a:outerShdw>
                </a:effectLst>
                <a:latin typeface="Times New Roman" panose="02020603050405020304" pitchFamily="18" charset="0"/>
              </a:rPr>
              <a:t>rocessing </a:t>
            </a:r>
            <a:r>
              <a:rPr kumimoji="1" lang="en-US" altLang="zh-CN" sz="2400" b="1" dirty="0">
                <a:solidFill>
                  <a:srgbClr val="FF3300"/>
                </a:solidFill>
                <a:effectLst>
                  <a:outerShdw blurRad="38100" dist="38100" dir="2700000" algn="tl">
                    <a:srgbClr val="000000">
                      <a:alpha val="43137"/>
                    </a:srgbClr>
                  </a:outerShdw>
                </a:effectLst>
                <a:latin typeface="Times New Roman" panose="02020603050405020304" pitchFamily="18" charset="0"/>
              </a:rPr>
              <a:t>U</a:t>
            </a:r>
            <a:r>
              <a:rPr kumimoji="1" lang="en-US" altLang="zh-CN" sz="2400" b="1" dirty="0">
                <a:effectLst>
                  <a:outerShdw blurRad="38100" dist="38100" dir="2700000" algn="tl">
                    <a:srgbClr val="000000">
                      <a:alpha val="43137"/>
                    </a:srgbClr>
                  </a:outerShdw>
                </a:effectLst>
                <a:latin typeface="Times New Roman" panose="02020603050405020304" pitchFamily="18" charset="0"/>
              </a:rPr>
              <a:t>nit </a:t>
            </a:r>
            <a:r>
              <a:rPr kumimoji="1" lang="zh-CN" altLang="en-US" sz="2400" b="1" dirty="0">
                <a:effectLst>
                  <a:outerShdw blurRad="38100" dist="38100" dir="2700000" algn="tl">
                    <a:srgbClr val="000000">
                      <a:alpha val="43137"/>
                    </a:srgbClr>
                  </a:outerShdw>
                </a:effectLst>
                <a:latin typeface="Times New Roman" panose="02020603050405020304" pitchFamily="18" charset="0"/>
              </a:rPr>
              <a:t>）</a:t>
            </a:r>
          </a:p>
        </p:txBody>
      </p:sp>
      <p:sp>
        <p:nvSpPr>
          <p:cNvPr id="10" name="Rectangle 2"/>
          <p:cNvSpPr>
            <a:spLocks noChangeArrowheads="1"/>
          </p:cNvSpPr>
          <p:nvPr/>
        </p:nvSpPr>
        <p:spPr bwMode="auto">
          <a:xfrm>
            <a:off x="5364163" y="331788"/>
            <a:ext cx="3509962" cy="338137"/>
          </a:xfrm>
          <a:prstGeom prst="rect">
            <a:avLst/>
          </a:prstGeom>
          <a:noFill/>
          <a:ln>
            <a:noFill/>
          </a:ln>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defRPr/>
            </a:pPr>
            <a:r>
              <a:rPr kumimoji="1" lang="en-US" altLang="zh-CN"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2.1</a:t>
            </a: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 </a:t>
            </a:r>
            <a:r>
              <a:rPr kumimoji="1" lang="en-US" altLang="zh-CN"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MCS-51</a:t>
            </a: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单片机的结构</a:t>
            </a:r>
            <a:endParaRPr kumimoji="1" lang="zh-CN" altLang="en-US" sz="24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
        <p:nvSpPr>
          <p:cNvPr id="2" name="文本框 1"/>
          <p:cNvSpPr txBox="1"/>
          <p:nvPr/>
        </p:nvSpPr>
        <p:spPr>
          <a:xfrm>
            <a:off x="239063" y="1250265"/>
            <a:ext cx="2532711" cy="2893100"/>
          </a:xfrm>
          <a:prstGeom prst="rect">
            <a:avLst/>
          </a:prstGeom>
          <a:noFill/>
        </p:spPr>
        <p:txBody>
          <a:bodyPr wrap="square" rtlCol="0">
            <a:spAutoFit/>
          </a:bodyPr>
          <a:lstStyle/>
          <a:p>
            <a:r>
              <a:rPr lang="zh-CN" altLang="en-US" sz="26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功能：</a:t>
            </a:r>
            <a:endParaRPr lang="en-US" altLang="zh-CN" sz="26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r>
              <a:rPr lang="zh-CN" altLang="en-US" sz="26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对计算机所有硬件资源（存储器、</a:t>
            </a:r>
            <a:r>
              <a:rPr lang="en-US" altLang="zh-CN" sz="26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I/O</a:t>
            </a:r>
            <a:r>
              <a:rPr lang="zh-CN" altLang="en-US" sz="26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单元等）进行调配、是执行通用运算的核心硬件单元。</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4453"/>
                                        </p:tgtEl>
                                        <p:attrNameLst>
                                          <p:attrName>style.visibility</p:attrName>
                                        </p:attrNameLst>
                                      </p:cBhvr>
                                      <p:to>
                                        <p:strVal val="visible"/>
                                      </p:to>
                                    </p:set>
                                    <p:animEffect transition="in" filter="blinds(horizontal)">
                                      <p:cBhvr>
                                        <p:cTn id="12" dur="500"/>
                                        <p:tgtEl>
                                          <p:spTgt spid="10445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04473"/>
                                        </p:tgtEl>
                                        <p:attrNameLst>
                                          <p:attrName>style.visibility</p:attrName>
                                        </p:attrNameLst>
                                      </p:cBhvr>
                                      <p:to>
                                        <p:strVal val="visible"/>
                                      </p:to>
                                    </p:set>
                                    <p:animEffect transition="in" filter="blinds(horizontal)">
                                      <p:cBhvr>
                                        <p:cTn id="17" dur="500"/>
                                        <p:tgtEl>
                                          <p:spTgt spid="1044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3" grpId="0"/>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4"/>
          <p:cNvSpPr txBox="1">
            <a:spLocks noChangeArrowheads="1"/>
          </p:cNvSpPr>
          <p:nvPr/>
        </p:nvSpPr>
        <p:spPr bwMode="auto">
          <a:xfrm>
            <a:off x="237838" y="3169569"/>
            <a:ext cx="8359775" cy="1684337"/>
          </a:xfrm>
          <a:prstGeom prst="rect">
            <a:avLst/>
          </a:prstGeom>
          <a:noFill/>
          <a:ln>
            <a:noFill/>
          </a:ln>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ts val="0"/>
              </a:spcBef>
              <a:buFontTx/>
              <a:buNone/>
              <a:defRPr/>
            </a:pPr>
            <a:r>
              <a:rPr lang="zh-CN" altLang="en-US" sz="2400" b="1" dirty="0">
                <a:solidFill>
                  <a:schemeClr val="accent2"/>
                </a:solidFill>
                <a:effectLst>
                  <a:outerShdw blurRad="38100" dist="38100" dir="2700000" algn="tl">
                    <a:srgbClr val="000000">
                      <a:alpha val="43137"/>
                    </a:srgbClr>
                  </a:outerShdw>
                </a:effectLst>
                <a:latin typeface="Verdana" panose="020B0604030504040204" pitchFamily="34" charset="0"/>
              </a:rPr>
              <a:t>控制器的用途：</a:t>
            </a:r>
            <a:r>
              <a:rPr lang="zh-CN" altLang="en-US" sz="2400" b="1" dirty="0">
                <a:effectLst>
                  <a:outerShdw blurRad="38100" dist="38100" dir="2700000" algn="tl">
                    <a:srgbClr val="000000">
                      <a:alpha val="43137"/>
                    </a:srgbClr>
                  </a:outerShdw>
                </a:effectLst>
                <a:latin typeface="Verdana" panose="020B0604030504040204" pitchFamily="34" charset="0"/>
              </a:rPr>
              <a:t>统一指挥和控制各单元协调工作</a:t>
            </a:r>
          </a:p>
          <a:p>
            <a:pPr eaLnBrk="1" hangingPunct="1">
              <a:lnSpc>
                <a:spcPct val="150000"/>
              </a:lnSpc>
              <a:spcBef>
                <a:spcPts val="0"/>
              </a:spcBef>
              <a:buFontTx/>
              <a:buNone/>
              <a:defRPr/>
            </a:pPr>
            <a:r>
              <a:rPr lang="zh-CN" altLang="en-US" sz="2400" b="1" dirty="0">
                <a:solidFill>
                  <a:schemeClr val="accent2"/>
                </a:solidFill>
                <a:effectLst>
                  <a:outerShdw blurRad="38100" dist="38100" dir="2700000" algn="tl">
                    <a:srgbClr val="000000">
                      <a:alpha val="43137"/>
                    </a:srgbClr>
                  </a:outerShdw>
                </a:effectLst>
                <a:latin typeface="Verdana" panose="020B0604030504040204" pitchFamily="34" charset="0"/>
              </a:rPr>
              <a:t>控制器的任务：</a:t>
            </a:r>
            <a:r>
              <a:rPr lang="zh-CN" altLang="en-US" sz="2400" b="1" dirty="0">
                <a:effectLst>
                  <a:outerShdw blurRad="38100" dist="38100" dir="2700000" algn="tl">
                    <a:srgbClr val="000000">
                      <a:alpha val="43137"/>
                    </a:srgbClr>
                  </a:outerShdw>
                </a:effectLst>
                <a:latin typeface="Verdana" panose="020B0604030504040204" pitchFamily="34" charset="0"/>
              </a:rPr>
              <a:t>从</a:t>
            </a:r>
            <a:r>
              <a:rPr lang="en-US" altLang="zh-CN" sz="2400" b="1" dirty="0">
                <a:effectLst>
                  <a:outerShdw blurRad="38100" dist="38100" dir="2700000" algn="tl">
                    <a:srgbClr val="000000">
                      <a:alpha val="43137"/>
                    </a:srgbClr>
                  </a:outerShdw>
                </a:effectLst>
                <a:latin typeface="Verdana" panose="020B0604030504040204" pitchFamily="34" charset="0"/>
              </a:rPr>
              <a:t>ROM</a:t>
            </a:r>
            <a:r>
              <a:rPr lang="zh-CN" altLang="en-US" sz="2400" b="1" dirty="0">
                <a:effectLst>
                  <a:outerShdw blurRad="38100" dist="38100" dir="2700000" algn="tl">
                    <a:srgbClr val="000000">
                      <a:alpha val="43137"/>
                    </a:srgbClr>
                  </a:outerShdw>
                </a:effectLst>
                <a:latin typeface="Verdana" panose="020B0604030504040204" pitchFamily="34" charset="0"/>
              </a:rPr>
              <a:t>中取出指令</a:t>
            </a:r>
            <a:r>
              <a:rPr lang="en-US" altLang="zh-CN" sz="2400" b="1" dirty="0">
                <a:effectLst>
                  <a:outerShdw blurRad="38100" dist="38100" dir="2700000" algn="tl">
                    <a:srgbClr val="000000">
                      <a:alpha val="43137"/>
                    </a:srgbClr>
                  </a:outerShdw>
                </a:effectLst>
                <a:latin typeface="Times New Roman" panose="02020603050405020304" pitchFamily="18" charset="0"/>
              </a:rPr>
              <a:t>→</a:t>
            </a:r>
            <a:r>
              <a:rPr lang="zh-CN" altLang="en-US" sz="2400" b="1" dirty="0">
                <a:effectLst>
                  <a:outerShdw blurRad="38100" dist="38100" dir="2700000" algn="tl">
                    <a:srgbClr val="000000">
                      <a:alpha val="43137"/>
                    </a:srgbClr>
                  </a:outerShdw>
                </a:effectLst>
                <a:latin typeface="Verdana" panose="020B0604030504040204" pitchFamily="34" charset="0"/>
              </a:rPr>
              <a:t>译码</a:t>
            </a:r>
            <a:r>
              <a:rPr lang="en-US" altLang="zh-CN" sz="2400" b="1" dirty="0">
                <a:effectLst>
                  <a:outerShdw blurRad="38100" dist="38100" dir="2700000" algn="tl">
                    <a:srgbClr val="000000">
                      <a:alpha val="43137"/>
                    </a:srgbClr>
                  </a:outerShdw>
                </a:effectLst>
                <a:latin typeface="Times New Roman" panose="02020603050405020304" pitchFamily="18" charset="0"/>
              </a:rPr>
              <a:t>→</a:t>
            </a:r>
            <a:r>
              <a:rPr lang="zh-CN" altLang="en-US" sz="2400" b="1" dirty="0">
                <a:effectLst>
                  <a:outerShdw blurRad="38100" dist="38100" dir="2700000" algn="tl">
                    <a:srgbClr val="000000">
                      <a:alpha val="43137"/>
                    </a:srgbClr>
                  </a:outerShdw>
                </a:effectLst>
                <a:latin typeface="Verdana" panose="020B0604030504040204" pitchFamily="34" charset="0"/>
              </a:rPr>
              <a:t>执行指令</a:t>
            </a:r>
            <a:endParaRPr lang="en-US" altLang="zh-CN" sz="2400" b="1" dirty="0">
              <a:effectLst>
                <a:outerShdw blurRad="38100" dist="38100" dir="2700000" algn="tl">
                  <a:srgbClr val="000000">
                    <a:alpha val="43137"/>
                  </a:srgbClr>
                </a:outerShdw>
              </a:effectLst>
              <a:latin typeface="Verdana" panose="020B0604030504040204" pitchFamily="34" charset="0"/>
            </a:endParaRPr>
          </a:p>
          <a:p>
            <a:pPr eaLnBrk="1" hangingPunct="1">
              <a:lnSpc>
                <a:spcPct val="150000"/>
              </a:lnSpc>
              <a:spcBef>
                <a:spcPts val="0"/>
              </a:spcBef>
              <a:buFontTx/>
              <a:buNone/>
              <a:defRPr/>
            </a:pPr>
            <a:r>
              <a:rPr lang="zh-CN" altLang="en-US" sz="2400" b="1" dirty="0">
                <a:solidFill>
                  <a:schemeClr val="accent2"/>
                </a:solidFill>
                <a:effectLst>
                  <a:outerShdw blurRad="38100" dist="38100" dir="2700000" algn="tl">
                    <a:srgbClr val="000000">
                      <a:alpha val="43137"/>
                    </a:srgbClr>
                  </a:outerShdw>
                </a:effectLst>
                <a:latin typeface="Verdana" panose="020B0604030504040204" pitchFamily="34" charset="0"/>
              </a:rPr>
              <a:t>控制器的组成：</a:t>
            </a:r>
            <a:r>
              <a:rPr kumimoji="1" lang="zh-CN" altLang="en-US" sz="2400" b="1" dirty="0">
                <a:effectLst>
                  <a:outerShdw blurRad="38100" dist="38100" dir="2700000" algn="tl">
                    <a:srgbClr val="000000">
                      <a:alpha val="43137"/>
                    </a:srgbClr>
                  </a:outerShdw>
                </a:effectLst>
                <a:latin typeface="Times New Roman" panose="02020603050405020304" pitchFamily="18" charset="0"/>
              </a:rPr>
              <a:t>程序计数器</a:t>
            </a:r>
            <a:r>
              <a:rPr lang="en-US" altLang="zh-CN" sz="2400" b="1" dirty="0">
                <a:solidFill>
                  <a:schemeClr val="accent2"/>
                </a:solidFill>
                <a:effectLst>
                  <a:outerShdw blurRad="38100" dist="38100" dir="2700000" algn="tl">
                    <a:srgbClr val="000000">
                      <a:alpha val="43137"/>
                    </a:srgbClr>
                  </a:outerShdw>
                </a:effectLst>
                <a:latin typeface="Verdana" panose="020B0604030504040204" pitchFamily="34" charset="0"/>
              </a:rPr>
              <a:t>PC</a:t>
            </a:r>
            <a:r>
              <a:rPr lang="zh-CN" altLang="en-US" sz="2400" b="1" dirty="0">
                <a:effectLst>
                  <a:outerShdw blurRad="38100" dist="38100" dir="2700000" algn="tl">
                    <a:srgbClr val="000000">
                      <a:alpha val="43137"/>
                    </a:srgbClr>
                  </a:outerShdw>
                </a:effectLst>
                <a:latin typeface="Verdana" panose="020B0604030504040204" pitchFamily="34" charset="0"/>
              </a:rPr>
              <a:t>、</a:t>
            </a:r>
            <a:r>
              <a:rPr kumimoji="1" lang="zh-CN" altLang="en-US" sz="2400" b="1" dirty="0">
                <a:effectLst>
                  <a:outerShdw blurRad="38100" dist="38100" dir="2700000" algn="tl">
                    <a:srgbClr val="000000">
                      <a:alpha val="43137"/>
                    </a:srgbClr>
                  </a:outerShdw>
                </a:effectLst>
                <a:latin typeface="Times New Roman" panose="02020603050405020304" pitchFamily="18" charset="0"/>
              </a:rPr>
              <a:t>数据指针寄存器</a:t>
            </a:r>
            <a:r>
              <a:rPr lang="en-US" altLang="zh-CN" sz="2400" b="1" dirty="0">
                <a:solidFill>
                  <a:schemeClr val="accent2"/>
                </a:solidFill>
                <a:effectLst>
                  <a:outerShdw blurRad="38100" dist="38100" dir="2700000" algn="tl">
                    <a:srgbClr val="000000">
                      <a:alpha val="43137"/>
                    </a:srgbClr>
                  </a:outerShdw>
                </a:effectLst>
                <a:latin typeface="Verdana" panose="020B0604030504040204" pitchFamily="34" charset="0"/>
              </a:rPr>
              <a:t>DPTR</a:t>
            </a:r>
            <a:r>
              <a:rPr lang="zh-CN" altLang="en-US" sz="2400" b="1" dirty="0">
                <a:effectLst>
                  <a:outerShdw blurRad="38100" dist="38100" dir="2700000" algn="tl">
                    <a:srgbClr val="000000">
                      <a:alpha val="43137"/>
                    </a:srgbClr>
                  </a:outerShdw>
                </a:effectLst>
                <a:latin typeface="Verdana" panose="020B0604030504040204" pitchFamily="34"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rPr>
              <a:t>…</a:t>
            </a:r>
            <a:endParaRPr lang="zh-CN" altLang="en-US" sz="2400" b="1" dirty="0">
              <a:effectLst>
                <a:outerShdw blurRad="38100" dist="38100" dir="2700000" algn="tl">
                  <a:srgbClr val="000000">
                    <a:alpha val="43137"/>
                  </a:srgbClr>
                </a:outerShdw>
              </a:effectLst>
              <a:latin typeface="Times New Roman" panose="02020603050405020304" pitchFamily="18" charset="0"/>
            </a:endParaRPr>
          </a:p>
        </p:txBody>
      </p:sp>
      <p:sp>
        <p:nvSpPr>
          <p:cNvPr id="5" name="Text Box 4"/>
          <p:cNvSpPr txBox="1">
            <a:spLocks noChangeArrowheads="1"/>
          </p:cNvSpPr>
          <p:nvPr/>
        </p:nvSpPr>
        <p:spPr bwMode="auto">
          <a:xfrm>
            <a:off x="251520" y="1340768"/>
            <a:ext cx="8283575" cy="1684338"/>
          </a:xfrm>
          <a:prstGeom prst="rect">
            <a:avLst/>
          </a:prstGeom>
          <a:noFill/>
          <a:ln>
            <a:noFill/>
          </a:ln>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ts val="0"/>
              </a:spcBef>
              <a:buFontTx/>
              <a:buNone/>
              <a:defRPr/>
            </a:pPr>
            <a:r>
              <a:rPr lang="zh-CN" altLang="en-US" sz="2400" b="1" dirty="0">
                <a:solidFill>
                  <a:srgbClr val="FF3300"/>
                </a:solidFill>
                <a:effectLst>
                  <a:outerShdw blurRad="38100" dist="38100" dir="2700000" algn="tl">
                    <a:srgbClr val="000000">
                      <a:alpha val="43137"/>
                    </a:srgbClr>
                  </a:outerShdw>
                </a:effectLst>
                <a:latin typeface="Verdana" panose="020B0604030504040204" pitchFamily="34" charset="0"/>
              </a:rPr>
              <a:t>运算器的用途：</a:t>
            </a:r>
            <a:r>
              <a:rPr kumimoji="1" lang="zh-CN" altLang="en-US" sz="2400" b="1" dirty="0">
                <a:effectLst>
                  <a:outerShdw blurRad="38100" dist="38100" dir="2700000" algn="tl">
                    <a:srgbClr val="000000">
                      <a:alpha val="43137"/>
                    </a:srgbClr>
                  </a:outerShdw>
                </a:effectLst>
                <a:latin typeface="Times New Roman" panose="02020603050405020304" pitchFamily="18" charset="0"/>
              </a:rPr>
              <a:t>对数据进行算术运算和逻辑操作</a:t>
            </a:r>
          </a:p>
          <a:p>
            <a:pPr eaLnBrk="1" hangingPunct="1">
              <a:lnSpc>
                <a:spcPct val="150000"/>
              </a:lnSpc>
              <a:spcBef>
                <a:spcPts val="0"/>
              </a:spcBef>
              <a:buFontTx/>
              <a:buNone/>
              <a:defRPr/>
            </a:pPr>
            <a:r>
              <a:rPr lang="zh-CN" altLang="en-US" sz="2400" b="1" dirty="0">
                <a:solidFill>
                  <a:srgbClr val="FF3300"/>
                </a:solidFill>
                <a:effectLst>
                  <a:outerShdw blurRad="38100" dist="38100" dir="2700000" algn="tl">
                    <a:srgbClr val="000000">
                      <a:alpha val="43137"/>
                    </a:srgbClr>
                  </a:outerShdw>
                </a:effectLst>
                <a:latin typeface="Verdana" panose="020B0604030504040204" pitchFamily="34" charset="0"/>
              </a:rPr>
              <a:t>运算器的任务：</a:t>
            </a:r>
            <a:r>
              <a:rPr lang="zh-CN" altLang="en-US" sz="2400" b="1" dirty="0">
                <a:effectLst>
                  <a:outerShdw blurRad="38100" dist="38100" dir="2700000" algn="tl">
                    <a:srgbClr val="000000">
                      <a:alpha val="43137"/>
                    </a:srgbClr>
                  </a:outerShdw>
                </a:effectLst>
                <a:latin typeface="Verdana" panose="020B0604030504040204" pitchFamily="34" charset="0"/>
              </a:rPr>
              <a:t>计算缓存器内容</a:t>
            </a:r>
            <a:r>
              <a:rPr lang="en-US" altLang="zh-CN" sz="2400" b="1" dirty="0">
                <a:effectLst>
                  <a:outerShdw blurRad="38100" dist="38100" dir="2700000" algn="tl">
                    <a:srgbClr val="000000">
                      <a:alpha val="43137"/>
                    </a:srgbClr>
                  </a:outerShdw>
                </a:effectLst>
                <a:latin typeface="Times New Roman" panose="02020603050405020304" pitchFamily="18" charset="0"/>
              </a:rPr>
              <a:t>→</a:t>
            </a:r>
            <a:r>
              <a:rPr lang="zh-CN" altLang="en-US" sz="2400" b="1" dirty="0">
                <a:effectLst>
                  <a:outerShdw blurRad="38100" dist="38100" dir="2700000" algn="tl">
                    <a:srgbClr val="000000">
                      <a:alpha val="43137"/>
                    </a:srgbClr>
                  </a:outerShdw>
                </a:effectLst>
                <a:latin typeface="Times New Roman" panose="02020603050405020304" pitchFamily="18" charset="0"/>
              </a:rPr>
              <a:t>结果暂存</a:t>
            </a:r>
            <a:r>
              <a:rPr lang="en-US" altLang="zh-CN" sz="2400" b="1" dirty="0">
                <a:effectLst>
                  <a:outerShdw blurRad="38100" dist="38100" dir="2700000" algn="tl">
                    <a:srgbClr val="000000">
                      <a:alpha val="43137"/>
                    </a:srgbClr>
                  </a:outerShdw>
                </a:effectLst>
                <a:latin typeface="Times New Roman" panose="02020603050405020304" pitchFamily="18" charset="0"/>
              </a:rPr>
              <a:t>→</a:t>
            </a:r>
            <a:r>
              <a:rPr lang="zh-CN" altLang="en-US" sz="2400" b="1" dirty="0">
                <a:effectLst>
                  <a:outerShdw blurRad="38100" dist="38100" dir="2700000" algn="tl">
                    <a:srgbClr val="000000">
                      <a:alpha val="43137"/>
                    </a:srgbClr>
                  </a:outerShdw>
                </a:effectLst>
                <a:latin typeface="Times New Roman" panose="02020603050405020304" pitchFamily="18" charset="0"/>
              </a:rPr>
              <a:t>修改运行标志</a:t>
            </a:r>
          </a:p>
          <a:p>
            <a:pPr eaLnBrk="1" hangingPunct="1">
              <a:lnSpc>
                <a:spcPct val="150000"/>
              </a:lnSpc>
              <a:spcBef>
                <a:spcPts val="0"/>
              </a:spcBef>
              <a:buFontTx/>
              <a:buNone/>
              <a:defRPr/>
            </a:pPr>
            <a:r>
              <a:rPr lang="zh-CN" altLang="en-US" sz="2400" b="1" dirty="0">
                <a:solidFill>
                  <a:srgbClr val="FF3300"/>
                </a:solidFill>
                <a:effectLst>
                  <a:outerShdw blurRad="38100" dist="38100" dir="2700000" algn="tl">
                    <a:srgbClr val="000000">
                      <a:alpha val="43137"/>
                    </a:srgbClr>
                  </a:outerShdw>
                </a:effectLst>
                <a:latin typeface="Verdana" panose="020B0604030504040204" pitchFamily="34" charset="0"/>
              </a:rPr>
              <a:t>运算器的组成：</a:t>
            </a:r>
            <a:r>
              <a:rPr kumimoji="1" lang="zh-CN" altLang="en-US" sz="2400" b="1" dirty="0">
                <a:effectLst>
                  <a:outerShdw blurRad="38100" dist="38100" dir="2700000" algn="tl">
                    <a:srgbClr val="000000">
                      <a:alpha val="43137"/>
                    </a:srgbClr>
                  </a:outerShdw>
                </a:effectLst>
                <a:latin typeface="Times New Roman" panose="02020603050405020304" pitchFamily="18" charset="0"/>
              </a:rPr>
              <a:t>累加器</a:t>
            </a:r>
            <a:r>
              <a:rPr kumimoji="1" lang="en-US" altLang="zh-CN" sz="2400" b="1" dirty="0">
                <a:solidFill>
                  <a:srgbClr val="FF3300"/>
                </a:solidFill>
                <a:effectLst>
                  <a:outerShdw blurRad="38100" dist="38100" dir="2700000" algn="tl">
                    <a:srgbClr val="000000">
                      <a:alpha val="43137"/>
                    </a:srgbClr>
                  </a:outerShdw>
                </a:effectLst>
                <a:latin typeface="Times New Roman" panose="02020603050405020304" pitchFamily="18" charset="0"/>
              </a:rPr>
              <a:t>ACC</a:t>
            </a:r>
            <a:r>
              <a:rPr lang="zh-CN" altLang="en-US" sz="2400" b="1" dirty="0">
                <a:effectLst>
                  <a:outerShdw blurRad="38100" dist="38100" dir="2700000" algn="tl">
                    <a:srgbClr val="000000">
                      <a:alpha val="43137"/>
                    </a:srgbClr>
                  </a:outerShdw>
                </a:effectLst>
                <a:latin typeface="Verdana" panose="020B0604030504040204" pitchFamily="34" charset="0"/>
              </a:rPr>
              <a:t>、</a:t>
            </a:r>
            <a:r>
              <a:rPr kumimoji="1" lang="zh-CN" altLang="en-US" sz="2400" b="1" dirty="0">
                <a:effectLst>
                  <a:outerShdw blurRad="38100" dist="38100" dir="2700000" algn="tl">
                    <a:srgbClr val="000000">
                      <a:alpha val="43137"/>
                    </a:srgbClr>
                  </a:outerShdw>
                </a:effectLst>
                <a:latin typeface="Times New Roman" panose="02020603050405020304" pitchFamily="18" charset="0"/>
              </a:rPr>
              <a:t>程序状态字寄存器</a:t>
            </a:r>
            <a:r>
              <a:rPr kumimoji="1" lang="en-US" altLang="zh-CN" sz="2400" b="1" dirty="0">
                <a:solidFill>
                  <a:srgbClr val="FF3300"/>
                </a:solidFill>
                <a:effectLst>
                  <a:outerShdw blurRad="38100" dist="38100" dir="2700000" algn="tl">
                    <a:srgbClr val="000000">
                      <a:alpha val="43137"/>
                    </a:srgbClr>
                  </a:outerShdw>
                </a:effectLst>
                <a:latin typeface="Times New Roman" panose="02020603050405020304" pitchFamily="18" charset="0"/>
              </a:rPr>
              <a:t>PSW</a:t>
            </a:r>
            <a:r>
              <a:rPr lang="zh-CN" altLang="en-US" sz="2400" b="1" dirty="0">
                <a:effectLst>
                  <a:outerShdw blurRad="38100" dist="38100" dir="2700000" algn="tl">
                    <a:srgbClr val="000000">
                      <a:alpha val="43137"/>
                    </a:srgbClr>
                  </a:outerShdw>
                </a:effectLst>
                <a:latin typeface="Verdana" panose="020B0604030504040204" pitchFamily="34"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rPr>
              <a:t>…</a:t>
            </a:r>
            <a:endParaRPr lang="zh-CN" altLang="en-US" sz="2400" b="1" dirty="0">
              <a:effectLst>
                <a:outerShdw blurRad="38100" dist="38100" dir="2700000" algn="tl">
                  <a:srgbClr val="000000">
                    <a:alpha val="43137"/>
                  </a:srgbClr>
                </a:outerShdw>
              </a:effectLst>
              <a:latin typeface="Times New Roman" panose="02020603050405020304" pitchFamily="18" charset="0"/>
            </a:endParaRPr>
          </a:p>
        </p:txBody>
      </p:sp>
      <p:sp>
        <p:nvSpPr>
          <p:cNvPr id="4" name="Rectangle 2"/>
          <p:cNvSpPr>
            <a:spLocks noChangeArrowheads="1"/>
          </p:cNvSpPr>
          <p:nvPr/>
        </p:nvSpPr>
        <p:spPr bwMode="auto">
          <a:xfrm>
            <a:off x="5364163" y="331788"/>
            <a:ext cx="3509962" cy="338137"/>
          </a:xfrm>
          <a:prstGeom prst="rect">
            <a:avLst/>
          </a:prstGeom>
          <a:noFill/>
          <a:ln>
            <a:noFill/>
          </a:ln>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defRPr/>
            </a:pPr>
            <a:r>
              <a:rPr kumimoji="1" lang="en-US" altLang="zh-CN"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2.1</a:t>
            </a: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 </a:t>
            </a:r>
            <a:r>
              <a:rPr kumimoji="1" lang="en-US" altLang="zh-CN"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MCS-51</a:t>
            </a: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单片机的结构</a:t>
            </a:r>
            <a:endParaRPr kumimoji="1" lang="zh-CN" altLang="en-US" sz="24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
        <p:nvSpPr>
          <p:cNvPr id="6" name="Rectangle 19"/>
          <p:cNvSpPr>
            <a:spLocks noChangeArrowheads="1"/>
          </p:cNvSpPr>
          <p:nvPr/>
        </p:nvSpPr>
        <p:spPr bwMode="auto">
          <a:xfrm>
            <a:off x="352425" y="511175"/>
            <a:ext cx="15525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kumimoji="1" lang="en-US" altLang="zh-CN" sz="2800" b="1" dirty="0">
                <a:effectLst>
                  <a:outerShdw blurRad="38100" dist="38100" dir="2700000" algn="tl">
                    <a:srgbClr val="000000">
                      <a:alpha val="43137"/>
                    </a:srgbClr>
                  </a:outerShdw>
                </a:effectLst>
                <a:latin typeface="Times New Roman" panose="02020603050405020304" pitchFamily="18" charset="0"/>
              </a:rPr>
              <a:t>CPU</a:t>
            </a:r>
            <a:endParaRPr kumimoji="1" lang="zh-CN" altLang="en-US" sz="2400" b="1" dirty="0">
              <a:effectLst>
                <a:outerShdw blurRad="38100" dist="38100" dir="2700000" algn="tl">
                  <a:srgbClr val="000000">
                    <a:alpha val="43137"/>
                  </a:srgbClr>
                </a:outerShdw>
              </a:effectLst>
              <a:latin typeface="Times New Roman" panose="02020603050405020304" pitchFamily="18" charset="0"/>
            </a:endParaRPr>
          </a:p>
        </p:txBody>
      </p:sp>
      <p:sp>
        <p:nvSpPr>
          <p:cNvPr id="7" name="Rectangle 22"/>
          <p:cNvSpPr>
            <a:spLocks noChangeArrowheads="1"/>
          </p:cNvSpPr>
          <p:nvPr/>
        </p:nvSpPr>
        <p:spPr bwMode="auto">
          <a:xfrm>
            <a:off x="1046163" y="522288"/>
            <a:ext cx="401955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400" b="1" dirty="0">
                <a:effectLst>
                  <a:outerShdw blurRad="38100" dist="38100" dir="2700000" algn="tl">
                    <a:srgbClr val="000000">
                      <a:alpha val="43137"/>
                    </a:srgbClr>
                  </a:outerShdw>
                </a:effectLst>
                <a:latin typeface="Times New Roman" panose="02020603050405020304" pitchFamily="18" charset="0"/>
              </a:rPr>
              <a:t>（</a:t>
            </a:r>
            <a:r>
              <a:rPr kumimoji="1" lang="en-US" altLang="zh-CN" sz="2400" b="1" dirty="0">
                <a:solidFill>
                  <a:srgbClr val="FF3300"/>
                </a:solidFill>
                <a:effectLst>
                  <a:outerShdw blurRad="38100" dist="38100" dir="2700000" algn="tl">
                    <a:srgbClr val="000000">
                      <a:alpha val="43137"/>
                    </a:srgbClr>
                  </a:outerShdw>
                </a:effectLst>
                <a:latin typeface="Times New Roman" panose="02020603050405020304" pitchFamily="18" charset="0"/>
              </a:rPr>
              <a:t>C</a:t>
            </a:r>
            <a:r>
              <a:rPr kumimoji="1" lang="en-US" altLang="zh-CN" sz="2400" b="1" dirty="0">
                <a:effectLst>
                  <a:outerShdw blurRad="38100" dist="38100" dir="2700000" algn="tl">
                    <a:srgbClr val="000000">
                      <a:alpha val="43137"/>
                    </a:srgbClr>
                  </a:outerShdw>
                </a:effectLst>
                <a:latin typeface="Times New Roman" panose="02020603050405020304" pitchFamily="18" charset="0"/>
              </a:rPr>
              <a:t>entral </a:t>
            </a:r>
            <a:r>
              <a:rPr kumimoji="1" lang="en-US" altLang="zh-CN" sz="2400" b="1" dirty="0">
                <a:solidFill>
                  <a:srgbClr val="FF3300"/>
                </a:solidFill>
                <a:effectLst>
                  <a:outerShdw blurRad="38100" dist="38100" dir="2700000" algn="tl">
                    <a:srgbClr val="000000">
                      <a:alpha val="43137"/>
                    </a:srgbClr>
                  </a:outerShdw>
                </a:effectLst>
                <a:latin typeface="Times New Roman" panose="02020603050405020304" pitchFamily="18" charset="0"/>
              </a:rPr>
              <a:t>P</a:t>
            </a:r>
            <a:r>
              <a:rPr kumimoji="1" lang="en-US" altLang="zh-CN" sz="2400" b="1" dirty="0">
                <a:effectLst>
                  <a:outerShdw blurRad="38100" dist="38100" dir="2700000" algn="tl">
                    <a:srgbClr val="000000">
                      <a:alpha val="43137"/>
                    </a:srgbClr>
                  </a:outerShdw>
                </a:effectLst>
                <a:latin typeface="Times New Roman" panose="02020603050405020304" pitchFamily="18" charset="0"/>
              </a:rPr>
              <a:t>rocessing </a:t>
            </a:r>
            <a:r>
              <a:rPr kumimoji="1" lang="en-US" altLang="zh-CN" sz="2400" b="1" dirty="0">
                <a:solidFill>
                  <a:srgbClr val="FF3300"/>
                </a:solidFill>
                <a:effectLst>
                  <a:outerShdw blurRad="38100" dist="38100" dir="2700000" algn="tl">
                    <a:srgbClr val="000000">
                      <a:alpha val="43137"/>
                    </a:srgbClr>
                  </a:outerShdw>
                </a:effectLst>
                <a:latin typeface="Times New Roman" panose="02020603050405020304" pitchFamily="18" charset="0"/>
              </a:rPr>
              <a:t>U</a:t>
            </a:r>
            <a:r>
              <a:rPr kumimoji="1" lang="en-US" altLang="zh-CN" sz="2400" b="1" dirty="0">
                <a:effectLst>
                  <a:outerShdw blurRad="38100" dist="38100" dir="2700000" algn="tl">
                    <a:srgbClr val="000000">
                      <a:alpha val="43137"/>
                    </a:srgbClr>
                  </a:outerShdw>
                </a:effectLst>
                <a:latin typeface="Times New Roman" panose="02020603050405020304" pitchFamily="18" charset="0"/>
              </a:rPr>
              <a:t>nit </a:t>
            </a:r>
            <a:r>
              <a:rPr kumimoji="1" lang="zh-CN" altLang="en-US" sz="2400" b="1" dirty="0">
                <a:effectLst>
                  <a:outerShdw blurRad="38100" dist="38100" dir="2700000" algn="tl">
                    <a:srgbClr val="000000">
                      <a:alpha val="43137"/>
                    </a:srgbClr>
                  </a:outerShdw>
                </a:effectLst>
                <a:latin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randombar(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9218">
                                            <p:txEl>
                                              <p:pRg st="0" end="0"/>
                                            </p:txEl>
                                          </p:spTgt>
                                        </p:tgtEl>
                                        <p:attrNameLst>
                                          <p:attrName>style.visibility</p:attrName>
                                        </p:attrNameLst>
                                      </p:cBhvr>
                                      <p:to>
                                        <p:strVal val="visible"/>
                                      </p:to>
                                    </p:set>
                                    <p:animEffect transition="in" filter="randombar(horizontal)">
                                      <p:cBhvr>
                                        <p:cTn id="22" dur="500"/>
                                        <p:tgtEl>
                                          <p:spTgt spid="921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9218">
                                            <p:txEl>
                                              <p:pRg st="1" end="1"/>
                                            </p:txEl>
                                          </p:spTgt>
                                        </p:tgtEl>
                                        <p:attrNameLst>
                                          <p:attrName>style.visibility</p:attrName>
                                        </p:attrNameLst>
                                      </p:cBhvr>
                                      <p:to>
                                        <p:strVal val="visible"/>
                                      </p:to>
                                    </p:set>
                                    <p:animEffect transition="in" filter="randombar(horizontal)">
                                      <p:cBhvr>
                                        <p:cTn id="27" dur="500"/>
                                        <p:tgtEl>
                                          <p:spTgt spid="9218">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9218">
                                            <p:txEl>
                                              <p:pRg st="2" end="2"/>
                                            </p:txEl>
                                          </p:spTgt>
                                        </p:tgtEl>
                                        <p:attrNameLst>
                                          <p:attrName>style.visibility</p:attrName>
                                        </p:attrNameLst>
                                      </p:cBhvr>
                                      <p:to>
                                        <p:strVal val="visible"/>
                                      </p:to>
                                    </p:set>
                                    <p:animEffect transition="in" filter="randombar(horizontal)">
                                      <p:cBhvr>
                                        <p:cTn id="32" dur="500"/>
                                        <p:tgtEl>
                                          <p:spTgt spid="92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build="p"/>
      <p:bldP spid="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269875" y="453812"/>
            <a:ext cx="8893175" cy="1538883"/>
          </a:xfrm>
          <a:prstGeom prst="rect">
            <a:avLst/>
          </a:prstGeom>
          <a:noFill/>
          <a:ln>
            <a:noFill/>
          </a:ln>
          <a:effectLst/>
        </p:spPr>
        <p:txBody>
          <a:bodyPr>
            <a:spAutoFit/>
          </a:bodyPr>
          <a:lstStyle/>
          <a:p>
            <a:pPr eaLnBrk="1" hangingPunct="1">
              <a:lnSpc>
                <a:spcPct val="150000"/>
              </a:lnSpc>
              <a:spcBef>
                <a:spcPct val="50000"/>
              </a:spcBef>
              <a:defRPr/>
            </a:pPr>
            <a:r>
              <a:rPr lang="en-US" altLang="zh-CN" sz="2800" b="1" dirty="0">
                <a:solidFill>
                  <a:srgbClr val="FF0000"/>
                </a:solidFill>
                <a:effectLst>
                  <a:outerShdw blurRad="38100" dist="38100" dir="2700000" algn="tl">
                    <a:srgbClr val="C0C0C0"/>
                  </a:outerShdw>
                </a:effectLst>
                <a:latin typeface="宋体" panose="02010600030101010101" pitchFamily="2" charset="-122"/>
              </a:rPr>
              <a:t> </a:t>
            </a:r>
            <a:r>
              <a:rPr lang="zh-CN" altLang="en-US" sz="2800" b="1" dirty="0">
                <a:solidFill>
                  <a:srgbClr val="C00000"/>
                </a:solidFill>
                <a:effectLst>
                  <a:outerShdw blurRad="38100" dist="38100" dir="2700000" algn="tl">
                    <a:srgbClr val="C0C0C0"/>
                  </a:outerShdw>
                </a:effectLst>
                <a:latin typeface="黑体" panose="02010609060101010101" pitchFamily="49" charset="-122"/>
                <a:ea typeface="黑体" panose="02010609060101010101" pitchFamily="49" charset="-122"/>
              </a:rPr>
              <a:t>一、运算器</a:t>
            </a:r>
          </a:p>
          <a:p>
            <a:pPr eaLnBrk="1" hangingPunct="1">
              <a:defRPr/>
            </a:pPr>
            <a:r>
              <a:rPr lang="zh-CN" altLang="en-US" sz="2600" b="1" dirty="0">
                <a:effectLst>
                  <a:outerShdw blurRad="38100" dist="38100" dir="2700000" algn="tl">
                    <a:srgbClr val="C0C0C0"/>
                  </a:outerShdw>
                </a:effectLst>
                <a:latin typeface="黑体" panose="02010609060101010101" pitchFamily="49" charset="-122"/>
                <a:ea typeface="黑体" panose="02010609060101010101" pitchFamily="49" charset="-122"/>
              </a:rPr>
              <a:t> </a:t>
            </a:r>
            <a:r>
              <a:rPr lang="zh-CN" altLang="en-US" sz="2600" b="1" dirty="0">
                <a:effectLst>
                  <a:outerShdw blurRad="38100" dist="38100" dir="2700000" algn="tl">
                    <a:srgbClr val="C0C0C0"/>
                  </a:outerShdw>
                </a:effectLst>
                <a:latin typeface="宋体" panose="02010600030101010101" pitchFamily="2" charset="-122"/>
              </a:rPr>
              <a:t>功能：运算部件</a:t>
            </a:r>
          </a:p>
          <a:p>
            <a:pPr eaLnBrk="1" hangingPunct="1">
              <a:defRPr/>
            </a:pPr>
            <a:r>
              <a:rPr lang="zh-CN" altLang="en-US" sz="2600" b="1" dirty="0">
                <a:effectLst>
                  <a:outerShdw blurRad="38100" dist="38100" dir="2700000" algn="tl">
                    <a:srgbClr val="C0C0C0"/>
                  </a:outerShdw>
                </a:effectLst>
                <a:latin typeface="宋体" panose="02010600030101010101" pitchFamily="2" charset="-122"/>
              </a:rPr>
              <a:t> 实现算术、逻辑运算、位变量处理、移位、数据传送。</a:t>
            </a:r>
            <a:r>
              <a:rPr lang="zh-CN" altLang="en-US" sz="2600" b="1" dirty="0">
                <a:effectLst>
                  <a:outerShdw blurRad="38100" dist="38100" dir="2700000" algn="tl">
                    <a:srgbClr val="C0C0C0"/>
                  </a:outerShdw>
                </a:effectLst>
                <a:latin typeface="黑体" panose="02010609060101010101" pitchFamily="49" charset="-122"/>
                <a:ea typeface="黑体" panose="02010609060101010101" pitchFamily="49" charset="-122"/>
              </a:rPr>
              <a:t>  </a:t>
            </a:r>
            <a:endParaRPr lang="zh-CN" altLang="en-US" sz="2600" b="1" dirty="0">
              <a:effectLst>
                <a:outerShdw blurRad="38100" dist="38100" dir="2700000" algn="tl">
                  <a:srgbClr val="C0C0C0"/>
                </a:outerShdw>
              </a:effectLst>
              <a:latin typeface="宋体" panose="02010600030101010101" pitchFamily="2" charset="-122"/>
            </a:endParaRPr>
          </a:p>
        </p:txBody>
      </p:sp>
      <p:sp>
        <p:nvSpPr>
          <p:cNvPr id="11268" name="Text Box 4"/>
          <p:cNvSpPr txBox="1">
            <a:spLocks noChangeArrowheads="1"/>
          </p:cNvSpPr>
          <p:nvPr/>
        </p:nvSpPr>
        <p:spPr bwMode="auto">
          <a:xfrm>
            <a:off x="467544" y="5229200"/>
            <a:ext cx="7932737" cy="768350"/>
          </a:xfrm>
          <a:prstGeom prst="rect">
            <a:avLst/>
          </a:prstGeom>
          <a:noFill/>
          <a:ln>
            <a:noFill/>
          </a:ln>
          <a:effectLst/>
        </p:spPr>
        <p:txBody>
          <a:bodyPr>
            <a:spAutoFit/>
          </a:bodyPr>
          <a:lstStyle/>
          <a:p>
            <a:pPr eaLnBrk="1" hangingPunct="1">
              <a:lnSpc>
                <a:spcPct val="85000"/>
              </a:lnSpc>
              <a:spcBef>
                <a:spcPct val="20000"/>
              </a:spcBef>
              <a:defRPr/>
            </a:pPr>
            <a:r>
              <a:rPr lang="en-US" altLang="zh-CN" sz="2600" b="1" dirty="0">
                <a:effectLst>
                  <a:outerShdw blurRad="38100" dist="38100" dir="2700000" algn="tl">
                    <a:srgbClr val="C0C0C0"/>
                  </a:outerShdw>
                </a:effectLst>
                <a:latin typeface="宋体" panose="02010600030101010101" pitchFamily="2" charset="-122"/>
              </a:rPr>
              <a:t>4</a:t>
            </a:r>
            <a:r>
              <a:rPr lang="zh-CN" altLang="en-US" sz="2600" b="1" dirty="0">
                <a:effectLst>
                  <a:outerShdw blurRad="38100" dist="38100" dir="2700000" algn="tl">
                    <a:srgbClr val="C0C0C0"/>
                  </a:outerShdw>
                </a:effectLst>
                <a:latin typeface="宋体" panose="02010600030101010101" pitchFamily="2" charset="-122"/>
              </a:rPr>
              <a:t>．程序状态字（</a:t>
            </a:r>
            <a:r>
              <a:rPr lang="en-US" altLang="zh-CN" sz="2600" b="1" dirty="0">
                <a:solidFill>
                  <a:srgbClr val="FF0000"/>
                </a:solidFill>
                <a:effectLst>
                  <a:outerShdw blurRad="38100" dist="38100" dir="2700000" algn="tl">
                    <a:srgbClr val="C0C0C0"/>
                  </a:outerShdw>
                </a:effectLst>
                <a:latin typeface="宋体" panose="02010600030101010101" pitchFamily="2" charset="-122"/>
              </a:rPr>
              <a:t>PSW</a:t>
            </a:r>
            <a:r>
              <a:rPr lang="zh-CN" altLang="en-US" sz="2600" b="1" dirty="0">
                <a:effectLst>
                  <a:outerShdw blurRad="38100" dist="38100" dir="2700000" algn="tl">
                    <a:srgbClr val="C0C0C0"/>
                  </a:outerShdw>
                </a:effectLst>
                <a:latin typeface="宋体" panose="02010600030101010101" pitchFamily="2" charset="-122"/>
              </a:rPr>
              <a:t>）</a:t>
            </a:r>
            <a:r>
              <a:rPr lang="en-US" altLang="zh-CN" sz="2600" b="1" dirty="0">
                <a:solidFill>
                  <a:srgbClr val="990099"/>
                </a:solidFill>
                <a:effectLst>
                  <a:outerShdw blurRad="38100" dist="38100" dir="2700000" algn="tl">
                    <a:srgbClr val="C0C0C0"/>
                  </a:outerShdw>
                </a:effectLst>
                <a:latin typeface="宋体" panose="02010600030101010101" pitchFamily="2" charset="-122"/>
              </a:rPr>
              <a:t>8</a:t>
            </a:r>
            <a:r>
              <a:rPr lang="zh-CN" altLang="en-US" sz="2600" b="1" dirty="0">
                <a:solidFill>
                  <a:srgbClr val="990099"/>
                </a:solidFill>
                <a:effectLst>
                  <a:outerShdw blurRad="38100" dist="38100" dir="2700000" algn="tl">
                    <a:srgbClr val="C0C0C0"/>
                  </a:outerShdw>
                </a:effectLst>
                <a:latin typeface="宋体" panose="02010600030101010101" pitchFamily="2" charset="-122"/>
              </a:rPr>
              <a:t>位，</a:t>
            </a:r>
            <a:r>
              <a:rPr lang="zh-CN" altLang="en-US" sz="2600" b="1" dirty="0">
                <a:effectLst>
                  <a:outerShdw blurRad="38100" dist="38100" dir="2700000" algn="tl">
                    <a:srgbClr val="C0C0C0"/>
                  </a:outerShdw>
                </a:effectLst>
                <a:latin typeface="宋体" panose="02010600030101010101" pitchFamily="2" charset="-122"/>
              </a:rPr>
              <a:t>存放</a:t>
            </a:r>
            <a:r>
              <a:rPr lang="en-US" altLang="zh-CN" sz="2600" b="1" dirty="0">
                <a:effectLst>
                  <a:outerShdw blurRad="38100" dist="38100" dir="2700000" algn="tl">
                    <a:srgbClr val="C0C0C0"/>
                  </a:outerShdw>
                </a:effectLst>
                <a:latin typeface="宋体" panose="02010600030101010101" pitchFamily="2" charset="-122"/>
              </a:rPr>
              <a:t>ALU</a:t>
            </a:r>
            <a:r>
              <a:rPr lang="zh-CN" altLang="en-US" sz="2600" b="1" dirty="0">
                <a:effectLst>
                  <a:outerShdw blurRad="38100" dist="38100" dir="2700000" algn="tl">
                    <a:srgbClr val="C0C0C0"/>
                  </a:outerShdw>
                </a:effectLst>
                <a:latin typeface="宋体" panose="02010600030101010101" pitchFamily="2" charset="-122"/>
              </a:rPr>
              <a:t>运算过程的标志状态。</a:t>
            </a:r>
            <a:endParaRPr lang="zh-CN" altLang="en-US" sz="2600" dirty="0">
              <a:effectLst>
                <a:outerShdw blurRad="38100" dist="38100" dir="2700000" algn="tl">
                  <a:srgbClr val="C0C0C0"/>
                </a:outerShdw>
              </a:effectLst>
              <a:latin typeface="Times New Roman" panose="02020603050405020304" pitchFamily="18" charset="0"/>
            </a:endParaRPr>
          </a:p>
        </p:txBody>
      </p:sp>
      <p:sp>
        <p:nvSpPr>
          <p:cNvPr id="11269" name="Text Box 5"/>
          <p:cNvSpPr txBox="1">
            <a:spLocks noChangeArrowheads="1"/>
          </p:cNvSpPr>
          <p:nvPr/>
        </p:nvSpPr>
        <p:spPr bwMode="auto">
          <a:xfrm>
            <a:off x="467544" y="4443388"/>
            <a:ext cx="8174037" cy="727075"/>
          </a:xfrm>
          <a:prstGeom prst="rect">
            <a:avLst/>
          </a:prstGeom>
          <a:noFill/>
          <a:ln>
            <a:noFill/>
          </a:ln>
          <a:effectLst/>
        </p:spPr>
        <p:txBody>
          <a:bodyPr>
            <a:spAutoFit/>
          </a:bodyPr>
          <a:lstStyle/>
          <a:p>
            <a:pPr eaLnBrk="1" hangingPunct="1">
              <a:lnSpc>
                <a:spcPct val="80000"/>
              </a:lnSpc>
              <a:spcBef>
                <a:spcPct val="50000"/>
              </a:spcBef>
              <a:defRPr/>
            </a:pPr>
            <a:r>
              <a:rPr lang="en-US" altLang="zh-CN" sz="2600" b="1">
                <a:effectLst>
                  <a:outerShdw blurRad="38100" dist="38100" dir="2700000" algn="tl">
                    <a:srgbClr val="C0C0C0"/>
                  </a:outerShdw>
                </a:effectLst>
                <a:latin typeface="宋体" panose="02010600030101010101" pitchFamily="2" charset="-122"/>
              </a:rPr>
              <a:t>3</a:t>
            </a:r>
            <a:r>
              <a:rPr lang="zh-CN" altLang="en-US" sz="2600" b="1">
                <a:effectLst>
                  <a:outerShdw blurRad="38100" dist="38100" dir="2700000" algn="tl">
                    <a:srgbClr val="C0C0C0"/>
                  </a:outerShdw>
                </a:effectLst>
                <a:latin typeface="宋体" panose="02010600030101010101" pitchFamily="2" charset="-122"/>
              </a:rPr>
              <a:t>．寄存器</a:t>
            </a:r>
            <a:r>
              <a:rPr lang="en-US" altLang="zh-CN" sz="2600" b="1">
                <a:solidFill>
                  <a:srgbClr val="FF0000"/>
                </a:solidFill>
                <a:effectLst>
                  <a:outerShdw blurRad="38100" dist="38100" dir="2700000" algn="tl">
                    <a:srgbClr val="C0C0C0"/>
                  </a:outerShdw>
                </a:effectLst>
                <a:latin typeface="宋体" panose="02010600030101010101" pitchFamily="2" charset="-122"/>
              </a:rPr>
              <a:t>B</a:t>
            </a:r>
            <a:r>
              <a:rPr lang="en-US" altLang="zh-CN" sz="2600" b="1">
                <a:effectLst>
                  <a:outerShdw blurRad="38100" dist="38100" dir="2700000" algn="tl">
                    <a:srgbClr val="C0C0C0"/>
                  </a:outerShdw>
                </a:effectLst>
                <a:latin typeface="宋体" panose="02010600030101010101" pitchFamily="2" charset="-122"/>
              </a:rPr>
              <a:t>  </a:t>
            </a:r>
            <a:r>
              <a:rPr lang="en-US" altLang="zh-CN" sz="2600" b="1">
                <a:solidFill>
                  <a:srgbClr val="990099"/>
                </a:solidFill>
                <a:effectLst>
                  <a:outerShdw blurRad="38100" dist="38100" dir="2700000" algn="tl">
                    <a:srgbClr val="C0C0C0"/>
                  </a:outerShdw>
                </a:effectLst>
                <a:latin typeface="宋体" panose="02010600030101010101" pitchFamily="2" charset="-122"/>
              </a:rPr>
              <a:t>8</a:t>
            </a:r>
            <a:r>
              <a:rPr lang="zh-CN" altLang="en-US" sz="2600" b="1">
                <a:solidFill>
                  <a:srgbClr val="990099"/>
                </a:solidFill>
                <a:effectLst>
                  <a:outerShdw blurRad="38100" dist="38100" dir="2700000" algn="tl">
                    <a:srgbClr val="C0C0C0"/>
                  </a:outerShdw>
                </a:effectLst>
                <a:latin typeface="宋体" panose="02010600030101010101" pitchFamily="2" charset="-122"/>
              </a:rPr>
              <a:t>位，</a:t>
            </a:r>
            <a:r>
              <a:rPr lang="zh-CN" altLang="en-US" sz="2600" b="1">
                <a:effectLst>
                  <a:outerShdw blurRad="38100" dist="38100" dir="2700000" algn="tl">
                    <a:srgbClr val="C0C0C0"/>
                  </a:outerShdw>
                </a:effectLst>
                <a:latin typeface="宋体" panose="02010600030101010101" pitchFamily="2" charset="-122"/>
              </a:rPr>
              <a:t>与</a:t>
            </a:r>
            <a:r>
              <a:rPr lang="en-US" altLang="zh-CN" sz="2600" b="1">
                <a:effectLst>
                  <a:outerShdw blurRad="38100" dist="38100" dir="2700000" algn="tl">
                    <a:srgbClr val="C0C0C0"/>
                  </a:outerShdw>
                </a:effectLst>
                <a:latin typeface="宋体" panose="02010600030101010101" pitchFamily="2" charset="-122"/>
              </a:rPr>
              <a:t>A</a:t>
            </a:r>
            <a:r>
              <a:rPr lang="zh-CN" altLang="en-US" sz="2600" b="1">
                <a:effectLst>
                  <a:outerShdw blurRad="38100" dist="38100" dir="2700000" algn="tl">
                    <a:srgbClr val="C0C0C0"/>
                  </a:outerShdw>
                </a:effectLst>
                <a:latin typeface="宋体" panose="02010600030101010101" pitchFamily="2" charset="-122"/>
              </a:rPr>
              <a:t>累加器配合执行乘、除运算。 也可用作通用寄存器。</a:t>
            </a:r>
            <a:endParaRPr lang="zh-CN" altLang="en-US" sz="2600" b="1">
              <a:effectLst>
                <a:outerShdw blurRad="38100" dist="38100" dir="2700000" algn="tl">
                  <a:srgbClr val="C0C0C0"/>
                </a:outerShdw>
              </a:effectLst>
              <a:latin typeface="Times New Roman" panose="02020603050405020304" pitchFamily="18" charset="0"/>
            </a:endParaRPr>
          </a:p>
        </p:txBody>
      </p:sp>
      <p:sp>
        <p:nvSpPr>
          <p:cNvPr id="11270" name="Text Box 6"/>
          <p:cNvSpPr txBox="1">
            <a:spLocks noChangeArrowheads="1"/>
          </p:cNvSpPr>
          <p:nvPr/>
        </p:nvSpPr>
        <p:spPr bwMode="auto">
          <a:xfrm>
            <a:off x="467544" y="3417863"/>
            <a:ext cx="8099425" cy="885825"/>
          </a:xfrm>
          <a:prstGeom prst="rect">
            <a:avLst/>
          </a:prstGeom>
          <a:noFill/>
          <a:ln>
            <a:noFill/>
          </a:ln>
          <a:effectLst/>
        </p:spPr>
        <p:txBody>
          <a:bodyPr>
            <a:spAutoFit/>
          </a:bodyPr>
          <a:lstStyle/>
          <a:p>
            <a:pPr eaLnBrk="1" hangingPunct="1">
              <a:defRPr/>
            </a:pPr>
            <a:r>
              <a:rPr lang="en-US" altLang="zh-CN" sz="2600" b="1" dirty="0">
                <a:effectLst>
                  <a:outerShdw blurRad="38100" dist="38100" dir="2700000" algn="tl">
                    <a:srgbClr val="C0C0C0"/>
                  </a:outerShdw>
                </a:effectLst>
                <a:latin typeface="宋体" panose="02010600030101010101" pitchFamily="2" charset="-122"/>
              </a:rPr>
              <a:t>2. </a:t>
            </a:r>
            <a:r>
              <a:rPr lang="zh-CN" altLang="en-US" sz="2600" b="1" dirty="0">
                <a:effectLst>
                  <a:outerShdw blurRad="38100" dist="38100" dir="2700000" algn="tl">
                    <a:srgbClr val="C0C0C0"/>
                  </a:outerShdw>
                </a:effectLst>
                <a:latin typeface="宋体" panose="02010600030101010101" pitchFamily="2" charset="-122"/>
              </a:rPr>
              <a:t>累加器（</a:t>
            </a:r>
            <a:r>
              <a:rPr lang="en-US" altLang="zh-CN" sz="2600" b="1" dirty="0">
                <a:solidFill>
                  <a:srgbClr val="FF0000"/>
                </a:solidFill>
                <a:effectLst>
                  <a:outerShdw blurRad="38100" dist="38100" dir="2700000" algn="tl">
                    <a:srgbClr val="C0C0C0"/>
                  </a:outerShdw>
                </a:effectLst>
                <a:latin typeface="宋体" panose="02010600030101010101" pitchFamily="2" charset="-122"/>
              </a:rPr>
              <a:t>ACC</a:t>
            </a:r>
            <a:r>
              <a:rPr lang="zh-CN" altLang="en-US" sz="2600" b="1" dirty="0">
                <a:effectLst>
                  <a:outerShdw blurRad="38100" dist="38100" dir="2700000" algn="tl">
                    <a:srgbClr val="C0C0C0"/>
                  </a:outerShdw>
                </a:effectLst>
                <a:latin typeface="宋体" panose="02010600030101010101" pitchFamily="2" charset="-122"/>
              </a:rPr>
              <a:t>）</a:t>
            </a:r>
            <a:r>
              <a:rPr lang="en-US" altLang="zh-CN" sz="2600" b="1" dirty="0">
                <a:solidFill>
                  <a:srgbClr val="990099"/>
                </a:solidFill>
                <a:effectLst>
                  <a:outerShdw blurRad="38100" dist="38100" dir="2700000" algn="tl">
                    <a:srgbClr val="C0C0C0"/>
                  </a:outerShdw>
                </a:effectLst>
                <a:latin typeface="宋体" panose="02010600030101010101" pitchFamily="2" charset="-122"/>
              </a:rPr>
              <a:t>8</a:t>
            </a:r>
            <a:r>
              <a:rPr lang="zh-CN" altLang="en-US" sz="2600" b="1" dirty="0">
                <a:solidFill>
                  <a:srgbClr val="990099"/>
                </a:solidFill>
                <a:effectLst>
                  <a:outerShdw blurRad="38100" dist="38100" dir="2700000" algn="tl">
                    <a:srgbClr val="C0C0C0"/>
                  </a:outerShdw>
                </a:effectLst>
                <a:latin typeface="宋体" panose="02010600030101010101" pitchFamily="2" charset="-122"/>
              </a:rPr>
              <a:t>位</a:t>
            </a:r>
            <a:r>
              <a:rPr lang="zh-CN" altLang="en-US" sz="2600" b="1" dirty="0">
                <a:effectLst>
                  <a:outerShdw blurRad="38100" dist="38100" dir="2700000" algn="tl">
                    <a:srgbClr val="C0C0C0"/>
                  </a:outerShdw>
                </a:effectLst>
                <a:latin typeface="宋体" panose="02010600030101010101" pitchFamily="2" charset="-122"/>
              </a:rPr>
              <a:t>，存放操作数和中间结果，工作频繁，大多数操作均通过它进行。  </a:t>
            </a:r>
            <a:endParaRPr lang="zh-CN" altLang="en-US" sz="2600" dirty="0">
              <a:latin typeface="Times New Roman" panose="02020603050405020304" pitchFamily="18" charset="0"/>
            </a:endParaRPr>
          </a:p>
        </p:txBody>
      </p:sp>
      <p:sp>
        <p:nvSpPr>
          <p:cNvPr id="11271" name="Text Box 7"/>
          <p:cNvSpPr txBox="1">
            <a:spLocks noChangeArrowheads="1"/>
          </p:cNvSpPr>
          <p:nvPr/>
        </p:nvSpPr>
        <p:spPr bwMode="auto">
          <a:xfrm>
            <a:off x="467544" y="2089125"/>
            <a:ext cx="7986712" cy="1292225"/>
          </a:xfrm>
          <a:prstGeom prst="rect">
            <a:avLst/>
          </a:prstGeom>
          <a:noFill/>
          <a:ln>
            <a:noFill/>
          </a:ln>
          <a:effectLst/>
        </p:spPr>
        <p:txBody>
          <a:bodyPr>
            <a:spAutoFit/>
          </a:bodyPr>
          <a:lstStyle/>
          <a:p>
            <a:pPr eaLnBrk="1" hangingPunct="1">
              <a:defRPr/>
            </a:pPr>
            <a:r>
              <a:rPr lang="en-US" altLang="zh-CN" sz="2600" b="1" dirty="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sz="2600" b="1" dirty="0">
                <a:effectLst>
                  <a:outerShdw blurRad="38100" dist="38100" dir="2700000" algn="tl">
                    <a:srgbClr val="C0C0C0"/>
                  </a:outerShdw>
                </a:effectLst>
                <a:latin typeface="Arial Black" panose="020B0A04020102020204" pitchFamily="34" charset="0"/>
                <a:ea typeface="黑体" panose="02010609060101010101" pitchFamily="49" charset="-122"/>
              </a:rPr>
              <a:t>．</a:t>
            </a:r>
            <a:r>
              <a:rPr lang="zh-CN" altLang="en-US" sz="2600" b="1" dirty="0">
                <a:effectLst>
                  <a:outerShdw blurRad="38100" dist="38100" dir="2700000" algn="tl">
                    <a:srgbClr val="C0C0C0"/>
                  </a:outerShdw>
                </a:effectLst>
                <a:latin typeface="宋体" panose="02010600030101010101" pitchFamily="2" charset="-122"/>
              </a:rPr>
              <a:t>算术逻辑单元（</a:t>
            </a:r>
            <a:r>
              <a:rPr lang="en-US" altLang="zh-CN" sz="2600" b="1" dirty="0">
                <a:solidFill>
                  <a:srgbClr val="FF0000"/>
                </a:solidFill>
                <a:effectLst>
                  <a:outerShdw blurRad="38100" dist="38100" dir="2700000" algn="tl">
                    <a:srgbClr val="C0C0C0"/>
                  </a:outerShdw>
                </a:effectLst>
                <a:latin typeface="宋体" panose="02010600030101010101" pitchFamily="2" charset="-122"/>
              </a:rPr>
              <a:t>ALU</a:t>
            </a:r>
            <a:r>
              <a:rPr lang="zh-CN" altLang="en-US" sz="2600" b="1" dirty="0">
                <a:effectLst>
                  <a:outerShdw blurRad="38100" dist="38100" dir="2700000" algn="tl">
                    <a:srgbClr val="C0C0C0"/>
                  </a:outerShdw>
                </a:effectLst>
                <a:latin typeface="宋体" panose="02010600030101010101" pitchFamily="2" charset="-122"/>
              </a:rPr>
              <a:t>）</a:t>
            </a:r>
            <a:r>
              <a:rPr lang="en-US" altLang="zh-CN" sz="2600" b="1" dirty="0">
                <a:solidFill>
                  <a:srgbClr val="990099"/>
                </a:solidFill>
                <a:effectLst>
                  <a:outerShdw blurRad="38100" dist="38100" dir="2700000" algn="tl">
                    <a:srgbClr val="C0C0C0"/>
                  </a:outerShdw>
                </a:effectLst>
                <a:latin typeface="宋体" panose="02010600030101010101" pitchFamily="2" charset="-122"/>
              </a:rPr>
              <a:t>8</a:t>
            </a:r>
            <a:r>
              <a:rPr lang="zh-CN" altLang="en-US" sz="2600" b="1" dirty="0">
                <a:solidFill>
                  <a:srgbClr val="990099"/>
                </a:solidFill>
                <a:effectLst>
                  <a:outerShdw blurRad="38100" dist="38100" dir="2700000" algn="tl">
                    <a:srgbClr val="C0C0C0"/>
                  </a:outerShdw>
                </a:effectLst>
                <a:latin typeface="宋体" panose="02010600030101010101" pitchFamily="2" charset="-122"/>
              </a:rPr>
              <a:t>位</a:t>
            </a:r>
            <a:r>
              <a:rPr lang="zh-CN" altLang="en-US" sz="2600" b="1" dirty="0">
                <a:effectLst>
                  <a:outerShdw blurRad="38100" dist="38100" dir="2700000" algn="tl">
                    <a:srgbClr val="C0C0C0"/>
                  </a:outerShdw>
                </a:effectLst>
                <a:latin typeface="宋体" panose="02010600030101010101" pitchFamily="2" charset="-122"/>
              </a:rPr>
              <a:t>，进行二进制四则运算和布尔代数的逻辑运算，使用累加器是</a:t>
            </a:r>
            <a:r>
              <a:rPr lang="en-US" altLang="zh-CN" sz="2600" b="1" dirty="0">
                <a:effectLst>
                  <a:outerShdw blurRad="38100" dist="38100" dir="2700000" algn="tl">
                    <a:srgbClr val="C0C0C0"/>
                  </a:outerShdw>
                </a:effectLst>
                <a:latin typeface="宋体" panose="02010600030101010101" pitchFamily="2" charset="-122"/>
              </a:rPr>
              <a:t>ACC</a:t>
            </a:r>
            <a:r>
              <a:rPr lang="zh-CN" altLang="en-US" sz="2600" b="1" dirty="0">
                <a:effectLst>
                  <a:outerShdw blurRad="38100" dist="38100" dir="2700000" algn="tl">
                    <a:srgbClr val="C0C0C0"/>
                  </a:outerShdw>
                </a:effectLst>
                <a:latin typeface="宋体" panose="02010600030101010101" pitchFamily="2" charset="-122"/>
              </a:rPr>
              <a:t>。运算结果影响</a:t>
            </a:r>
            <a:r>
              <a:rPr lang="en-US" altLang="zh-CN" sz="2600" b="1" dirty="0">
                <a:effectLst>
                  <a:outerShdw blurRad="38100" dist="38100" dir="2700000" algn="tl">
                    <a:srgbClr val="C0C0C0"/>
                  </a:outerShdw>
                </a:effectLst>
                <a:latin typeface="宋体" panose="02010600030101010101" pitchFamily="2" charset="-122"/>
              </a:rPr>
              <a:t>PSW</a:t>
            </a:r>
            <a:r>
              <a:rPr lang="zh-CN" altLang="en-US" sz="2600" b="1" dirty="0">
                <a:effectLst>
                  <a:outerShdw blurRad="38100" dist="38100" dir="2700000" algn="tl">
                    <a:srgbClr val="C0C0C0"/>
                  </a:outerShdw>
                </a:effectLst>
                <a:latin typeface="宋体" panose="02010600030101010101" pitchFamily="2" charset="-122"/>
              </a:rPr>
              <a:t>的有关标志。</a:t>
            </a:r>
            <a:endParaRPr lang="en-US" altLang="zh-CN" sz="2600" b="1" dirty="0">
              <a:effectLst>
                <a:outerShdw blurRad="38100" dist="38100" dir="2700000" algn="tl">
                  <a:srgbClr val="C0C0C0"/>
                </a:outerShdw>
              </a:effectLst>
              <a:latin typeface="宋体" panose="02010600030101010101" pitchFamily="2" charset="-122"/>
            </a:endParaRPr>
          </a:p>
        </p:txBody>
      </p:sp>
      <p:sp>
        <p:nvSpPr>
          <p:cNvPr id="10" name="AutoShape 7"/>
          <p:cNvSpPr>
            <a:spLocks noChangeArrowheads="1"/>
          </p:cNvSpPr>
          <p:nvPr/>
        </p:nvSpPr>
        <p:spPr bwMode="auto">
          <a:xfrm>
            <a:off x="5480869" y="2832075"/>
            <a:ext cx="3311525" cy="1584325"/>
          </a:xfrm>
          <a:prstGeom prst="wedgeRectCallout">
            <a:avLst>
              <a:gd name="adj1" fmla="val -44009"/>
              <a:gd name="adj2" fmla="val 70042"/>
            </a:avLst>
          </a:prstGeom>
          <a:solidFill>
            <a:srgbClr val="CCFFFF"/>
          </a:solidFill>
          <a:ln w="57150" cmpd="thinThick">
            <a:solidFill>
              <a:srgbClr val="800080"/>
            </a:solidFill>
            <a:miter lim="800000"/>
          </a:ln>
          <a:effectLst/>
        </p:spPr>
        <p:txBody>
          <a:bodyPr/>
          <a:lstStyle/>
          <a:p>
            <a:pPr eaLnBrk="1" hangingPunct="1">
              <a:defRPr/>
            </a:pPr>
            <a:r>
              <a:rPr lang="zh-CN" altLang="en-US" sz="2400" b="1">
                <a:solidFill>
                  <a:srgbClr val="7513D7"/>
                </a:solidFill>
                <a:effectLst>
                  <a:outerShdw blurRad="38100" dist="38100" dir="2700000" algn="tl">
                    <a:srgbClr val="000000">
                      <a:alpha val="43137"/>
                    </a:srgbClr>
                  </a:outerShdw>
                </a:effectLst>
                <a:latin typeface="楷体_GB2312" pitchFamily="49" charset="-122"/>
                <a:ea typeface="楷体_GB2312" pitchFamily="49" charset="-122"/>
              </a:rPr>
              <a:t>乘法：</a:t>
            </a:r>
            <a:r>
              <a:rPr lang="en-US" altLang="zh-CN" sz="2400" b="1">
                <a:solidFill>
                  <a:srgbClr val="7513D7"/>
                </a:solidFill>
                <a:effectLst>
                  <a:outerShdw blurRad="38100" dist="38100" dir="2700000" algn="tl">
                    <a:srgbClr val="000000">
                      <a:alpha val="43137"/>
                    </a:srgbClr>
                  </a:outerShdw>
                </a:effectLst>
                <a:latin typeface="楷体_GB2312" pitchFamily="49" charset="-122"/>
                <a:ea typeface="楷体_GB2312" pitchFamily="49" charset="-122"/>
              </a:rPr>
              <a:t>B</a:t>
            </a:r>
            <a:r>
              <a:rPr lang="zh-CN" altLang="en-US" sz="2400" b="1">
                <a:solidFill>
                  <a:srgbClr val="7513D7"/>
                </a:solidFill>
                <a:effectLst>
                  <a:outerShdw blurRad="38100" dist="38100" dir="2700000" algn="tl">
                    <a:srgbClr val="000000">
                      <a:alpha val="43137"/>
                    </a:srgbClr>
                  </a:outerShdw>
                </a:effectLst>
                <a:latin typeface="楷体_GB2312" pitchFamily="49" charset="-122"/>
                <a:ea typeface="楷体_GB2312" pitchFamily="49" charset="-122"/>
              </a:rPr>
              <a:t>存放乘数和乘积的高</a:t>
            </a:r>
            <a:r>
              <a:rPr lang="en-US" altLang="zh-CN" sz="2400" b="1">
                <a:solidFill>
                  <a:srgbClr val="7513D7"/>
                </a:solidFill>
                <a:effectLst>
                  <a:outerShdw blurRad="38100" dist="38100" dir="2700000" algn="tl">
                    <a:srgbClr val="000000">
                      <a:alpha val="43137"/>
                    </a:srgbClr>
                  </a:outerShdw>
                </a:effectLst>
                <a:latin typeface="楷体_GB2312" pitchFamily="49" charset="-122"/>
                <a:ea typeface="楷体_GB2312" pitchFamily="49" charset="-122"/>
              </a:rPr>
              <a:t>8</a:t>
            </a:r>
            <a:r>
              <a:rPr lang="zh-CN" altLang="en-US" sz="2400" b="1">
                <a:solidFill>
                  <a:srgbClr val="7513D7"/>
                </a:solidFill>
                <a:effectLst>
                  <a:outerShdw blurRad="38100" dist="38100" dir="2700000" algn="tl">
                    <a:srgbClr val="000000">
                      <a:alpha val="43137"/>
                    </a:srgbClr>
                  </a:outerShdw>
                </a:effectLst>
                <a:latin typeface="楷体_GB2312" pitchFamily="49" charset="-122"/>
                <a:ea typeface="楷体_GB2312" pitchFamily="49" charset="-122"/>
              </a:rPr>
              <a:t>位数据，低</a:t>
            </a:r>
            <a:r>
              <a:rPr lang="en-US" altLang="zh-CN" sz="2400" b="1">
                <a:solidFill>
                  <a:srgbClr val="7513D7"/>
                </a:solidFill>
                <a:effectLst>
                  <a:outerShdw blurRad="38100" dist="38100" dir="2700000" algn="tl">
                    <a:srgbClr val="000000">
                      <a:alpha val="43137"/>
                    </a:srgbClr>
                  </a:outerShdw>
                </a:effectLst>
                <a:latin typeface="楷体_GB2312" pitchFamily="49" charset="-122"/>
                <a:ea typeface="楷体_GB2312" pitchFamily="49" charset="-122"/>
              </a:rPr>
              <a:t>8</a:t>
            </a:r>
            <a:r>
              <a:rPr lang="zh-CN" altLang="en-US" sz="2400" b="1">
                <a:solidFill>
                  <a:srgbClr val="7513D7"/>
                </a:solidFill>
                <a:effectLst>
                  <a:outerShdw blurRad="38100" dist="38100" dir="2700000" algn="tl">
                    <a:srgbClr val="000000">
                      <a:alpha val="43137"/>
                    </a:srgbClr>
                  </a:outerShdw>
                </a:effectLst>
                <a:latin typeface="楷体_GB2312" pitchFamily="49" charset="-122"/>
                <a:ea typeface="楷体_GB2312" pitchFamily="49" charset="-122"/>
              </a:rPr>
              <a:t>位放</a:t>
            </a:r>
            <a:r>
              <a:rPr lang="en-US" altLang="zh-CN" sz="2400" b="1">
                <a:solidFill>
                  <a:srgbClr val="7513D7"/>
                </a:solidFill>
                <a:effectLst>
                  <a:outerShdw blurRad="38100" dist="38100" dir="2700000" algn="tl">
                    <a:srgbClr val="000000">
                      <a:alpha val="43137"/>
                    </a:srgbClr>
                  </a:outerShdw>
                </a:effectLst>
                <a:latin typeface="楷体_GB2312" pitchFamily="49" charset="-122"/>
                <a:ea typeface="楷体_GB2312" pitchFamily="49" charset="-122"/>
              </a:rPr>
              <a:t>A</a:t>
            </a:r>
            <a:r>
              <a:rPr lang="zh-CN" altLang="en-US" sz="2400" b="1">
                <a:solidFill>
                  <a:srgbClr val="7513D7"/>
                </a:solidFill>
                <a:effectLst>
                  <a:outerShdw blurRad="38100" dist="38100" dir="2700000" algn="tl">
                    <a:srgbClr val="000000">
                      <a:alpha val="43137"/>
                    </a:srgbClr>
                  </a:outerShdw>
                </a:effectLst>
                <a:latin typeface="楷体_GB2312" pitchFamily="49" charset="-122"/>
                <a:ea typeface="楷体_GB2312" pitchFamily="49" charset="-122"/>
              </a:rPr>
              <a:t>中；除法：</a:t>
            </a:r>
            <a:r>
              <a:rPr lang="en-US" altLang="zh-CN" sz="2400" b="1">
                <a:solidFill>
                  <a:srgbClr val="7513D7"/>
                </a:solidFill>
                <a:effectLst>
                  <a:outerShdw blurRad="38100" dist="38100" dir="2700000" algn="tl">
                    <a:srgbClr val="000000">
                      <a:alpha val="43137"/>
                    </a:srgbClr>
                  </a:outerShdw>
                </a:effectLst>
                <a:latin typeface="楷体_GB2312" pitchFamily="49" charset="-122"/>
                <a:ea typeface="楷体_GB2312" pitchFamily="49" charset="-122"/>
              </a:rPr>
              <a:t>B</a:t>
            </a:r>
            <a:r>
              <a:rPr lang="zh-CN" altLang="en-US" sz="2400" b="1">
                <a:solidFill>
                  <a:srgbClr val="7513D7"/>
                </a:solidFill>
                <a:effectLst>
                  <a:outerShdw blurRad="38100" dist="38100" dir="2700000" algn="tl">
                    <a:srgbClr val="000000">
                      <a:alpha val="43137"/>
                    </a:srgbClr>
                  </a:outerShdw>
                </a:effectLst>
                <a:latin typeface="楷体_GB2312" pitchFamily="49" charset="-122"/>
                <a:ea typeface="楷体_GB2312" pitchFamily="49" charset="-122"/>
              </a:rPr>
              <a:t>存放除数和余数，</a:t>
            </a:r>
            <a:r>
              <a:rPr lang="en-US" altLang="zh-CN" sz="2400" b="1">
                <a:solidFill>
                  <a:srgbClr val="7513D7"/>
                </a:solidFill>
                <a:effectLst>
                  <a:outerShdw blurRad="38100" dist="38100" dir="2700000" algn="tl">
                    <a:srgbClr val="000000">
                      <a:alpha val="43137"/>
                    </a:srgbClr>
                  </a:outerShdw>
                </a:effectLst>
                <a:latin typeface="楷体_GB2312" pitchFamily="49" charset="-122"/>
                <a:ea typeface="楷体_GB2312" pitchFamily="49" charset="-122"/>
              </a:rPr>
              <a:t>A</a:t>
            </a:r>
            <a:r>
              <a:rPr lang="zh-CN" altLang="en-US" sz="2400" b="1">
                <a:solidFill>
                  <a:srgbClr val="7513D7"/>
                </a:solidFill>
                <a:effectLst>
                  <a:outerShdw blurRad="38100" dist="38100" dir="2700000" algn="tl">
                    <a:srgbClr val="000000">
                      <a:alpha val="43137"/>
                    </a:srgbClr>
                  </a:outerShdw>
                </a:effectLst>
                <a:latin typeface="楷体_GB2312" pitchFamily="49" charset="-122"/>
                <a:ea typeface="楷体_GB2312" pitchFamily="49" charset="-122"/>
              </a:rPr>
              <a:t>存商。</a:t>
            </a:r>
          </a:p>
        </p:txBody>
      </p:sp>
      <p:sp>
        <p:nvSpPr>
          <p:cNvPr id="9" name="Rectangle 2"/>
          <p:cNvSpPr>
            <a:spLocks noChangeArrowheads="1"/>
          </p:cNvSpPr>
          <p:nvPr/>
        </p:nvSpPr>
        <p:spPr bwMode="auto">
          <a:xfrm>
            <a:off x="5364163" y="331788"/>
            <a:ext cx="3509962" cy="338137"/>
          </a:xfrm>
          <a:prstGeom prst="rect">
            <a:avLst/>
          </a:prstGeom>
          <a:noFill/>
          <a:ln>
            <a:noFill/>
          </a:ln>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defRPr/>
            </a:pPr>
            <a:r>
              <a:rPr kumimoji="1" lang="en-US" altLang="zh-CN"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2.1</a:t>
            </a: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 </a:t>
            </a:r>
            <a:r>
              <a:rPr kumimoji="1" lang="en-US" altLang="zh-CN"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MCS-51</a:t>
            </a: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单片机的结构</a:t>
            </a:r>
            <a:endParaRPr kumimoji="1" lang="zh-CN" altLang="en-US" sz="24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2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7" presetClass="entr" presetSubtype="10" fill="hold" grpId="0" nodeType="clickEffect">
                                  <p:stCondLst>
                                    <p:cond delay="0"/>
                                  </p:stCondLst>
                                  <p:childTnLst>
                                    <p:set>
                                      <p:cBhvr>
                                        <p:cTn id="10" dur="1" fill="hold">
                                          <p:stCondLst>
                                            <p:cond delay="0"/>
                                          </p:stCondLst>
                                        </p:cTn>
                                        <p:tgtEl>
                                          <p:spTgt spid="11270"/>
                                        </p:tgtEl>
                                        <p:attrNameLst>
                                          <p:attrName>style.visibility</p:attrName>
                                        </p:attrNameLst>
                                      </p:cBhvr>
                                      <p:to>
                                        <p:strVal val="visible"/>
                                      </p:to>
                                    </p:set>
                                    <p:anim calcmode="lin" valueType="num">
                                      <p:cBhvr>
                                        <p:cTn id="11" dur="500" fill="hold"/>
                                        <p:tgtEl>
                                          <p:spTgt spid="11270"/>
                                        </p:tgtEl>
                                        <p:attrNameLst>
                                          <p:attrName>ppt_w</p:attrName>
                                        </p:attrNameLst>
                                      </p:cBhvr>
                                      <p:tavLst>
                                        <p:tav tm="0">
                                          <p:val>
                                            <p:fltVal val="0"/>
                                          </p:val>
                                        </p:tav>
                                        <p:tav tm="100000">
                                          <p:val>
                                            <p:strVal val="#ppt_w"/>
                                          </p:val>
                                        </p:tav>
                                      </p:tavLst>
                                    </p:anim>
                                    <p:anim calcmode="lin" valueType="num">
                                      <p:cBhvr>
                                        <p:cTn id="12" dur="500" fill="hold"/>
                                        <p:tgtEl>
                                          <p:spTgt spid="11270"/>
                                        </p:tgtEl>
                                        <p:attrNameLst>
                                          <p:attrName>ppt_h</p:attrName>
                                        </p:attrNameLst>
                                      </p:cBhvr>
                                      <p:tavLst>
                                        <p:tav tm="0">
                                          <p:val>
                                            <p:strVal val="#ppt_h"/>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17" presetClass="entr" presetSubtype="10" fill="hold" grpId="0" nodeType="clickEffect">
                                  <p:stCondLst>
                                    <p:cond delay="0"/>
                                  </p:stCondLst>
                                  <p:childTnLst>
                                    <p:set>
                                      <p:cBhvr>
                                        <p:cTn id="16" dur="1" fill="hold">
                                          <p:stCondLst>
                                            <p:cond delay="0"/>
                                          </p:stCondLst>
                                        </p:cTn>
                                        <p:tgtEl>
                                          <p:spTgt spid="11269"/>
                                        </p:tgtEl>
                                        <p:attrNameLst>
                                          <p:attrName>style.visibility</p:attrName>
                                        </p:attrNameLst>
                                      </p:cBhvr>
                                      <p:to>
                                        <p:strVal val="visible"/>
                                      </p:to>
                                    </p:set>
                                    <p:anim calcmode="lin" valueType="num">
                                      <p:cBhvr>
                                        <p:cTn id="17" dur="500" fill="hold"/>
                                        <p:tgtEl>
                                          <p:spTgt spid="11269"/>
                                        </p:tgtEl>
                                        <p:attrNameLst>
                                          <p:attrName>ppt_w</p:attrName>
                                        </p:attrNameLst>
                                      </p:cBhvr>
                                      <p:tavLst>
                                        <p:tav tm="0">
                                          <p:val>
                                            <p:fltVal val="0"/>
                                          </p:val>
                                        </p:tav>
                                        <p:tav tm="100000">
                                          <p:val>
                                            <p:strVal val="#ppt_w"/>
                                          </p:val>
                                        </p:tav>
                                      </p:tavLst>
                                    </p:anim>
                                    <p:anim calcmode="lin" valueType="num">
                                      <p:cBhvr>
                                        <p:cTn id="18" dur="500" fill="hold"/>
                                        <p:tgtEl>
                                          <p:spTgt spid="11269"/>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circle(in)">
                                      <p:cBhvr>
                                        <p:cTn id="23" dur="10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7" presetClass="entr" presetSubtype="10" fill="hold" grpId="0" nodeType="clickEffect">
                                  <p:stCondLst>
                                    <p:cond delay="0"/>
                                  </p:stCondLst>
                                  <p:childTnLst>
                                    <p:set>
                                      <p:cBhvr>
                                        <p:cTn id="27" dur="1" fill="hold">
                                          <p:stCondLst>
                                            <p:cond delay="0"/>
                                          </p:stCondLst>
                                        </p:cTn>
                                        <p:tgtEl>
                                          <p:spTgt spid="11268"/>
                                        </p:tgtEl>
                                        <p:attrNameLst>
                                          <p:attrName>style.visibility</p:attrName>
                                        </p:attrNameLst>
                                      </p:cBhvr>
                                      <p:to>
                                        <p:strVal val="visible"/>
                                      </p:to>
                                    </p:set>
                                    <p:anim calcmode="lin" valueType="num">
                                      <p:cBhvr>
                                        <p:cTn id="28" dur="500" fill="hold"/>
                                        <p:tgtEl>
                                          <p:spTgt spid="11268"/>
                                        </p:tgtEl>
                                        <p:attrNameLst>
                                          <p:attrName>ppt_w</p:attrName>
                                        </p:attrNameLst>
                                      </p:cBhvr>
                                      <p:tavLst>
                                        <p:tav tm="0">
                                          <p:val>
                                            <p:fltVal val="0"/>
                                          </p:val>
                                        </p:tav>
                                        <p:tav tm="100000">
                                          <p:val>
                                            <p:strVal val="#ppt_w"/>
                                          </p:val>
                                        </p:tav>
                                      </p:tavLst>
                                    </p:anim>
                                    <p:anim calcmode="lin" valueType="num">
                                      <p:cBhvr>
                                        <p:cTn id="29" dur="500" fill="hold"/>
                                        <p:tgtEl>
                                          <p:spTgt spid="1126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autoUpdateAnimBg="0"/>
      <p:bldP spid="11269" grpId="0" autoUpdateAnimBg="0"/>
      <p:bldP spid="11270" grpId="0" autoUpdateAnimBg="0"/>
      <p:bldP spid="11271" grpId="0" autoUpdateAnimBg="0"/>
      <p:bldP spid="10"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381000" y="238125"/>
            <a:ext cx="6062663" cy="579438"/>
          </a:xfrm>
          <a:prstGeom prst="rect">
            <a:avLst/>
          </a:prstGeom>
          <a:solidFill>
            <a:srgbClr val="FFFF66"/>
          </a:solidFill>
          <a:ln>
            <a:noFill/>
          </a:ln>
          <a:effectLst/>
        </p:spPr>
        <p:txBody>
          <a:bodyPr>
            <a:spAutoFit/>
          </a:bodyPr>
          <a:lstStyle/>
          <a:p>
            <a:pPr eaLnBrk="1" hangingPunct="1">
              <a:spcBef>
                <a:spcPct val="50000"/>
              </a:spcBef>
              <a:defRPr/>
            </a:pPr>
            <a:r>
              <a:rPr lang="zh-CN" altLang="en-US" sz="3200" b="1" dirty="0">
                <a:solidFill>
                  <a:srgbClr val="FF0000"/>
                </a:solidFill>
                <a:effectLst>
                  <a:outerShdw blurRad="38100" dist="38100" dir="2700000" algn="tl">
                    <a:srgbClr val="000000"/>
                  </a:outerShdw>
                </a:effectLst>
                <a:latin typeface="Times New Roman" panose="02020603050405020304" pitchFamily="18" charset="0"/>
              </a:rPr>
              <a:t>程序状态字</a:t>
            </a:r>
            <a:r>
              <a:rPr lang="en-US" altLang="zh-CN" sz="3200" b="1" dirty="0">
                <a:solidFill>
                  <a:srgbClr val="FF0000"/>
                </a:solidFill>
                <a:effectLst>
                  <a:outerShdw blurRad="38100" dist="38100" dir="2700000" algn="tl">
                    <a:srgbClr val="000000"/>
                  </a:outerShdw>
                </a:effectLst>
                <a:latin typeface="Times New Roman" panose="02020603050405020304" pitchFamily="18" charset="0"/>
              </a:rPr>
              <a:t>PSW</a:t>
            </a:r>
            <a:r>
              <a:rPr lang="zh-CN" altLang="en-US" sz="3200" b="1" dirty="0">
                <a:solidFill>
                  <a:srgbClr val="FF0000"/>
                </a:solidFill>
                <a:effectLst>
                  <a:outerShdw blurRad="38100" dist="38100" dir="2700000" algn="tl">
                    <a:srgbClr val="000000"/>
                  </a:outerShdw>
                </a:effectLst>
                <a:latin typeface="Times New Roman" panose="02020603050405020304" pitchFamily="18" charset="0"/>
              </a:rPr>
              <a:t>各位标志的含义</a:t>
            </a:r>
          </a:p>
        </p:txBody>
      </p:sp>
      <p:sp>
        <p:nvSpPr>
          <p:cNvPr id="14339" name="Text Box 3"/>
          <p:cNvSpPr txBox="1">
            <a:spLocks noChangeArrowheads="1"/>
          </p:cNvSpPr>
          <p:nvPr/>
        </p:nvSpPr>
        <p:spPr bwMode="auto">
          <a:xfrm>
            <a:off x="381000" y="685800"/>
            <a:ext cx="861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endParaRPr lang="zh-CN" altLang="zh-CN" sz="2400">
              <a:latin typeface="Times New Roman" panose="02020603050405020304" pitchFamily="18" charset="0"/>
            </a:endParaRPr>
          </a:p>
        </p:txBody>
      </p:sp>
      <p:grpSp>
        <p:nvGrpSpPr>
          <p:cNvPr id="14340" name="Group 4"/>
          <p:cNvGrpSpPr/>
          <p:nvPr/>
        </p:nvGrpSpPr>
        <p:grpSpPr bwMode="auto">
          <a:xfrm>
            <a:off x="533400" y="1436688"/>
            <a:ext cx="8001000" cy="552450"/>
            <a:chOff x="0" y="0"/>
            <a:chExt cx="5040" cy="391"/>
          </a:xfrm>
        </p:grpSpPr>
        <p:grpSp>
          <p:nvGrpSpPr>
            <p:cNvPr id="14344" name="Group 5"/>
            <p:cNvGrpSpPr/>
            <p:nvPr/>
          </p:nvGrpSpPr>
          <p:grpSpPr bwMode="auto">
            <a:xfrm>
              <a:off x="0" y="0"/>
              <a:ext cx="5040" cy="391"/>
              <a:chOff x="0" y="0"/>
              <a:chExt cx="5040" cy="391"/>
            </a:xfrm>
          </p:grpSpPr>
          <p:sp>
            <p:nvSpPr>
              <p:cNvPr id="12294" name="Rectangle 6"/>
              <p:cNvSpPr>
                <a:spLocks noChangeArrowheads="1"/>
              </p:cNvSpPr>
              <p:nvPr/>
            </p:nvSpPr>
            <p:spPr bwMode="auto">
              <a:xfrm>
                <a:off x="4410" y="0"/>
                <a:ext cx="630" cy="391"/>
              </a:xfrm>
              <a:prstGeom prst="rect">
                <a:avLst/>
              </a:prstGeom>
              <a:noFill/>
              <a:ln>
                <a:noFill/>
              </a:ln>
              <a:effectLst/>
            </p:spPr>
            <p:txBody>
              <a:bodyPr/>
              <a:lstStyle/>
              <a:p>
                <a:pPr algn="ctr" eaLnBrk="1" hangingPunct="1">
                  <a:spcBef>
                    <a:spcPct val="20000"/>
                  </a:spcBef>
                  <a:defRPr/>
                </a:pPr>
                <a:r>
                  <a:rPr lang="en-US" altLang="zh-CN" sz="2800" b="1">
                    <a:effectLst>
                      <a:outerShdw blurRad="38100" dist="38100" dir="2700000" algn="tl">
                        <a:srgbClr val="C0C0C0"/>
                      </a:outerShdw>
                    </a:effectLst>
                    <a:latin typeface="Arial Black" panose="020B0A04020102020204" pitchFamily="34" charset="0"/>
                    <a:ea typeface="黑体" panose="02010609060101010101" pitchFamily="49" charset="-122"/>
                  </a:rPr>
                  <a:t>P</a:t>
                </a:r>
              </a:p>
            </p:txBody>
          </p:sp>
          <p:sp>
            <p:nvSpPr>
              <p:cNvPr id="2" name="Rectangle 7"/>
              <p:cNvSpPr>
                <a:spLocks noChangeArrowheads="1"/>
              </p:cNvSpPr>
              <p:nvPr/>
            </p:nvSpPr>
            <p:spPr bwMode="auto">
              <a:xfrm>
                <a:off x="3780" y="0"/>
                <a:ext cx="630" cy="391"/>
              </a:xfrm>
              <a:prstGeom prst="rect">
                <a:avLst/>
              </a:prstGeom>
              <a:noFill/>
              <a:ln>
                <a:noFill/>
              </a:ln>
              <a:effectLst/>
            </p:spPr>
            <p:txBody>
              <a:bodyPr/>
              <a:lstStyle/>
              <a:p>
                <a:pPr algn="ctr" eaLnBrk="1" hangingPunct="1">
                  <a:spcBef>
                    <a:spcPct val="20000"/>
                  </a:spcBef>
                  <a:defRPr/>
                </a:pPr>
                <a:endParaRPr lang="zh-CN" altLang="zh-CN" sz="2800" b="1">
                  <a:effectLst>
                    <a:outerShdw blurRad="38100" dist="38100" dir="2700000" algn="tl">
                      <a:srgbClr val="C0C0C0"/>
                    </a:outerShdw>
                  </a:effectLst>
                  <a:latin typeface="Arial Black" panose="020B0A04020102020204" pitchFamily="34" charset="0"/>
                  <a:ea typeface="黑体" panose="02010609060101010101" pitchFamily="49" charset="-122"/>
                </a:endParaRPr>
              </a:p>
            </p:txBody>
          </p:sp>
          <p:sp>
            <p:nvSpPr>
              <p:cNvPr id="3" name="Rectangle 8"/>
              <p:cNvSpPr>
                <a:spLocks noChangeArrowheads="1"/>
              </p:cNvSpPr>
              <p:nvPr/>
            </p:nvSpPr>
            <p:spPr bwMode="auto">
              <a:xfrm>
                <a:off x="3150" y="0"/>
                <a:ext cx="630" cy="391"/>
              </a:xfrm>
              <a:prstGeom prst="rect">
                <a:avLst/>
              </a:prstGeom>
              <a:noFill/>
              <a:ln>
                <a:noFill/>
              </a:ln>
              <a:effectLst/>
            </p:spPr>
            <p:txBody>
              <a:bodyPr/>
              <a:lstStyle/>
              <a:p>
                <a:pPr algn="ctr" eaLnBrk="1" hangingPunct="1">
                  <a:spcBef>
                    <a:spcPct val="20000"/>
                  </a:spcBef>
                  <a:defRPr/>
                </a:pPr>
                <a:r>
                  <a:rPr lang="en-US" altLang="zh-CN" sz="2800" b="1">
                    <a:effectLst>
                      <a:outerShdw blurRad="38100" dist="38100" dir="2700000" algn="tl">
                        <a:srgbClr val="C0C0C0"/>
                      </a:outerShdw>
                    </a:effectLst>
                    <a:latin typeface="Arial Black" panose="020B0A04020102020204" pitchFamily="34" charset="0"/>
                    <a:ea typeface="黑体" panose="02010609060101010101" pitchFamily="49" charset="-122"/>
                  </a:rPr>
                  <a:t>OV</a:t>
                </a:r>
              </a:p>
            </p:txBody>
          </p:sp>
          <p:sp>
            <p:nvSpPr>
              <p:cNvPr id="12297" name="Rectangle 9"/>
              <p:cNvSpPr>
                <a:spLocks noChangeArrowheads="1"/>
              </p:cNvSpPr>
              <p:nvPr/>
            </p:nvSpPr>
            <p:spPr bwMode="auto">
              <a:xfrm>
                <a:off x="2520" y="0"/>
                <a:ext cx="630" cy="391"/>
              </a:xfrm>
              <a:prstGeom prst="rect">
                <a:avLst/>
              </a:prstGeom>
              <a:noFill/>
              <a:ln>
                <a:noFill/>
              </a:ln>
              <a:effectLst/>
            </p:spPr>
            <p:txBody>
              <a:bodyPr/>
              <a:lstStyle/>
              <a:p>
                <a:pPr algn="ctr" eaLnBrk="1" hangingPunct="1">
                  <a:spcBef>
                    <a:spcPct val="20000"/>
                  </a:spcBef>
                  <a:defRPr/>
                </a:pPr>
                <a:r>
                  <a:rPr lang="en-US" altLang="zh-CN" sz="2800" b="1">
                    <a:effectLst>
                      <a:outerShdw blurRad="38100" dist="38100" dir="2700000" algn="tl">
                        <a:srgbClr val="C0C0C0"/>
                      </a:outerShdw>
                    </a:effectLst>
                    <a:latin typeface="Arial Black" panose="020B0A04020102020204" pitchFamily="34" charset="0"/>
                    <a:ea typeface="黑体" panose="02010609060101010101" pitchFamily="49" charset="-122"/>
                  </a:rPr>
                  <a:t>RS0</a:t>
                </a:r>
              </a:p>
            </p:txBody>
          </p:sp>
          <p:sp>
            <p:nvSpPr>
              <p:cNvPr id="12298" name="Rectangle 10"/>
              <p:cNvSpPr>
                <a:spLocks noChangeArrowheads="1"/>
              </p:cNvSpPr>
              <p:nvPr/>
            </p:nvSpPr>
            <p:spPr bwMode="auto">
              <a:xfrm>
                <a:off x="1890" y="0"/>
                <a:ext cx="630" cy="391"/>
              </a:xfrm>
              <a:prstGeom prst="rect">
                <a:avLst/>
              </a:prstGeom>
              <a:noFill/>
              <a:ln>
                <a:noFill/>
              </a:ln>
              <a:effectLst/>
            </p:spPr>
            <p:txBody>
              <a:bodyPr/>
              <a:lstStyle/>
              <a:p>
                <a:pPr algn="ctr" eaLnBrk="1" hangingPunct="1">
                  <a:spcBef>
                    <a:spcPct val="20000"/>
                  </a:spcBef>
                  <a:defRPr/>
                </a:pPr>
                <a:r>
                  <a:rPr lang="en-US" altLang="zh-CN" sz="2800" b="1">
                    <a:effectLst>
                      <a:outerShdw blurRad="38100" dist="38100" dir="2700000" algn="tl">
                        <a:srgbClr val="C0C0C0"/>
                      </a:outerShdw>
                    </a:effectLst>
                    <a:latin typeface="Arial Black" panose="020B0A04020102020204" pitchFamily="34" charset="0"/>
                    <a:ea typeface="黑体" panose="02010609060101010101" pitchFamily="49" charset="-122"/>
                  </a:rPr>
                  <a:t>RS1</a:t>
                </a:r>
              </a:p>
            </p:txBody>
          </p:sp>
          <p:sp>
            <p:nvSpPr>
              <p:cNvPr id="12299" name="Rectangle 11"/>
              <p:cNvSpPr>
                <a:spLocks noChangeArrowheads="1"/>
              </p:cNvSpPr>
              <p:nvPr/>
            </p:nvSpPr>
            <p:spPr bwMode="auto">
              <a:xfrm>
                <a:off x="1260" y="0"/>
                <a:ext cx="630" cy="391"/>
              </a:xfrm>
              <a:prstGeom prst="rect">
                <a:avLst/>
              </a:prstGeom>
              <a:noFill/>
              <a:ln>
                <a:noFill/>
              </a:ln>
              <a:effectLst/>
            </p:spPr>
            <p:txBody>
              <a:bodyPr/>
              <a:lstStyle/>
              <a:p>
                <a:pPr algn="ctr" eaLnBrk="1" hangingPunct="1">
                  <a:spcBef>
                    <a:spcPct val="20000"/>
                  </a:spcBef>
                  <a:defRPr/>
                </a:pPr>
                <a:r>
                  <a:rPr lang="en-US" altLang="zh-CN" sz="2800" b="1">
                    <a:effectLst>
                      <a:outerShdw blurRad="38100" dist="38100" dir="2700000" algn="tl">
                        <a:srgbClr val="C0C0C0"/>
                      </a:outerShdw>
                    </a:effectLst>
                    <a:latin typeface="Arial Black" panose="020B0A04020102020204" pitchFamily="34" charset="0"/>
                    <a:ea typeface="黑体" panose="02010609060101010101" pitchFamily="49" charset="-122"/>
                  </a:rPr>
                  <a:t>F0</a:t>
                </a:r>
              </a:p>
            </p:txBody>
          </p:sp>
          <p:sp>
            <p:nvSpPr>
              <p:cNvPr id="12300" name="Rectangle 12"/>
              <p:cNvSpPr>
                <a:spLocks noChangeArrowheads="1"/>
              </p:cNvSpPr>
              <p:nvPr/>
            </p:nvSpPr>
            <p:spPr bwMode="auto">
              <a:xfrm>
                <a:off x="630" y="0"/>
                <a:ext cx="630" cy="391"/>
              </a:xfrm>
              <a:prstGeom prst="rect">
                <a:avLst/>
              </a:prstGeom>
              <a:noFill/>
              <a:ln>
                <a:noFill/>
              </a:ln>
              <a:effectLst/>
            </p:spPr>
            <p:txBody>
              <a:bodyPr/>
              <a:lstStyle/>
              <a:p>
                <a:pPr algn="ctr" eaLnBrk="1" hangingPunct="1">
                  <a:spcBef>
                    <a:spcPct val="20000"/>
                  </a:spcBef>
                  <a:defRPr/>
                </a:pPr>
                <a:r>
                  <a:rPr lang="en-US" altLang="zh-CN" sz="2800" b="1">
                    <a:effectLst>
                      <a:outerShdw blurRad="38100" dist="38100" dir="2700000" algn="tl">
                        <a:srgbClr val="C0C0C0"/>
                      </a:outerShdw>
                    </a:effectLst>
                    <a:latin typeface="Arial Black" panose="020B0A04020102020204" pitchFamily="34" charset="0"/>
                    <a:ea typeface="黑体" panose="02010609060101010101" pitchFamily="49" charset="-122"/>
                  </a:rPr>
                  <a:t>AC</a:t>
                </a:r>
              </a:p>
            </p:txBody>
          </p:sp>
          <p:sp>
            <p:nvSpPr>
              <p:cNvPr id="12301" name="Rectangle 13"/>
              <p:cNvSpPr>
                <a:spLocks noChangeArrowheads="1"/>
              </p:cNvSpPr>
              <p:nvPr/>
            </p:nvSpPr>
            <p:spPr bwMode="auto">
              <a:xfrm>
                <a:off x="0" y="0"/>
                <a:ext cx="630" cy="391"/>
              </a:xfrm>
              <a:prstGeom prst="rect">
                <a:avLst/>
              </a:prstGeom>
              <a:noFill/>
              <a:ln>
                <a:noFill/>
              </a:ln>
              <a:effectLst/>
            </p:spPr>
            <p:txBody>
              <a:bodyPr/>
              <a:lstStyle/>
              <a:p>
                <a:pPr algn="ctr" eaLnBrk="1" hangingPunct="1">
                  <a:spcBef>
                    <a:spcPct val="20000"/>
                  </a:spcBef>
                  <a:defRPr/>
                </a:pPr>
                <a:r>
                  <a:rPr lang="en-US" altLang="zh-CN" sz="2800" b="1" dirty="0">
                    <a:effectLst>
                      <a:outerShdw blurRad="38100" dist="38100" dir="2700000" algn="tl">
                        <a:srgbClr val="C0C0C0"/>
                      </a:outerShdw>
                    </a:effectLst>
                    <a:latin typeface="Arial Black" panose="020B0A04020102020204" pitchFamily="34" charset="0"/>
                    <a:ea typeface="黑体" panose="02010609060101010101" pitchFamily="49" charset="-122"/>
                  </a:rPr>
                  <a:t>CY</a:t>
                </a:r>
              </a:p>
            </p:txBody>
          </p:sp>
          <p:sp>
            <p:nvSpPr>
              <p:cNvPr id="14354" name="Line 14"/>
              <p:cNvSpPr>
                <a:spLocks noChangeShapeType="1"/>
              </p:cNvSpPr>
              <p:nvPr/>
            </p:nvSpPr>
            <p:spPr bwMode="auto">
              <a:xfrm>
                <a:off x="0" y="0"/>
                <a:ext cx="504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5" name="Line 15"/>
              <p:cNvSpPr>
                <a:spLocks noChangeShapeType="1"/>
              </p:cNvSpPr>
              <p:nvPr/>
            </p:nvSpPr>
            <p:spPr bwMode="auto">
              <a:xfrm>
                <a:off x="0" y="391"/>
                <a:ext cx="504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6" name="Line 16"/>
              <p:cNvSpPr>
                <a:spLocks noChangeShapeType="1"/>
              </p:cNvSpPr>
              <p:nvPr/>
            </p:nvSpPr>
            <p:spPr bwMode="auto">
              <a:xfrm>
                <a:off x="0" y="0"/>
                <a:ext cx="0" cy="391"/>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7" name="Line 17"/>
              <p:cNvSpPr>
                <a:spLocks noChangeShapeType="1"/>
              </p:cNvSpPr>
              <p:nvPr/>
            </p:nvSpPr>
            <p:spPr bwMode="auto">
              <a:xfrm>
                <a:off x="630" y="0"/>
                <a:ext cx="0" cy="39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8" name="Line 18"/>
              <p:cNvSpPr>
                <a:spLocks noChangeShapeType="1"/>
              </p:cNvSpPr>
              <p:nvPr/>
            </p:nvSpPr>
            <p:spPr bwMode="auto">
              <a:xfrm>
                <a:off x="1260" y="0"/>
                <a:ext cx="0" cy="39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59" name="Line 19"/>
              <p:cNvSpPr>
                <a:spLocks noChangeShapeType="1"/>
              </p:cNvSpPr>
              <p:nvPr/>
            </p:nvSpPr>
            <p:spPr bwMode="auto">
              <a:xfrm>
                <a:off x="1890" y="0"/>
                <a:ext cx="0" cy="39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0" name="Line 20"/>
              <p:cNvSpPr>
                <a:spLocks noChangeShapeType="1"/>
              </p:cNvSpPr>
              <p:nvPr/>
            </p:nvSpPr>
            <p:spPr bwMode="auto">
              <a:xfrm>
                <a:off x="2520" y="0"/>
                <a:ext cx="0" cy="39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1" name="Line 21"/>
              <p:cNvSpPr>
                <a:spLocks noChangeShapeType="1"/>
              </p:cNvSpPr>
              <p:nvPr/>
            </p:nvSpPr>
            <p:spPr bwMode="auto">
              <a:xfrm>
                <a:off x="3150" y="0"/>
                <a:ext cx="0" cy="39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2" name="Line 22"/>
              <p:cNvSpPr>
                <a:spLocks noChangeShapeType="1"/>
              </p:cNvSpPr>
              <p:nvPr/>
            </p:nvSpPr>
            <p:spPr bwMode="auto">
              <a:xfrm>
                <a:off x="3780" y="0"/>
                <a:ext cx="0" cy="39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3" name="Line 23"/>
              <p:cNvSpPr>
                <a:spLocks noChangeShapeType="1"/>
              </p:cNvSpPr>
              <p:nvPr/>
            </p:nvSpPr>
            <p:spPr bwMode="auto">
              <a:xfrm>
                <a:off x="4410" y="0"/>
                <a:ext cx="0" cy="391"/>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64" name="Line 24"/>
              <p:cNvSpPr>
                <a:spLocks noChangeShapeType="1"/>
              </p:cNvSpPr>
              <p:nvPr/>
            </p:nvSpPr>
            <p:spPr bwMode="auto">
              <a:xfrm>
                <a:off x="5040" y="0"/>
                <a:ext cx="0" cy="391"/>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345" name="Line 25"/>
            <p:cNvSpPr>
              <a:spLocks noChangeShapeType="1"/>
            </p:cNvSpPr>
            <p:nvPr/>
          </p:nvSpPr>
          <p:spPr bwMode="auto">
            <a:xfrm>
              <a:off x="3984" y="211"/>
              <a:ext cx="298"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314" name="Text Box 26"/>
          <p:cNvSpPr txBox="1">
            <a:spLocks noChangeArrowheads="1"/>
          </p:cNvSpPr>
          <p:nvPr/>
        </p:nvSpPr>
        <p:spPr bwMode="auto">
          <a:xfrm>
            <a:off x="457200" y="1071563"/>
            <a:ext cx="8686800" cy="412750"/>
          </a:xfrm>
          <a:prstGeom prst="rect">
            <a:avLst/>
          </a:prstGeom>
          <a:noFill/>
          <a:ln>
            <a:noFill/>
          </a:ln>
          <a:effectLst/>
        </p:spPr>
        <p:txBody>
          <a:bodyPr>
            <a:spAutoFit/>
          </a:bodyPr>
          <a:lstStyle/>
          <a:p>
            <a:pPr eaLnBrk="1" hangingPunct="1">
              <a:spcBef>
                <a:spcPct val="50000"/>
              </a:spcBef>
              <a:defRPr/>
            </a:pPr>
            <a:r>
              <a:rPr lang="en-US" altLang="zh-CN" sz="2100" dirty="0">
                <a:latin typeface="Times New Roman" panose="02020603050405020304" pitchFamily="18" charset="0"/>
              </a:rPr>
              <a:t> </a:t>
            </a:r>
            <a:r>
              <a:rPr lang="en-US" altLang="zh-CN" sz="2100" b="1" dirty="0">
                <a:effectLst>
                  <a:outerShdw blurRad="38100" dist="38100" dir="2700000" algn="tl">
                    <a:srgbClr val="C0C0C0"/>
                  </a:outerShdw>
                </a:effectLst>
                <a:latin typeface="Times New Roman" panose="02020603050405020304" pitchFamily="18" charset="0"/>
              </a:rPr>
              <a:t>PSW.7    PSW.6   PSW.5    PSW.4   PSW.3   PSW.2    PSW.1   PSW.0 </a:t>
            </a:r>
          </a:p>
        </p:txBody>
      </p:sp>
      <p:sp>
        <p:nvSpPr>
          <p:cNvPr id="12315" name="Text Box 27"/>
          <p:cNvSpPr txBox="1">
            <a:spLocks noChangeArrowheads="1"/>
          </p:cNvSpPr>
          <p:nvPr/>
        </p:nvSpPr>
        <p:spPr bwMode="auto">
          <a:xfrm>
            <a:off x="384175" y="2205038"/>
            <a:ext cx="8391525" cy="3719512"/>
          </a:xfrm>
          <a:prstGeom prst="rect">
            <a:avLst/>
          </a:prstGeom>
          <a:noFill/>
          <a:ln>
            <a:noFill/>
          </a:ln>
          <a:effectLst/>
        </p:spPr>
        <p:txBody>
          <a:bodyPr>
            <a:spAutoFit/>
          </a:bodyPr>
          <a:lstStyle>
            <a:lvl1pPr marL="457200" indent="-457200">
              <a:defRPr>
                <a:solidFill>
                  <a:schemeClr val="tx1"/>
                </a:solidFill>
                <a:latin typeface="Arial" panose="020B0604020202020204" pitchFamily="34" charset="0"/>
                <a:ea typeface="宋体" panose="02010600030101010101" pitchFamily="2" charset="-122"/>
              </a:defRPr>
            </a:lvl1pPr>
            <a:lvl2pPr marL="914400" indent="-457200">
              <a:defRPr>
                <a:solidFill>
                  <a:schemeClr val="tx1"/>
                </a:solidFill>
                <a:latin typeface="Arial" panose="020B0604020202020204" pitchFamily="34" charset="0"/>
                <a:ea typeface="宋体" panose="02010600030101010101" pitchFamily="2" charset="-122"/>
              </a:defRPr>
            </a:lvl2pPr>
            <a:lvl3pPr marL="1371600" indent="-457200">
              <a:defRPr>
                <a:solidFill>
                  <a:schemeClr val="tx1"/>
                </a:solidFill>
                <a:latin typeface="Arial" panose="020B0604020202020204" pitchFamily="34" charset="0"/>
                <a:ea typeface="宋体" panose="02010600030101010101" pitchFamily="2" charset="-122"/>
              </a:defRPr>
            </a:lvl3pPr>
            <a:lvl4pPr marL="1828800" indent="-457200">
              <a:defRPr>
                <a:solidFill>
                  <a:schemeClr val="tx1"/>
                </a:solidFill>
                <a:latin typeface="Arial" panose="020B0604020202020204" pitchFamily="34" charset="0"/>
                <a:ea typeface="宋体" panose="02010600030101010101" pitchFamily="2" charset="-122"/>
              </a:defRPr>
            </a:lvl4pPr>
            <a:lvl5pPr marL="2286000" indent="-457200">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5000"/>
              </a:spcBef>
              <a:defRPr/>
            </a:pPr>
            <a:r>
              <a:rPr lang="en-US" altLang="zh-CN" sz="2800" b="1" dirty="0">
                <a:effectLst>
                  <a:outerShdw blurRad="38100" dist="38100" dir="2700000" algn="tl">
                    <a:srgbClr val="C0C0C0"/>
                  </a:outerShdw>
                </a:effectLst>
                <a:latin typeface="宋体" panose="02010600030101010101" pitchFamily="2" charset="-122"/>
              </a:rPr>
              <a:t>CY (PSW.7)  </a:t>
            </a:r>
            <a:r>
              <a:rPr lang="zh-CN" altLang="en-US" sz="2800" b="1" dirty="0">
                <a:effectLst>
                  <a:outerShdw blurRad="38100" dist="38100" dir="2700000" algn="tl">
                    <a:srgbClr val="C0C0C0"/>
                  </a:outerShdw>
                </a:effectLst>
                <a:latin typeface="宋体" panose="02010600030101010101" pitchFamily="2" charset="-122"/>
              </a:rPr>
              <a:t>进位标志位 </a:t>
            </a:r>
          </a:p>
          <a:p>
            <a:pPr eaLnBrk="1" hangingPunct="1">
              <a:spcBef>
                <a:spcPct val="25000"/>
              </a:spcBef>
              <a:defRPr/>
            </a:pPr>
            <a:r>
              <a:rPr lang="en-US" altLang="zh-CN" sz="2800" b="1" dirty="0">
                <a:effectLst>
                  <a:outerShdw blurRad="38100" dist="38100" dir="2700000" algn="tl">
                    <a:srgbClr val="C0C0C0"/>
                  </a:outerShdw>
                </a:effectLst>
                <a:latin typeface="宋体" panose="02010600030101010101" pitchFamily="2" charset="-122"/>
              </a:rPr>
              <a:t>AC</a:t>
            </a:r>
            <a:r>
              <a:rPr lang="zh-CN" altLang="en-US" sz="2800" b="1" dirty="0">
                <a:effectLst>
                  <a:outerShdw blurRad="38100" dist="38100" dir="2700000" algn="tl">
                    <a:srgbClr val="C0C0C0"/>
                  </a:outerShdw>
                </a:effectLst>
                <a:latin typeface="宋体" panose="02010600030101010101" pitchFamily="2" charset="-122"/>
              </a:rPr>
              <a:t>（</a:t>
            </a:r>
            <a:r>
              <a:rPr lang="en-US" altLang="zh-CN" sz="2800" b="1" dirty="0">
                <a:effectLst>
                  <a:outerShdw blurRad="38100" dist="38100" dir="2700000" algn="tl">
                    <a:srgbClr val="C0C0C0"/>
                  </a:outerShdw>
                </a:effectLst>
                <a:latin typeface="宋体" panose="02010600030101010101" pitchFamily="2" charset="-122"/>
              </a:rPr>
              <a:t>PSW.6</a:t>
            </a:r>
            <a:r>
              <a:rPr lang="zh-CN" altLang="en-US" sz="2800" b="1" dirty="0">
                <a:effectLst>
                  <a:outerShdw blurRad="38100" dist="38100" dir="2700000" algn="tl">
                    <a:srgbClr val="C0C0C0"/>
                  </a:outerShdw>
                </a:effectLst>
                <a:latin typeface="宋体" panose="02010600030101010101" pitchFamily="2" charset="-122"/>
              </a:rPr>
              <a:t>） 辅助进位（或称半进位）标志</a:t>
            </a:r>
          </a:p>
          <a:p>
            <a:pPr eaLnBrk="1" hangingPunct="1">
              <a:spcBef>
                <a:spcPct val="25000"/>
              </a:spcBef>
              <a:defRPr/>
            </a:pPr>
            <a:r>
              <a:rPr lang="en-US" altLang="zh-CN" sz="2800" b="1" dirty="0">
                <a:effectLst>
                  <a:outerShdw blurRad="38100" dist="38100" dir="2700000" algn="tl">
                    <a:srgbClr val="C0C0C0"/>
                  </a:outerShdw>
                </a:effectLst>
                <a:latin typeface="宋体" panose="02010600030101010101" pitchFamily="2" charset="-122"/>
              </a:rPr>
              <a:t>F0</a:t>
            </a:r>
            <a:r>
              <a:rPr lang="zh-CN" altLang="en-US" sz="2800" b="1" dirty="0">
                <a:effectLst>
                  <a:outerShdw blurRad="38100" dist="38100" dir="2700000" algn="tl">
                    <a:srgbClr val="C0C0C0"/>
                  </a:outerShdw>
                </a:effectLst>
                <a:latin typeface="宋体" panose="02010600030101010101" pitchFamily="2" charset="-122"/>
              </a:rPr>
              <a:t>（</a:t>
            </a:r>
            <a:r>
              <a:rPr lang="en-US" altLang="zh-CN" sz="2800" b="1" dirty="0">
                <a:effectLst>
                  <a:outerShdw blurRad="38100" dist="38100" dir="2700000" algn="tl">
                    <a:srgbClr val="C0C0C0"/>
                  </a:outerShdw>
                </a:effectLst>
                <a:latin typeface="宋体" panose="02010600030101010101" pitchFamily="2" charset="-122"/>
              </a:rPr>
              <a:t>PSW.5</a:t>
            </a:r>
            <a:r>
              <a:rPr lang="zh-CN" altLang="en-US" sz="2800" b="1" dirty="0">
                <a:effectLst>
                  <a:outerShdw blurRad="38100" dist="38100" dir="2700000" algn="tl">
                    <a:srgbClr val="C0C0C0"/>
                  </a:outerShdw>
                </a:effectLst>
                <a:latin typeface="宋体" panose="02010600030101010101" pitchFamily="2" charset="-122"/>
              </a:rPr>
              <a:t>） 用户标志位，一般不用</a:t>
            </a:r>
          </a:p>
          <a:p>
            <a:pPr eaLnBrk="1" hangingPunct="1">
              <a:spcBef>
                <a:spcPct val="25000"/>
              </a:spcBef>
              <a:defRPr/>
            </a:pPr>
            <a:r>
              <a:rPr lang="en-US" altLang="zh-CN" sz="2800" b="1" dirty="0">
                <a:solidFill>
                  <a:srgbClr val="FF33CC"/>
                </a:solidFill>
                <a:effectLst>
                  <a:outerShdw blurRad="38100" dist="38100" dir="2700000" algn="tl">
                    <a:srgbClr val="C0C0C0"/>
                  </a:outerShdw>
                </a:effectLst>
                <a:latin typeface="宋体" panose="02010600030101010101" pitchFamily="2" charset="-122"/>
              </a:rPr>
              <a:t>RS1</a:t>
            </a:r>
            <a:r>
              <a:rPr lang="zh-CN" altLang="en-US" sz="2800" b="1" dirty="0">
                <a:solidFill>
                  <a:srgbClr val="FF33CC"/>
                </a:solidFill>
                <a:effectLst>
                  <a:outerShdw blurRad="38100" dist="38100" dir="2700000" algn="tl">
                    <a:srgbClr val="C0C0C0"/>
                  </a:outerShdw>
                </a:effectLst>
                <a:latin typeface="宋体" panose="02010600030101010101" pitchFamily="2" charset="-122"/>
              </a:rPr>
              <a:t>和</a:t>
            </a:r>
            <a:r>
              <a:rPr lang="en-US" altLang="zh-CN" sz="2800" b="1" dirty="0">
                <a:solidFill>
                  <a:srgbClr val="FF33CC"/>
                </a:solidFill>
                <a:effectLst>
                  <a:outerShdw blurRad="38100" dist="38100" dir="2700000" algn="tl">
                    <a:srgbClr val="C0C0C0"/>
                  </a:outerShdw>
                </a:effectLst>
                <a:latin typeface="宋体" panose="02010600030101010101" pitchFamily="2" charset="-122"/>
              </a:rPr>
              <a:t>RS0</a:t>
            </a:r>
            <a:r>
              <a:rPr lang="zh-CN" altLang="en-US" sz="2800" b="1" dirty="0">
                <a:effectLst>
                  <a:outerShdw blurRad="38100" dist="38100" dir="2700000" algn="tl">
                    <a:srgbClr val="C0C0C0"/>
                  </a:outerShdw>
                </a:effectLst>
                <a:latin typeface="宋体" panose="02010600030101010101" pitchFamily="2" charset="-122"/>
              </a:rPr>
              <a:t>（</a:t>
            </a:r>
            <a:r>
              <a:rPr lang="en-US" altLang="zh-CN" sz="2800" b="1" dirty="0">
                <a:effectLst>
                  <a:outerShdw blurRad="38100" dist="38100" dir="2700000" algn="tl">
                    <a:srgbClr val="C0C0C0"/>
                  </a:outerShdw>
                </a:effectLst>
                <a:latin typeface="宋体" panose="02010600030101010101" pitchFamily="2" charset="-122"/>
              </a:rPr>
              <a:t>PSW.4</a:t>
            </a:r>
            <a:r>
              <a:rPr lang="zh-CN" altLang="en-US" sz="2800" b="1" dirty="0">
                <a:effectLst>
                  <a:outerShdw blurRad="38100" dist="38100" dir="2700000" algn="tl">
                    <a:srgbClr val="C0C0C0"/>
                  </a:outerShdw>
                </a:effectLst>
                <a:latin typeface="宋体" panose="02010600030101010101" pitchFamily="2" charset="-122"/>
              </a:rPr>
              <a:t>，</a:t>
            </a:r>
            <a:r>
              <a:rPr lang="en-US" altLang="zh-CN" sz="2800" b="1" dirty="0">
                <a:effectLst>
                  <a:outerShdw blurRad="38100" dist="38100" dir="2700000" algn="tl">
                    <a:srgbClr val="C0C0C0"/>
                  </a:outerShdw>
                </a:effectLst>
                <a:latin typeface="宋体" panose="02010600030101010101" pitchFamily="2" charset="-122"/>
              </a:rPr>
              <a:t>PSW.3</a:t>
            </a:r>
            <a:r>
              <a:rPr lang="zh-CN" altLang="en-US" sz="2800" b="1" dirty="0">
                <a:effectLst>
                  <a:outerShdw blurRad="38100" dist="38100" dir="2700000" algn="tl">
                    <a:srgbClr val="C0C0C0"/>
                  </a:outerShdw>
                </a:effectLst>
                <a:latin typeface="宋体" panose="02010600030101010101" pitchFamily="2" charset="-122"/>
              </a:rPr>
              <a:t>）工作寄存器组选择位 </a:t>
            </a:r>
          </a:p>
          <a:p>
            <a:pPr eaLnBrk="1" hangingPunct="1">
              <a:spcBef>
                <a:spcPct val="25000"/>
              </a:spcBef>
              <a:defRPr/>
            </a:pPr>
            <a:r>
              <a:rPr lang="en-US" altLang="zh-CN" sz="2800" b="1" dirty="0">
                <a:effectLst>
                  <a:outerShdw blurRad="38100" dist="38100" dir="2700000" algn="tl">
                    <a:srgbClr val="C0C0C0"/>
                  </a:outerShdw>
                </a:effectLst>
                <a:latin typeface="宋体" panose="02010600030101010101" pitchFamily="2" charset="-122"/>
              </a:rPr>
              <a:t>OV</a:t>
            </a:r>
            <a:r>
              <a:rPr lang="zh-CN" altLang="en-US" sz="2800" b="1" dirty="0">
                <a:effectLst>
                  <a:outerShdw blurRad="38100" dist="38100" dir="2700000" algn="tl">
                    <a:srgbClr val="C0C0C0"/>
                  </a:outerShdw>
                </a:effectLst>
                <a:latin typeface="宋体" panose="02010600030101010101" pitchFamily="2" charset="-122"/>
              </a:rPr>
              <a:t>（</a:t>
            </a:r>
            <a:r>
              <a:rPr lang="en-US" altLang="zh-CN" sz="2800" b="1" dirty="0">
                <a:effectLst>
                  <a:outerShdw blurRad="38100" dist="38100" dir="2700000" algn="tl">
                    <a:srgbClr val="C0C0C0"/>
                  </a:outerShdw>
                </a:effectLst>
                <a:latin typeface="宋体" panose="02010600030101010101" pitchFamily="2" charset="-122"/>
              </a:rPr>
              <a:t>PSW.2</a:t>
            </a:r>
            <a:r>
              <a:rPr lang="zh-CN" altLang="en-US" sz="2800" b="1" dirty="0">
                <a:effectLst>
                  <a:outerShdw blurRad="38100" dist="38100" dir="2700000" algn="tl">
                    <a:srgbClr val="C0C0C0"/>
                  </a:outerShdw>
                </a:effectLst>
                <a:latin typeface="宋体" panose="02010600030101010101" pitchFamily="2" charset="-122"/>
              </a:rPr>
              <a:t>） 溢出标志位 </a:t>
            </a:r>
          </a:p>
          <a:p>
            <a:pPr algn="just" eaLnBrk="1" hangingPunct="1">
              <a:spcBef>
                <a:spcPct val="25000"/>
              </a:spcBef>
              <a:defRPr/>
            </a:pPr>
            <a:r>
              <a:rPr lang="en-US" altLang="zh-CN" sz="2800" b="1" dirty="0">
                <a:effectLst>
                  <a:outerShdw blurRad="38100" dist="38100" dir="2700000" algn="tl">
                    <a:srgbClr val="C0C0C0"/>
                  </a:outerShdw>
                </a:effectLst>
                <a:latin typeface="宋体" panose="02010600030101010101" pitchFamily="2" charset="-122"/>
              </a:rPr>
              <a:t>PSW.1   </a:t>
            </a:r>
            <a:r>
              <a:rPr lang="zh-CN" altLang="en-US" sz="2800" b="1" dirty="0">
                <a:effectLst>
                  <a:outerShdw blurRad="38100" dist="38100" dir="2700000" algn="tl">
                    <a:srgbClr val="C0C0C0"/>
                  </a:outerShdw>
                </a:effectLst>
                <a:latin typeface="宋体" panose="02010600030101010101" pitchFamily="2" charset="-122"/>
              </a:rPr>
              <a:t>未定义位</a:t>
            </a:r>
          </a:p>
          <a:p>
            <a:pPr eaLnBrk="1" hangingPunct="1">
              <a:spcBef>
                <a:spcPct val="25000"/>
              </a:spcBef>
              <a:defRPr/>
            </a:pPr>
            <a:r>
              <a:rPr lang="en-US" altLang="zh-CN" sz="2800" b="1" dirty="0">
                <a:effectLst>
                  <a:outerShdw blurRad="38100" dist="38100" dir="2700000" algn="tl">
                    <a:srgbClr val="C0C0C0"/>
                  </a:outerShdw>
                </a:effectLst>
                <a:latin typeface="宋体" panose="02010600030101010101" pitchFamily="2" charset="-122"/>
              </a:rPr>
              <a:t>P</a:t>
            </a:r>
            <a:r>
              <a:rPr lang="zh-CN" altLang="en-US" sz="2800" b="1" dirty="0">
                <a:effectLst>
                  <a:outerShdw blurRad="38100" dist="38100" dir="2700000" algn="tl">
                    <a:srgbClr val="C0C0C0"/>
                  </a:outerShdw>
                </a:effectLst>
                <a:latin typeface="宋体" panose="02010600030101010101" pitchFamily="2" charset="-122"/>
              </a:rPr>
              <a:t>（</a:t>
            </a:r>
            <a:r>
              <a:rPr lang="en-US" altLang="zh-CN" sz="2800" b="1" dirty="0">
                <a:effectLst>
                  <a:outerShdw blurRad="38100" dist="38100" dir="2700000" algn="tl">
                    <a:srgbClr val="C0C0C0"/>
                  </a:outerShdw>
                </a:effectLst>
                <a:latin typeface="宋体" panose="02010600030101010101" pitchFamily="2" charset="-122"/>
              </a:rPr>
              <a:t>PSW.0</a:t>
            </a:r>
            <a:r>
              <a:rPr lang="zh-CN" altLang="en-US" sz="2800" b="1" dirty="0">
                <a:effectLst>
                  <a:outerShdw blurRad="38100" dist="38100" dir="2700000" algn="tl">
                    <a:srgbClr val="C0C0C0"/>
                  </a:outerShdw>
                </a:effectLst>
                <a:latin typeface="宋体" panose="02010600030101010101" pitchFamily="2" charset="-122"/>
              </a:rPr>
              <a:t>）  奇偶标志位  </a:t>
            </a:r>
          </a:p>
        </p:txBody>
      </p:sp>
      <p:sp>
        <p:nvSpPr>
          <p:cNvPr id="28" name="Rectangle 2"/>
          <p:cNvSpPr>
            <a:spLocks noChangeArrowheads="1"/>
          </p:cNvSpPr>
          <p:nvPr/>
        </p:nvSpPr>
        <p:spPr bwMode="auto">
          <a:xfrm>
            <a:off x="5364163" y="331788"/>
            <a:ext cx="3509962" cy="338137"/>
          </a:xfrm>
          <a:prstGeom prst="rect">
            <a:avLst/>
          </a:prstGeom>
          <a:noFill/>
          <a:ln>
            <a:noFill/>
          </a:ln>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defRPr/>
            </a:pPr>
            <a:r>
              <a:rPr kumimoji="1" lang="en-US" altLang="zh-CN"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2.1</a:t>
            </a: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 </a:t>
            </a:r>
            <a:r>
              <a:rPr kumimoji="1" lang="en-US" altLang="zh-CN"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MCS-51</a:t>
            </a: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单片机的结构</a:t>
            </a:r>
            <a:endParaRPr kumimoji="1" lang="zh-CN" altLang="en-US" sz="24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315"/>
                                        </p:tgtEl>
                                        <p:attrNameLst>
                                          <p:attrName>style.visibility</p:attrName>
                                        </p:attrNameLst>
                                      </p:cBhvr>
                                      <p:to>
                                        <p:strVal val="visible"/>
                                      </p:to>
                                    </p:set>
                                    <p:animEffect transition="in" filter="blinds(horizontal)">
                                      <p:cBhvr>
                                        <p:cTn id="7" dur="500"/>
                                        <p:tgtEl>
                                          <p:spTgt spid="12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15"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3"/>
          <p:cNvSpPr>
            <a:spLocks noChangeArrowheads="1"/>
          </p:cNvSpPr>
          <p:nvPr/>
        </p:nvSpPr>
        <p:spPr bwMode="auto">
          <a:xfrm>
            <a:off x="615950" y="2341563"/>
            <a:ext cx="8004175" cy="1349375"/>
          </a:xfrm>
          <a:prstGeom prst="rect">
            <a:avLst/>
          </a:prstGeom>
          <a:noFill/>
          <a:ln>
            <a:noFill/>
          </a:ln>
        </p:spPr>
        <p:txBody>
          <a:bodyPr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2400" b="1" dirty="0">
                <a:solidFill>
                  <a:srgbClr val="CC0000"/>
                </a:solidFill>
                <a:effectLst>
                  <a:outerShdw blurRad="38100" dist="38100" dir="2700000" algn="tl">
                    <a:srgbClr val="000000">
                      <a:alpha val="43137"/>
                    </a:srgbClr>
                  </a:outerShdw>
                </a:effectLst>
                <a:latin typeface="Times New Roman" panose="02020603050405020304" pitchFamily="18" charset="0"/>
              </a:rPr>
              <a:t>CY</a:t>
            </a:r>
            <a:r>
              <a:rPr kumimoji="1" lang="zh-CN" altLang="en-US" sz="2400" b="1" dirty="0">
                <a:solidFill>
                  <a:srgbClr val="CC0000"/>
                </a:solidFill>
                <a:effectLst>
                  <a:outerShdw blurRad="38100" dist="38100" dir="2700000" algn="tl">
                    <a:srgbClr val="000000">
                      <a:alpha val="43137"/>
                    </a:srgbClr>
                  </a:outerShdw>
                </a:effectLst>
                <a:latin typeface="Times New Roman" panose="02020603050405020304" pitchFamily="18" charset="0"/>
              </a:rPr>
              <a:t>（</a:t>
            </a:r>
            <a:r>
              <a:rPr kumimoji="1" lang="en-US" altLang="zh-CN" sz="2400" b="1" dirty="0">
                <a:solidFill>
                  <a:srgbClr val="CC0000"/>
                </a:solidFill>
                <a:effectLst>
                  <a:outerShdw blurRad="38100" dist="38100" dir="2700000" algn="tl">
                    <a:srgbClr val="000000">
                      <a:alpha val="43137"/>
                    </a:srgbClr>
                  </a:outerShdw>
                </a:effectLst>
                <a:latin typeface="Times New Roman" panose="02020603050405020304" pitchFamily="18" charset="0"/>
              </a:rPr>
              <a:t>PSW.7</a:t>
            </a:r>
            <a:r>
              <a:rPr kumimoji="1" lang="zh-CN" altLang="en-US" sz="2400" b="1" dirty="0">
                <a:solidFill>
                  <a:srgbClr val="CC0000"/>
                </a:solidFill>
                <a:effectLst>
                  <a:outerShdw blurRad="38100" dist="38100" dir="2700000" algn="tl">
                    <a:srgbClr val="000000">
                      <a:alpha val="43137"/>
                    </a:srgbClr>
                  </a:outerShdw>
                </a:effectLst>
                <a:latin typeface="Times New Roman" panose="02020603050405020304" pitchFamily="18" charset="0"/>
              </a:rPr>
              <a:t>）</a:t>
            </a:r>
            <a:r>
              <a:rPr kumimoji="1" lang="en-US" altLang="zh-CN" sz="2400" b="1" dirty="0">
                <a:effectLst>
                  <a:outerShdw blurRad="38100" dist="38100" dir="2700000" algn="tl">
                    <a:srgbClr val="000000">
                      <a:alpha val="43137"/>
                    </a:srgbClr>
                  </a:outerShdw>
                </a:effectLst>
                <a:latin typeface="Times New Roman" panose="02020603050405020304" pitchFamily="18" charset="0"/>
              </a:rPr>
              <a:t>——</a:t>
            </a:r>
            <a:r>
              <a:rPr kumimoji="1" lang="zh-CN" altLang="en-US" sz="2400" b="1" dirty="0">
                <a:effectLst>
                  <a:outerShdw blurRad="38100" dist="38100" dir="2700000" algn="tl">
                    <a:srgbClr val="000000">
                      <a:alpha val="43137"/>
                    </a:srgbClr>
                  </a:outerShdw>
                </a:effectLst>
                <a:latin typeface="Times New Roman" panose="02020603050405020304" pitchFamily="18" charset="0"/>
              </a:rPr>
              <a:t>进位标志</a:t>
            </a:r>
          </a:p>
          <a:p>
            <a:pPr eaLnBrk="1" hangingPunct="1">
              <a:spcBef>
                <a:spcPct val="40000"/>
              </a:spcBef>
              <a:buFontTx/>
              <a:buNone/>
              <a:defRPr/>
            </a:pPr>
            <a:r>
              <a:rPr kumimoji="1" lang="zh-CN" altLang="en-US" sz="2400" b="1" dirty="0">
                <a:effectLst>
                  <a:outerShdw blurRad="38100" dist="38100" dir="2700000" algn="tl">
                    <a:srgbClr val="000000">
                      <a:alpha val="43137"/>
                    </a:srgbClr>
                  </a:outerShdw>
                </a:effectLst>
                <a:latin typeface="Times New Roman" panose="02020603050405020304" pitchFamily="18" charset="0"/>
              </a:rPr>
              <a:t>在进行加或减运算时，如果操作结果最高位有进位或借位时，</a:t>
            </a:r>
            <a:r>
              <a:rPr kumimoji="1" lang="en-US" altLang="zh-CN" sz="2400" b="1" dirty="0">
                <a:effectLst>
                  <a:outerShdw blurRad="38100" dist="38100" dir="2700000" algn="tl">
                    <a:srgbClr val="000000">
                      <a:alpha val="43137"/>
                    </a:srgbClr>
                  </a:outerShdw>
                </a:effectLst>
                <a:latin typeface="Times New Roman" panose="02020603050405020304" pitchFamily="18" charset="0"/>
              </a:rPr>
              <a:t>CY</a:t>
            </a:r>
            <a:r>
              <a:rPr kumimoji="1" lang="zh-CN" altLang="en-US" sz="2400" b="1" dirty="0">
                <a:effectLst>
                  <a:outerShdw blurRad="38100" dist="38100" dir="2700000" algn="tl">
                    <a:srgbClr val="000000">
                      <a:alpha val="43137"/>
                    </a:srgbClr>
                  </a:outerShdw>
                </a:effectLst>
                <a:latin typeface="Times New Roman" panose="02020603050405020304" pitchFamily="18" charset="0"/>
              </a:rPr>
              <a:t>由</a:t>
            </a:r>
            <a:r>
              <a:rPr kumimoji="1" lang="zh-CN" altLang="en-US" sz="2400" b="1" dirty="0">
                <a:solidFill>
                  <a:srgbClr val="FF3300"/>
                </a:solidFill>
                <a:effectLst>
                  <a:outerShdw blurRad="38100" dist="38100" dir="2700000" algn="tl">
                    <a:srgbClr val="000000">
                      <a:alpha val="43137"/>
                    </a:srgbClr>
                  </a:outerShdw>
                </a:effectLst>
                <a:latin typeface="Times New Roman" panose="02020603050405020304" pitchFamily="18" charset="0"/>
              </a:rPr>
              <a:t>硬件</a:t>
            </a:r>
            <a:r>
              <a:rPr kumimoji="1" lang="zh-CN" altLang="en-US" sz="2400" b="1" dirty="0">
                <a:effectLst>
                  <a:outerShdw blurRad="38100" dist="38100" dir="2700000" algn="tl">
                    <a:srgbClr val="000000">
                      <a:alpha val="43137"/>
                    </a:srgbClr>
                  </a:outerShdw>
                </a:effectLst>
                <a:latin typeface="Times New Roman" panose="02020603050405020304" pitchFamily="18" charset="0"/>
              </a:rPr>
              <a:t>置“</a:t>
            </a:r>
            <a:r>
              <a:rPr kumimoji="1" lang="en-US" altLang="zh-CN" sz="2400" b="1" dirty="0">
                <a:effectLst>
                  <a:outerShdw blurRad="38100" dist="38100" dir="2700000" algn="tl">
                    <a:srgbClr val="000000">
                      <a:alpha val="43137"/>
                    </a:srgbClr>
                  </a:outerShdw>
                </a:effectLst>
                <a:latin typeface="Times New Roman" panose="02020603050405020304" pitchFamily="18" charset="0"/>
              </a:rPr>
              <a:t>1”</a:t>
            </a:r>
            <a:r>
              <a:rPr kumimoji="1" lang="zh-CN" altLang="en-US" sz="2400" b="1" dirty="0">
                <a:effectLst>
                  <a:outerShdw blurRad="38100" dist="38100" dir="2700000" algn="tl">
                    <a:srgbClr val="000000">
                      <a:alpha val="43137"/>
                    </a:srgbClr>
                  </a:outerShdw>
                </a:effectLst>
                <a:latin typeface="Times New Roman" panose="02020603050405020304" pitchFamily="18" charset="0"/>
              </a:rPr>
              <a:t>，否则清“</a:t>
            </a:r>
            <a:r>
              <a:rPr kumimoji="1" lang="en-US" altLang="zh-CN" sz="2400" b="1" dirty="0">
                <a:effectLst>
                  <a:outerShdw blurRad="38100" dist="38100" dir="2700000" algn="tl">
                    <a:srgbClr val="000000">
                      <a:alpha val="43137"/>
                    </a:srgbClr>
                  </a:outerShdw>
                </a:effectLst>
                <a:latin typeface="Times New Roman" panose="02020603050405020304" pitchFamily="18" charset="0"/>
              </a:rPr>
              <a:t>0”</a:t>
            </a:r>
            <a:r>
              <a:rPr kumimoji="1" lang="zh-CN" altLang="en-US" sz="2400" b="1" dirty="0">
                <a:effectLst>
                  <a:outerShdw blurRad="38100" dist="38100" dir="2700000" algn="tl">
                    <a:srgbClr val="000000">
                      <a:alpha val="43137"/>
                    </a:srgbClr>
                  </a:outerShdw>
                </a:effectLst>
                <a:latin typeface="Times New Roman" panose="02020603050405020304" pitchFamily="18" charset="0"/>
              </a:rPr>
              <a:t>。</a:t>
            </a:r>
          </a:p>
        </p:txBody>
      </p:sp>
      <p:grpSp>
        <p:nvGrpSpPr>
          <p:cNvPr id="15363" name="Group 183"/>
          <p:cNvGrpSpPr/>
          <p:nvPr/>
        </p:nvGrpSpPr>
        <p:grpSpPr bwMode="auto">
          <a:xfrm>
            <a:off x="633413" y="1185863"/>
            <a:ext cx="7902575" cy="866775"/>
            <a:chOff x="399" y="747"/>
            <a:chExt cx="4978" cy="546"/>
          </a:xfrm>
        </p:grpSpPr>
        <p:sp>
          <p:nvSpPr>
            <p:cNvPr id="14348" name="Rectangle 9"/>
            <p:cNvSpPr>
              <a:spLocks noChangeArrowheads="1"/>
            </p:cNvSpPr>
            <p:nvPr/>
          </p:nvSpPr>
          <p:spPr bwMode="auto">
            <a:xfrm>
              <a:off x="399"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49" name="Rectangle 10"/>
            <p:cNvSpPr>
              <a:spLocks noChangeArrowheads="1"/>
            </p:cNvSpPr>
            <p:nvPr/>
          </p:nvSpPr>
          <p:spPr bwMode="auto">
            <a:xfrm>
              <a:off x="399"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50" name="Rectangle 11"/>
            <p:cNvSpPr>
              <a:spLocks noChangeArrowheads="1"/>
            </p:cNvSpPr>
            <p:nvPr/>
          </p:nvSpPr>
          <p:spPr bwMode="auto">
            <a:xfrm>
              <a:off x="65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CY</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4351" name="Rectangle 12"/>
            <p:cNvSpPr>
              <a:spLocks noChangeArrowheads="1"/>
            </p:cNvSpPr>
            <p:nvPr/>
          </p:nvSpPr>
          <p:spPr bwMode="auto">
            <a:xfrm>
              <a:off x="1022"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52" name="Rectangle 13"/>
            <p:cNvSpPr>
              <a:spLocks noChangeArrowheads="1"/>
            </p:cNvSpPr>
            <p:nvPr/>
          </p:nvSpPr>
          <p:spPr bwMode="auto">
            <a:xfrm>
              <a:off x="1022"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53" name="Rectangle 14"/>
            <p:cNvSpPr>
              <a:spLocks noChangeArrowheads="1"/>
            </p:cNvSpPr>
            <p:nvPr/>
          </p:nvSpPr>
          <p:spPr bwMode="auto">
            <a:xfrm>
              <a:off x="127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AC</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4354" name="Rectangle 15"/>
            <p:cNvSpPr>
              <a:spLocks noChangeArrowheads="1"/>
            </p:cNvSpPr>
            <p:nvPr/>
          </p:nvSpPr>
          <p:spPr bwMode="auto">
            <a:xfrm>
              <a:off x="1644"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55" name="Rectangle 16"/>
            <p:cNvSpPr>
              <a:spLocks noChangeArrowheads="1"/>
            </p:cNvSpPr>
            <p:nvPr/>
          </p:nvSpPr>
          <p:spPr bwMode="auto">
            <a:xfrm>
              <a:off x="1644"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56" name="Rectangle 17"/>
            <p:cNvSpPr>
              <a:spLocks noChangeArrowheads="1"/>
            </p:cNvSpPr>
            <p:nvPr/>
          </p:nvSpPr>
          <p:spPr bwMode="auto">
            <a:xfrm>
              <a:off x="1897"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4357" name="Rectangle 18"/>
            <p:cNvSpPr>
              <a:spLocks noChangeArrowheads="1"/>
            </p:cNvSpPr>
            <p:nvPr/>
          </p:nvSpPr>
          <p:spPr bwMode="auto">
            <a:xfrm>
              <a:off x="2266" y="984"/>
              <a:ext cx="621"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58" name="Rectangle 19"/>
            <p:cNvSpPr>
              <a:spLocks noChangeArrowheads="1"/>
            </p:cNvSpPr>
            <p:nvPr/>
          </p:nvSpPr>
          <p:spPr bwMode="auto">
            <a:xfrm>
              <a:off x="2266" y="984"/>
              <a:ext cx="621"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59" name="Rectangle 20"/>
            <p:cNvSpPr>
              <a:spLocks noChangeArrowheads="1"/>
            </p:cNvSpPr>
            <p:nvPr/>
          </p:nvSpPr>
          <p:spPr bwMode="auto">
            <a:xfrm>
              <a:off x="2488"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4360" name="Rectangle 21"/>
            <p:cNvSpPr>
              <a:spLocks noChangeArrowheads="1"/>
            </p:cNvSpPr>
            <p:nvPr/>
          </p:nvSpPr>
          <p:spPr bwMode="auto">
            <a:xfrm>
              <a:off x="2887"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61" name="Rectangle 22"/>
            <p:cNvSpPr>
              <a:spLocks noChangeArrowheads="1"/>
            </p:cNvSpPr>
            <p:nvPr/>
          </p:nvSpPr>
          <p:spPr bwMode="auto">
            <a:xfrm>
              <a:off x="2887"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62" name="Rectangle 23"/>
            <p:cNvSpPr>
              <a:spLocks noChangeArrowheads="1"/>
            </p:cNvSpPr>
            <p:nvPr/>
          </p:nvSpPr>
          <p:spPr bwMode="auto">
            <a:xfrm>
              <a:off x="3111"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4363" name="Rectangle 24"/>
            <p:cNvSpPr>
              <a:spLocks noChangeArrowheads="1"/>
            </p:cNvSpPr>
            <p:nvPr/>
          </p:nvSpPr>
          <p:spPr bwMode="auto">
            <a:xfrm>
              <a:off x="3510"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64" name="Rectangle 25"/>
            <p:cNvSpPr>
              <a:spLocks noChangeArrowheads="1"/>
            </p:cNvSpPr>
            <p:nvPr/>
          </p:nvSpPr>
          <p:spPr bwMode="auto">
            <a:xfrm>
              <a:off x="3510"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65" name="Rectangle 26"/>
            <p:cNvSpPr>
              <a:spLocks noChangeArrowheads="1"/>
            </p:cNvSpPr>
            <p:nvPr/>
          </p:nvSpPr>
          <p:spPr bwMode="auto">
            <a:xfrm>
              <a:off x="376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OV</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4366" name="Rectangle 27"/>
            <p:cNvSpPr>
              <a:spLocks noChangeArrowheads="1"/>
            </p:cNvSpPr>
            <p:nvPr/>
          </p:nvSpPr>
          <p:spPr bwMode="auto">
            <a:xfrm>
              <a:off x="4132" y="984"/>
              <a:ext cx="622"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67" name="Rectangle 28"/>
            <p:cNvSpPr>
              <a:spLocks noChangeArrowheads="1"/>
            </p:cNvSpPr>
            <p:nvPr/>
          </p:nvSpPr>
          <p:spPr bwMode="auto">
            <a:xfrm>
              <a:off x="4132" y="984"/>
              <a:ext cx="622"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68" name="Rectangle 29"/>
            <p:cNvSpPr>
              <a:spLocks noChangeArrowheads="1"/>
            </p:cNvSpPr>
            <p:nvPr/>
          </p:nvSpPr>
          <p:spPr bwMode="auto">
            <a:xfrm>
              <a:off x="441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4369" name="Rectangle 30"/>
            <p:cNvSpPr>
              <a:spLocks noChangeArrowheads="1"/>
            </p:cNvSpPr>
            <p:nvPr/>
          </p:nvSpPr>
          <p:spPr bwMode="auto">
            <a:xfrm>
              <a:off x="4754" y="984"/>
              <a:ext cx="623"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70" name="Rectangle 31"/>
            <p:cNvSpPr>
              <a:spLocks noChangeArrowheads="1"/>
            </p:cNvSpPr>
            <p:nvPr/>
          </p:nvSpPr>
          <p:spPr bwMode="auto">
            <a:xfrm>
              <a:off x="4754" y="984"/>
              <a:ext cx="623"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71" name="Rectangle 32"/>
            <p:cNvSpPr>
              <a:spLocks noChangeArrowheads="1"/>
            </p:cNvSpPr>
            <p:nvPr/>
          </p:nvSpPr>
          <p:spPr bwMode="auto">
            <a:xfrm>
              <a:off x="5038" y="1117"/>
              <a:ext cx="57"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P</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4372" name="Rectangle 33"/>
            <p:cNvSpPr>
              <a:spLocks noChangeArrowheads="1"/>
            </p:cNvSpPr>
            <p:nvPr/>
          </p:nvSpPr>
          <p:spPr bwMode="auto">
            <a:xfrm>
              <a:off x="399"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73" name="Rectangle 34"/>
            <p:cNvSpPr>
              <a:spLocks noChangeArrowheads="1"/>
            </p:cNvSpPr>
            <p:nvPr/>
          </p:nvSpPr>
          <p:spPr bwMode="auto">
            <a:xfrm>
              <a:off x="399"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74" name="Rectangle 35"/>
            <p:cNvSpPr>
              <a:spLocks noChangeArrowheads="1"/>
            </p:cNvSpPr>
            <p:nvPr/>
          </p:nvSpPr>
          <p:spPr bwMode="auto">
            <a:xfrm>
              <a:off x="65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CY</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4375" name="Rectangle 36"/>
            <p:cNvSpPr>
              <a:spLocks noChangeArrowheads="1"/>
            </p:cNvSpPr>
            <p:nvPr/>
          </p:nvSpPr>
          <p:spPr bwMode="auto">
            <a:xfrm>
              <a:off x="1022"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76" name="Rectangle 37"/>
            <p:cNvSpPr>
              <a:spLocks noChangeArrowheads="1"/>
            </p:cNvSpPr>
            <p:nvPr/>
          </p:nvSpPr>
          <p:spPr bwMode="auto">
            <a:xfrm>
              <a:off x="1022"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77" name="Rectangle 38"/>
            <p:cNvSpPr>
              <a:spLocks noChangeArrowheads="1"/>
            </p:cNvSpPr>
            <p:nvPr/>
          </p:nvSpPr>
          <p:spPr bwMode="auto">
            <a:xfrm>
              <a:off x="127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AC</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4378" name="Rectangle 39"/>
            <p:cNvSpPr>
              <a:spLocks noChangeArrowheads="1"/>
            </p:cNvSpPr>
            <p:nvPr/>
          </p:nvSpPr>
          <p:spPr bwMode="auto">
            <a:xfrm>
              <a:off x="1644"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79" name="Rectangle 40"/>
            <p:cNvSpPr>
              <a:spLocks noChangeArrowheads="1"/>
            </p:cNvSpPr>
            <p:nvPr/>
          </p:nvSpPr>
          <p:spPr bwMode="auto">
            <a:xfrm>
              <a:off x="1644"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80" name="Rectangle 41"/>
            <p:cNvSpPr>
              <a:spLocks noChangeArrowheads="1"/>
            </p:cNvSpPr>
            <p:nvPr/>
          </p:nvSpPr>
          <p:spPr bwMode="auto">
            <a:xfrm>
              <a:off x="1897"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4381" name="Rectangle 42"/>
            <p:cNvSpPr>
              <a:spLocks noChangeArrowheads="1"/>
            </p:cNvSpPr>
            <p:nvPr/>
          </p:nvSpPr>
          <p:spPr bwMode="auto">
            <a:xfrm>
              <a:off x="2266" y="984"/>
              <a:ext cx="621"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82" name="Rectangle 43"/>
            <p:cNvSpPr>
              <a:spLocks noChangeArrowheads="1"/>
            </p:cNvSpPr>
            <p:nvPr/>
          </p:nvSpPr>
          <p:spPr bwMode="auto">
            <a:xfrm>
              <a:off x="2266" y="984"/>
              <a:ext cx="621"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83" name="Rectangle 44"/>
            <p:cNvSpPr>
              <a:spLocks noChangeArrowheads="1"/>
            </p:cNvSpPr>
            <p:nvPr/>
          </p:nvSpPr>
          <p:spPr bwMode="auto">
            <a:xfrm>
              <a:off x="2488"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4384" name="Rectangle 45"/>
            <p:cNvSpPr>
              <a:spLocks noChangeArrowheads="1"/>
            </p:cNvSpPr>
            <p:nvPr/>
          </p:nvSpPr>
          <p:spPr bwMode="auto">
            <a:xfrm>
              <a:off x="2887"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85" name="Rectangle 46"/>
            <p:cNvSpPr>
              <a:spLocks noChangeArrowheads="1"/>
            </p:cNvSpPr>
            <p:nvPr/>
          </p:nvSpPr>
          <p:spPr bwMode="auto">
            <a:xfrm>
              <a:off x="2887"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86" name="Rectangle 47"/>
            <p:cNvSpPr>
              <a:spLocks noChangeArrowheads="1"/>
            </p:cNvSpPr>
            <p:nvPr/>
          </p:nvSpPr>
          <p:spPr bwMode="auto">
            <a:xfrm>
              <a:off x="3111"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4387" name="Rectangle 48"/>
            <p:cNvSpPr>
              <a:spLocks noChangeArrowheads="1"/>
            </p:cNvSpPr>
            <p:nvPr/>
          </p:nvSpPr>
          <p:spPr bwMode="auto">
            <a:xfrm>
              <a:off x="3510"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88" name="Rectangle 49"/>
            <p:cNvSpPr>
              <a:spLocks noChangeArrowheads="1"/>
            </p:cNvSpPr>
            <p:nvPr/>
          </p:nvSpPr>
          <p:spPr bwMode="auto">
            <a:xfrm>
              <a:off x="3510"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89" name="Rectangle 50"/>
            <p:cNvSpPr>
              <a:spLocks noChangeArrowheads="1"/>
            </p:cNvSpPr>
            <p:nvPr/>
          </p:nvSpPr>
          <p:spPr bwMode="auto">
            <a:xfrm>
              <a:off x="376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OV</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4390" name="Rectangle 51"/>
            <p:cNvSpPr>
              <a:spLocks noChangeArrowheads="1"/>
            </p:cNvSpPr>
            <p:nvPr/>
          </p:nvSpPr>
          <p:spPr bwMode="auto">
            <a:xfrm>
              <a:off x="4132" y="984"/>
              <a:ext cx="622"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91" name="Rectangle 52"/>
            <p:cNvSpPr>
              <a:spLocks noChangeArrowheads="1"/>
            </p:cNvSpPr>
            <p:nvPr/>
          </p:nvSpPr>
          <p:spPr bwMode="auto">
            <a:xfrm>
              <a:off x="4132" y="984"/>
              <a:ext cx="622"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92" name="Rectangle 53"/>
            <p:cNvSpPr>
              <a:spLocks noChangeArrowheads="1"/>
            </p:cNvSpPr>
            <p:nvPr/>
          </p:nvSpPr>
          <p:spPr bwMode="auto">
            <a:xfrm>
              <a:off x="441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4393" name="Rectangle 54"/>
            <p:cNvSpPr>
              <a:spLocks noChangeArrowheads="1"/>
            </p:cNvSpPr>
            <p:nvPr/>
          </p:nvSpPr>
          <p:spPr bwMode="auto">
            <a:xfrm>
              <a:off x="4754" y="984"/>
              <a:ext cx="623"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94" name="Rectangle 55"/>
            <p:cNvSpPr>
              <a:spLocks noChangeArrowheads="1"/>
            </p:cNvSpPr>
            <p:nvPr/>
          </p:nvSpPr>
          <p:spPr bwMode="auto">
            <a:xfrm>
              <a:off x="4754" y="984"/>
              <a:ext cx="623"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95" name="Rectangle 56"/>
            <p:cNvSpPr>
              <a:spLocks noChangeArrowheads="1"/>
            </p:cNvSpPr>
            <p:nvPr/>
          </p:nvSpPr>
          <p:spPr bwMode="auto">
            <a:xfrm>
              <a:off x="5038" y="1117"/>
              <a:ext cx="57"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P</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4396" name="Rectangle 73"/>
            <p:cNvSpPr>
              <a:spLocks noChangeArrowheads="1"/>
            </p:cNvSpPr>
            <p:nvPr/>
          </p:nvSpPr>
          <p:spPr bwMode="auto">
            <a:xfrm>
              <a:off x="399"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97" name="Rectangle 74"/>
            <p:cNvSpPr>
              <a:spLocks noChangeArrowheads="1"/>
            </p:cNvSpPr>
            <p:nvPr/>
          </p:nvSpPr>
          <p:spPr bwMode="auto">
            <a:xfrm>
              <a:off x="399"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398" name="Rectangle 75"/>
            <p:cNvSpPr>
              <a:spLocks noChangeArrowheads="1"/>
            </p:cNvSpPr>
            <p:nvPr/>
          </p:nvSpPr>
          <p:spPr bwMode="auto">
            <a:xfrm>
              <a:off x="65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CY</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4399" name="Rectangle 76"/>
            <p:cNvSpPr>
              <a:spLocks noChangeArrowheads="1"/>
            </p:cNvSpPr>
            <p:nvPr/>
          </p:nvSpPr>
          <p:spPr bwMode="auto">
            <a:xfrm>
              <a:off x="1022"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400" name="Rectangle 77"/>
            <p:cNvSpPr>
              <a:spLocks noChangeArrowheads="1"/>
            </p:cNvSpPr>
            <p:nvPr/>
          </p:nvSpPr>
          <p:spPr bwMode="auto">
            <a:xfrm>
              <a:off x="1022"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401" name="Rectangle 78"/>
            <p:cNvSpPr>
              <a:spLocks noChangeArrowheads="1"/>
            </p:cNvSpPr>
            <p:nvPr/>
          </p:nvSpPr>
          <p:spPr bwMode="auto">
            <a:xfrm>
              <a:off x="127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AC</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4402" name="Rectangle 79"/>
            <p:cNvSpPr>
              <a:spLocks noChangeArrowheads="1"/>
            </p:cNvSpPr>
            <p:nvPr/>
          </p:nvSpPr>
          <p:spPr bwMode="auto">
            <a:xfrm>
              <a:off x="1644"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403" name="Rectangle 80"/>
            <p:cNvSpPr>
              <a:spLocks noChangeArrowheads="1"/>
            </p:cNvSpPr>
            <p:nvPr/>
          </p:nvSpPr>
          <p:spPr bwMode="auto">
            <a:xfrm>
              <a:off x="1644"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404" name="Rectangle 81"/>
            <p:cNvSpPr>
              <a:spLocks noChangeArrowheads="1"/>
            </p:cNvSpPr>
            <p:nvPr/>
          </p:nvSpPr>
          <p:spPr bwMode="auto">
            <a:xfrm>
              <a:off x="1897"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4405" name="Rectangle 82"/>
            <p:cNvSpPr>
              <a:spLocks noChangeArrowheads="1"/>
            </p:cNvSpPr>
            <p:nvPr/>
          </p:nvSpPr>
          <p:spPr bwMode="auto">
            <a:xfrm>
              <a:off x="2266" y="984"/>
              <a:ext cx="621"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406" name="Rectangle 83"/>
            <p:cNvSpPr>
              <a:spLocks noChangeArrowheads="1"/>
            </p:cNvSpPr>
            <p:nvPr/>
          </p:nvSpPr>
          <p:spPr bwMode="auto">
            <a:xfrm>
              <a:off x="2266" y="984"/>
              <a:ext cx="621"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407" name="Rectangle 84"/>
            <p:cNvSpPr>
              <a:spLocks noChangeArrowheads="1"/>
            </p:cNvSpPr>
            <p:nvPr/>
          </p:nvSpPr>
          <p:spPr bwMode="auto">
            <a:xfrm>
              <a:off x="2488"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4408" name="Rectangle 85"/>
            <p:cNvSpPr>
              <a:spLocks noChangeArrowheads="1"/>
            </p:cNvSpPr>
            <p:nvPr/>
          </p:nvSpPr>
          <p:spPr bwMode="auto">
            <a:xfrm>
              <a:off x="2887"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409" name="Rectangle 86"/>
            <p:cNvSpPr>
              <a:spLocks noChangeArrowheads="1"/>
            </p:cNvSpPr>
            <p:nvPr/>
          </p:nvSpPr>
          <p:spPr bwMode="auto">
            <a:xfrm>
              <a:off x="2887"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410" name="Rectangle 87"/>
            <p:cNvSpPr>
              <a:spLocks noChangeArrowheads="1"/>
            </p:cNvSpPr>
            <p:nvPr/>
          </p:nvSpPr>
          <p:spPr bwMode="auto">
            <a:xfrm>
              <a:off x="3111"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4411" name="Rectangle 88"/>
            <p:cNvSpPr>
              <a:spLocks noChangeArrowheads="1"/>
            </p:cNvSpPr>
            <p:nvPr/>
          </p:nvSpPr>
          <p:spPr bwMode="auto">
            <a:xfrm>
              <a:off x="3510"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412" name="Rectangle 89"/>
            <p:cNvSpPr>
              <a:spLocks noChangeArrowheads="1"/>
            </p:cNvSpPr>
            <p:nvPr/>
          </p:nvSpPr>
          <p:spPr bwMode="auto">
            <a:xfrm>
              <a:off x="3510"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413" name="Rectangle 90"/>
            <p:cNvSpPr>
              <a:spLocks noChangeArrowheads="1"/>
            </p:cNvSpPr>
            <p:nvPr/>
          </p:nvSpPr>
          <p:spPr bwMode="auto">
            <a:xfrm>
              <a:off x="376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OV</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4414" name="Rectangle 91"/>
            <p:cNvSpPr>
              <a:spLocks noChangeArrowheads="1"/>
            </p:cNvSpPr>
            <p:nvPr/>
          </p:nvSpPr>
          <p:spPr bwMode="auto">
            <a:xfrm>
              <a:off x="4132" y="984"/>
              <a:ext cx="622"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415" name="Rectangle 92"/>
            <p:cNvSpPr>
              <a:spLocks noChangeArrowheads="1"/>
            </p:cNvSpPr>
            <p:nvPr/>
          </p:nvSpPr>
          <p:spPr bwMode="auto">
            <a:xfrm>
              <a:off x="4132" y="984"/>
              <a:ext cx="622"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416" name="Rectangle 93"/>
            <p:cNvSpPr>
              <a:spLocks noChangeArrowheads="1"/>
            </p:cNvSpPr>
            <p:nvPr/>
          </p:nvSpPr>
          <p:spPr bwMode="auto">
            <a:xfrm>
              <a:off x="441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4417" name="Rectangle 94"/>
            <p:cNvSpPr>
              <a:spLocks noChangeArrowheads="1"/>
            </p:cNvSpPr>
            <p:nvPr/>
          </p:nvSpPr>
          <p:spPr bwMode="auto">
            <a:xfrm>
              <a:off x="4754" y="984"/>
              <a:ext cx="623"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418" name="Rectangle 95"/>
            <p:cNvSpPr>
              <a:spLocks noChangeArrowheads="1"/>
            </p:cNvSpPr>
            <p:nvPr/>
          </p:nvSpPr>
          <p:spPr bwMode="auto">
            <a:xfrm>
              <a:off x="4754" y="984"/>
              <a:ext cx="623"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419" name="Rectangle 96"/>
            <p:cNvSpPr>
              <a:spLocks noChangeArrowheads="1"/>
            </p:cNvSpPr>
            <p:nvPr/>
          </p:nvSpPr>
          <p:spPr bwMode="auto">
            <a:xfrm>
              <a:off x="5038" y="1117"/>
              <a:ext cx="57"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P</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4420" name="Rectangle 97"/>
            <p:cNvSpPr>
              <a:spLocks noChangeArrowheads="1"/>
            </p:cNvSpPr>
            <p:nvPr/>
          </p:nvSpPr>
          <p:spPr bwMode="auto">
            <a:xfrm>
              <a:off x="399"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421" name="Rectangle 98"/>
            <p:cNvSpPr>
              <a:spLocks noChangeArrowheads="1"/>
            </p:cNvSpPr>
            <p:nvPr/>
          </p:nvSpPr>
          <p:spPr bwMode="auto">
            <a:xfrm>
              <a:off x="399" y="984"/>
              <a:ext cx="623" cy="308"/>
            </a:xfrm>
            <a:prstGeom prst="rect">
              <a:avLst/>
            </a:prstGeom>
            <a:solidFill>
              <a:srgbClr val="CCFFFF"/>
            </a:solid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422" name="Rectangle 99"/>
            <p:cNvSpPr>
              <a:spLocks noChangeArrowheads="1"/>
            </p:cNvSpPr>
            <p:nvPr/>
          </p:nvSpPr>
          <p:spPr bwMode="auto">
            <a:xfrm>
              <a:off x="637" y="1043"/>
              <a:ext cx="238" cy="173"/>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CC0000"/>
                  </a:solidFill>
                  <a:effectLst>
                    <a:outerShdw blurRad="38100" dist="38100" dir="2700000" algn="tl">
                      <a:srgbClr val="000000">
                        <a:alpha val="43137"/>
                      </a:srgbClr>
                    </a:outerShdw>
                  </a:effectLst>
                  <a:latin typeface="宋体" panose="02010600030101010101" pitchFamily="2" charset="-122"/>
                </a:rPr>
                <a:t>CY</a:t>
              </a:r>
              <a:endParaRPr kumimoji="1" lang="en-US" altLang="zh-CN" b="1">
                <a:solidFill>
                  <a:srgbClr val="CC0000"/>
                </a:solidFill>
                <a:effectLst>
                  <a:outerShdw blurRad="38100" dist="38100" dir="2700000" algn="tl">
                    <a:srgbClr val="000000">
                      <a:alpha val="43137"/>
                    </a:srgbClr>
                  </a:outerShdw>
                </a:effectLst>
                <a:latin typeface="Times New Roman" panose="02020603050405020304" pitchFamily="18" charset="0"/>
              </a:endParaRPr>
            </a:p>
          </p:txBody>
        </p:sp>
        <p:sp>
          <p:nvSpPr>
            <p:cNvPr id="14423" name="Rectangle 100"/>
            <p:cNvSpPr>
              <a:spLocks noChangeArrowheads="1"/>
            </p:cNvSpPr>
            <p:nvPr/>
          </p:nvSpPr>
          <p:spPr bwMode="auto">
            <a:xfrm>
              <a:off x="1022"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424" name="Rectangle 101"/>
            <p:cNvSpPr>
              <a:spLocks noChangeArrowheads="1"/>
            </p:cNvSpPr>
            <p:nvPr/>
          </p:nvSpPr>
          <p:spPr bwMode="auto">
            <a:xfrm>
              <a:off x="1022"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425" name="Rectangle 102"/>
            <p:cNvSpPr>
              <a:spLocks noChangeArrowheads="1"/>
            </p:cNvSpPr>
            <p:nvPr/>
          </p:nvSpPr>
          <p:spPr bwMode="auto">
            <a:xfrm>
              <a:off x="1276" y="1043"/>
              <a:ext cx="219" cy="173"/>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AC</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4426" name="Rectangle 103"/>
            <p:cNvSpPr>
              <a:spLocks noChangeArrowheads="1"/>
            </p:cNvSpPr>
            <p:nvPr/>
          </p:nvSpPr>
          <p:spPr bwMode="auto">
            <a:xfrm>
              <a:off x="1644"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427" name="Rectangle 104"/>
            <p:cNvSpPr>
              <a:spLocks noChangeArrowheads="1"/>
            </p:cNvSpPr>
            <p:nvPr/>
          </p:nvSpPr>
          <p:spPr bwMode="auto">
            <a:xfrm>
              <a:off x="1644"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428" name="Rectangle 105"/>
            <p:cNvSpPr>
              <a:spLocks noChangeArrowheads="1"/>
            </p:cNvSpPr>
            <p:nvPr/>
          </p:nvSpPr>
          <p:spPr bwMode="auto">
            <a:xfrm>
              <a:off x="1882" y="1044"/>
              <a:ext cx="146" cy="173"/>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F0</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4429" name="Rectangle 106"/>
            <p:cNvSpPr>
              <a:spLocks noChangeArrowheads="1"/>
            </p:cNvSpPr>
            <p:nvPr/>
          </p:nvSpPr>
          <p:spPr bwMode="auto">
            <a:xfrm>
              <a:off x="2266" y="984"/>
              <a:ext cx="621"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430" name="Rectangle 107"/>
            <p:cNvSpPr>
              <a:spLocks noChangeArrowheads="1"/>
            </p:cNvSpPr>
            <p:nvPr/>
          </p:nvSpPr>
          <p:spPr bwMode="auto">
            <a:xfrm>
              <a:off x="2266" y="984"/>
              <a:ext cx="621"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431" name="Rectangle 108"/>
            <p:cNvSpPr>
              <a:spLocks noChangeArrowheads="1"/>
            </p:cNvSpPr>
            <p:nvPr/>
          </p:nvSpPr>
          <p:spPr bwMode="auto">
            <a:xfrm>
              <a:off x="2505" y="1044"/>
              <a:ext cx="219" cy="173"/>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RS1</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4432" name="Rectangle 109"/>
            <p:cNvSpPr>
              <a:spLocks noChangeArrowheads="1"/>
            </p:cNvSpPr>
            <p:nvPr/>
          </p:nvSpPr>
          <p:spPr bwMode="auto">
            <a:xfrm>
              <a:off x="2887"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433" name="Rectangle 110"/>
            <p:cNvSpPr>
              <a:spLocks noChangeArrowheads="1"/>
            </p:cNvSpPr>
            <p:nvPr/>
          </p:nvSpPr>
          <p:spPr bwMode="auto">
            <a:xfrm>
              <a:off x="2887"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434" name="Rectangle 111"/>
            <p:cNvSpPr>
              <a:spLocks noChangeArrowheads="1"/>
            </p:cNvSpPr>
            <p:nvPr/>
          </p:nvSpPr>
          <p:spPr bwMode="auto">
            <a:xfrm>
              <a:off x="3111" y="1051"/>
              <a:ext cx="219" cy="173"/>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RS0</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4435" name="Rectangle 112"/>
            <p:cNvSpPr>
              <a:spLocks noChangeArrowheads="1"/>
            </p:cNvSpPr>
            <p:nvPr/>
          </p:nvSpPr>
          <p:spPr bwMode="auto">
            <a:xfrm>
              <a:off x="3510"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436" name="Rectangle 113"/>
            <p:cNvSpPr>
              <a:spLocks noChangeArrowheads="1"/>
            </p:cNvSpPr>
            <p:nvPr/>
          </p:nvSpPr>
          <p:spPr bwMode="auto">
            <a:xfrm>
              <a:off x="3510"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437" name="Rectangle 114"/>
            <p:cNvSpPr>
              <a:spLocks noChangeArrowheads="1"/>
            </p:cNvSpPr>
            <p:nvPr/>
          </p:nvSpPr>
          <p:spPr bwMode="auto">
            <a:xfrm>
              <a:off x="3754" y="1035"/>
              <a:ext cx="146" cy="173"/>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OV</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4438" name="Rectangle 115"/>
            <p:cNvSpPr>
              <a:spLocks noChangeArrowheads="1"/>
            </p:cNvSpPr>
            <p:nvPr/>
          </p:nvSpPr>
          <p:spPr bwMode="auto">
            <a:xfrm>
              <a:off x="4132" y="984"/>
              <a:ext cx="622"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439" name="Rectangle 116"/>
            <p:cNvSpPr>
              <a:spLocks noChangeArrowheads="1"/>
            </p:cNvSpPr>
            <p:nvPr/>
          </p:nvSpPr>
          <p:spPr bwMode="auto">
            <a:xfrm>
              <a:off x="4132" y="984"/>
              <a:ext cx="622"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440" name="Rectangle 117"/>
            <p:cNvSpPr>
              <a:spLocks noChangeArrowheads="1"/>
            </p:cNvSpPr>
            <p:nvPr/>
          </p:nvSpPr>
          <p:spPr bwMode="auto">
            <a:xfrm>
              <a:off x="4400" y="1034"/>
              <a:ext cx="146" cy="173"/>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F1</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4441" name="Rectangle 118"/>
            <p:cNvSpPr>
              <a:spLocks noChangeArrowheads="1"/>
            </p:cNvSpPr>
            <p:nvPr/>
          </p:nvSpPr>
          <p:spPr bwMode="auto">
            <a:xfrm>
              <a:off x="4754" y="984"/>
              <a:ext cx="623"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442" name="Rectangle 119"/>
            <p:cNvSpPr>
              <a:spLocks noChangeArrowheads="1"/>
            </p:cNvSpPr>
            <p:nvPr/>
          </p:nvSpPr>
          <p:spPr bwMode="auto">
            <a:xfrm>
              <a:off x="4754" y="984"/>
              <a:ext cx="623"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4443" name="Rectangle 120"/>
            <p:cNvSpPr>
              <a:spLocks noChangeArrowheads="1"/>
            </p:cNvSpPr>
            <p:nvPr/>
          </p:nvSpPr>
          <p:spPr bwMode="auto">
            <a:xfrm>
              <a:off x="5047" y="1034"/>
              <a:ext cx="74" cy="174"/>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P</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4444" name="Rectangle 121"/>
            <p:cNvSpPr>
              <a:spLocks noChangeArrowheads="1"/>
            </p:cNvSpPr>
            <p:nvPr/>
          </p:nvSpPr>
          <p:spPr bwMode="auto">
            <a:xfrm>
              <a:off x="569" y="773"/>
              <a:ext cx="380"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CC0000"/>
                  </a:solidFill>
                  <a:effectLst>
                    <a:outerShdw blurRad="38100" dist="38100" dir="2700000" algn="tl">
                      <a:srgbClr val="000000">
                        <a:alpha val="43137"/>
                      </a:srgbClr>
                    </a:outerShdw>
                  </a:effectLst>
                  <a:latin typeface="宋体" panose="02010600030101010101" pitchFamily="2" charset="-122"/>
                </a:rPr>
                <a:t>PSW.7</a:t>
              </a:r>
              <a:endParaRPr kumimoji="1" lang="en-US" altLang="zh-CN" sz="2800" b="1">
                <a:solidFill>
                  <a:srgbClr val="CC0000"/>
                </a:solidFill>
                <a:effectLst>
                  <a:outerShdw blurRad="38100" dist="38100" dir="2700000" algn="tl">
                    <a:srgbClr val="000000">
                      <a:alpha val="43137"/>
                    </a:srgbClr>
                  </a:outerShdw>
                </a:effectLst>
                <a:latin typeface="Times New Roman" panose="02020603050405020304" pitchFamily="18" charset="0"/>
              </a:endParaRPr>
            </a:p>
          </p:txBody>
        </p:sp>
        <p:sp>
          <p:nvSpPr>
            <p:cNvPr id="14445" name="Rectangle 122"/>
            <p:cNvSpPr>
              <a:spLocks noChangeArrowheads="1"/>
            </p:cNvSpPr>
            <p:nvPr/>
          </p:nvSpPr>
          <p:spPr bwMode="auto">
            <a:xfrm>
              <a:off x="1197" y="763"/>
              <a:ext cx="374"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PSW.6</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14446" name="Rectangle 123"/>
            <p:cNvSpPr>
              <a:spLocks noChangeArrowheads="1"/>
            </p:cNvSpPr>
            <p:nvPr/>
          </p:nvSpPr>
          <p:spPr bwMode="auto">
            <a:xfrm>
              <a:off x="1810" y="764"/>
              <a:ext cx="368"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PSW.5</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14447" name="Rectangle 124"/>
            <p:cNvSpPr>
              <a:spLocks noChangeArrowheads="1"/>
            </p:cNvSpPr>
            <p:nvPr/>
          </p:nvSpPr>
          <p:spPr bwMode="auto">
            <a:xfrm>
              <a:off x="2448" y="772"/>
              <a:ext cx="364"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PSW.4</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14448" name="Rectangle 125"/>
            <p:cNvSpPr>
              <a:spLocks noChangeArrowheads="1"/>
            </p:cNvSpPr>
            <p:nvPr/>
          </p:nvSpPr>
          <p:spPr bwMode="auto">
            <a:xfrm>
              <a:off x="3054" y="763"/>
              <a:ext cx="363"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PSW.3</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14449" name="Rectangle 126"/>
            <p:cNvSpPr>
              <a:spLocks noChangeArrowheads="1"/>
            </p:cNvSpPr>
            <p:nvPr/>
          </p:nvSpPr>
          <p:spPr bwMode="auto">
            <a:xfrm>
              <a:off x="3675" y="756"/>
              <a:ext cx="379"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PSW.2</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14450" name="Rectangle 127"/>
            <p:cNvSpPr>
              <a:spLocks noChangeArrowheads="1"/>
            </p:cNvSpPr>
            <p:nvPr/>
          </p:nvSpPr>
          <p:spPr bwMode="auto">
            <a:xfrm>
              <a:off x="4298" y="747"/>
              <a:ext cx="374"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PSW.1</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14451" name="Rectangle 128"/>
            <p:cNvSpPr>
              <a:spLocks noChangeArrowheads="1"/>
            </p:cNvSpPr>
            <p:nvPr/>
          </p:nvSpPr>
          <p:spPr bwMode="auto">
            <a:xfrm>
              <a:off x="4918" y="763"/>
              <a:ext cx="368"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PSW.0</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grpSp>
      <p:sp>
        <p:nvSpPr>
          <p:cNvPr id="111621" name="Text Box 145"/>
          <p:cNvSpPr txBox="1">
            <a:spLocks noChangeArrowheads="1"/>
          </p:cNvSpPr>
          <p:nvPr/>
        </p:nvSpPr>
        <p:spPr bwMode="auto">
          <a:xfrm>
            <a:off x="4846638" y="3859213"/>
            <a:ext cx="3841750" cy="1754187"/>
          </a:xfrm>
          <a:prstGeom prst="rect">
            <a:avLst/>
          </a:prstGeom>
          <a:noFill/>
          <a:ln>
            <a:noFill/>
          </a:ln>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defRPr/>
            </a:pPr>
            <a:r>
              <a:rPr kumimoji="1" lang="zh-CN" altLang="en-US" sz="2400" b="1">
                <a:solidFill>
                  <a:srgbClr val="CC0000"/>
                </a:solidFill>
                <a:effectLst>
                  <a:outerShdw blurRad="38100" dist="38100" dir="2700000" algn="tl">
                    <a:srgbClr val="000000">
                      <a:alpha val="43137"/>
                    </a:srgbClr>
                  </a:outerShdw>
                </a:effectLst>
                <a:latin typeface="Times New Roman" panose="02020603050405020304" pitchFamily="18" charset="0"/>
              </a:rPr>
              <a:t>用途</a:t>
            </a:r>
            <a:r>
              <a:rPr kumimoji="1" lang="zh-CN" altLang="en-US" sz="2400" b="1">
                <a:effectLst>
                  <a:outerShdw blurRad="38100" dist="38100" dir="2700000" algn="tl">
                    <a:srgbClr val="000000">
                      <a:alpha val="43137"/>
                    </a:srgbClr>
                  </a:outerShdw>
                </a:effectLst>
                <a:latin typeface="Times New Roman" panose="02020603050405020304" pitchFamily="18" charset="0"/>
              </a:rPr>
              <a:t>：</a:t>
            </a:r>
            <a:r>
              <a:rPr kumimoji="1" lang="en-US" altLang="zh-CN" sz="2400" b="1">
                <a:effectLst>
                  <a:outerShdw blurRad="38100" dist="38100" dir="2700000" algn="tl">
                    <a:srgbClr val="000000">
                      <a:alpha val="43137"/>
                    </a:srgbClr>
                  </a:outerShdw>
                </a:effectLst>
                <a:latin typeface="Times New Roman" panose="02020603050405020304" pitchFamily="18" charset="0"/>
              </a:rPr>
              <a:t>1</a:t>
            </a:r>
            <a:r>
              <a:rPr kumimoji="1" lang="zh-CN" altLang="en-US" sz="2400" b="1">
                <a:effectLst>
                  <a:outerShdw blurRad="38100" dist="38100" dir="2700000" algn="tl">
                    <a:srgbClr val="000000">
                      <a:alpha val="43137"/>
                    </a:srgbClr>
                  </a:outerShdw>
                </a:effectLst>
                <a:latin typeface="Times New Roman" panose="02020603050405020304" pitchFamily="18" charset="0"/>
              </a:rPr>
              <a:t>、可根据</a:t>
            </a:r>
            <a:r>
              <a:rPr kumimoji="1" lang="en-US" altLang="zh-CN" sz="2400" b="1">
                <a:effectLst>
                  <a:outerShdw blurRad="38100" dist="38100" dir="2700000" algn="tl">
                    <a:srgbClr val="000000">
                      <a:alpha val="43137"/>
                    </a:srgbClr>
                  </a:outerShdw>
                </a:effectLst>
                <a:latin typeface="Times New Roman" panose="02020603050405020304" pitchFamily="18" charset="0"/>
              </a:rPr>
              <a:t>CY</a:t>
            </a:r>
            <a:r>
              <a:rPr kumimoji="1" lang="zh-CN" altLang="en-US" sz="2400" b="1">
                <a:solidFill>
                  <a:srgbClr val="0066FF"/>
                </a:solidFill>
                <a:effectLst>
                  <a:outerShdw blurRad="38100" dist="38100" dir="2700000" algn="tl">
                    <a:srgbClr val="000000">
                      <a:alpha val="43137"/>
                    </a:srgbClr>
                  </a:outerShdw>
                </a:effectLst>
                <a:latin typeface="Times New Roman" panose="02020603050405020304" pitchFamily="18" charset="0"/>
              </a:rPr>
              <a:t>判断有无进位或借位</a:t>
            </a:r>
            <a:r>
              <a:rPr kumimoji="1" lang="zh-CN" altLang="en-US" sz="2400" b="1">
                <a:effectLst>
                  <a:outerShdw blurRad="38100" dist="38100" dir="2700000" algn="tl">
                    <a:srgbClr val="000000">
                      <a:alpha val="43137"/>
                    </a:srgbClr>
                  </a:outerShdw>
                </a:effectLst>
                <a:latin typeface="Times New Roman" panose="02020603050405020304" pitchFamily="18" charset="0"/>
              </a:rPr>
              <a:t>；</a:t>
            </a:r>
          </a:p>
          <a:p>
            <a:pPr eaLnBrk="1" hangingPunct="1">
              <a:spcBef>
                <a:spcPct val="50000"/>
              </a:spcBef>
              <a:buFontTx/>
              <a:buNone/>
              <a:defRPr/>
            </a:pPr>
            <a:r>
              <a:rPr kumimoji="1" lang="en-US" altLang="zh-CN" sz="2400" b="1">
                <a:effectLst>
                  <a:outerShdw blurRad="38100" dist="38100" dir="2700000" algn="tl">
                    <a:srgbClr val="000000">
                      <a:alpha val="43137"/>
                    </a:srgbClr>
                  </a:outerShdw>
                </a:effectLst>
                <a:latin typeface="Times New Roman" panose="02020603050405020304" pitchFamily="18" charset="0"/>
              </a:rPr>
              <a:t>2</a:t>
            </a:r>
            <a:r>
              <a:rPr kumimoji="1" lang="zh-CN" altLang="en-US" sz="2400" b="1">
                <a:effectLst>
                  <a:outerShdw blurRad="38100" dist="38100" dir="2700000" algn="tl">
                    <a:srgbClr val="000000">
                      <a:alpha val="43137"/>
                    </a:srgbClr>
                  </a:outerShdw>
                </a:effectLst>
                <a:latin typeface="Times New Roman" panose="02020603050405020304" pitchFamily="18" charset="0"/>
              </a:rPr>
              <a:t>、可作为位操作中的</a:t>
            </a:r>
            <a:r>
              <a:rPr kumimoji="1" lang="zh-CN" altLang="en-US" sz="2400" b="1">
                <a:solidFill>
                  <a:srgbClr val="0066FF"/>
                </a:solidFill>
                <a:effectLst>
                  <a:outerShdw blurRad="38100" dist="38100" dir="2700000" algn="tl">
                    <a:srgbClr val="000000">
                      <a:alpha val="43137"/>
                    </a:srgbClr>
                  </a:outerShdw>
                </a:effectLst>
                <a:latin typeface="Times New Roman" panose="02020603050405020304" pitchFamily="18" charset="0"/>
              </a:rPr>
              <a:t>位累加器</a:t>
            </a:r>
            <a:r>
              <a:rPr kumimoji="1" lang="zh-CN" altLang="en-US" sz="2400" b="1">
                <a:effectLst>
                  <a:outerShdw blurRad="38100" dist="38100" dir="2700000" algn="tl">
                    <a:srgbClr val="000000">
                      <a:alpha val="43137"/>
                    </a:srgbClr>
                  </a:outerShdw>
                </a:effectLst>
                <a:latin typeface="Times New Roman" panose="02020603050405020304" pitchFamily="18" charset="0"/>
              </a:rPr>
              <a:t>用。</a:t>
            </a:r>
          </a:p>
        </p:txBody>
      </p:sp>
      <p:grpSp>
        <p:nvGrpSpPr>
          <p:cNvPr id="111798" name="Group 182"/>
          <p:cNvGrpSpPr/>
          <p:nvPr/>
        </p:nvGrpSpPr>
        <p:grpSpPr bwMode="auto">
          <a:xfrm>
            <a:off x="744538" y="3810000"/>
            <a:ext cx="3998912" cy="1814513"/>
            <a:chOff x="464" y="2492"/>
            <a:chExt cx="2519" cy="1143"/>
          </a:xfrm>
        </p:grpSpPr>
        <p:grpSp>
          <p:nvGrpSpPr>
            <p:cNvPr id="15367" name="Group 4"/>
            <p:cNvGrpSpPr/>
            <p:nvPr/>
          </p:nvGrpSpPr>
          <p:grpSpPr bwMode="auto">
            <a:xfrm>
              <a:off x="944" y="2492"/>
              <a:ext cx="2039" cy="1143"/>
              <a:chOff x="898" y="2512"/>
              <a:chExt cx="2039" cy="1143"/>
            </a:xfrm>
          </p:grpSpPr>
          <p:sp>
            <p:nvSpPr>
              <p:cNvPr id="14345" name="Text Box 5"/>
              <p:cNvSpPr txBox="1">
                <a:spLocks noChangeArrowheads="1"/>
              </p:cNvSpPr>
              <p:nvPr/>
            </p:nvSpPr>
            <p:spPr bwMode="auto">
              <a:xfrm>
                <a:off x="898" y="2512"/>
                <a:ext cx="2039" cy="750"/>
              </a:xfrm>
              <a:prstGeom prst="rect">
                <a:avLst/>
              </a:prstGeom>
              <a:noFill/>
              <a:ln>
                <a:noFill/>
              </a:ln>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lang="en-US" altLang="zh-CN" sz="1800" b="1">
                    <a:effectLst>
                      <a:outerShdw blurRad="38100" dist="38100" dir="2700000" algn="tl">
                        <a:srgbClr val="000000">
                          <a:alpha val="43137"/>
                        </a:srgbClr>
                      </a:outerShdw>
                    </a:effectLst>
                    <a:latin typeface="Verdana" panose="020B0604030504040204" pitchFamily="34" charset="0"/>
                  </a:rPr>
                  <a:t>             1001 0011          </a:t>
                </a:r>
              </a:p>
              <a:p>
                <a:pPr eaLnBrk="1" hangingPunct="1">
                  <a:spcBef>
                    <a:spcPct val="0"/>
                  </a:spcBef>
                  <a:buFontTx/>
                  <a:buNone/>
                  <a:defRPr/>
                </a:pPr>
                <a:r>
                  <a:rPr lang="en-US" altLang="zh-CN" sz="1800" b="1">
                    <a:effectLst>
                      <a:outerShdw blurRad="38100" dist="38100" dir="2700000" algn="tl">
                        <a:srgbClr val="000000">
                          <a:alpha val="43137"/>
                        </a:srgbClr>
                      </a:outerShdw>
                    </a:effectLst>
                    <a:latin typeface="Verdana" panose="020B0604030504040204" pitchFamily="34" charset="0"/>
                  </a:rPr>
                  <a:t>          + 1111 0000</a:t>
                </a:r>
              </a:p>
              <a:p>
                <a:pPr eaLnBrk="1" hangingPunct="1">
                  <a:spcBef>
                    <a:spcPct val="0"/>
                  </a:spcBef>
                  <a:buFontTx/>
                  <a:buNone/>
                  <a:defRPr/>
                </a:pPr>
                <a:r>
                  <a:rPr lang="en-US" altLang="zh-CN" sz="1800" b="1">
                    <a:effectLst>
                      <a:outerShdw blurRad="38100" dist="38100" dir="2700000" algn="tl">
                        <a:srgbClr val="000000">
                          <a:alpha val="43137"/>
                        </a:srgbClr>
                      </a:outerShdw>
                    </a:effectLst>
                    <a:latin typeface="Verdana" panose="020B0604030504040204" pitchFamily="34" charset="0"/>
                  </a:rPr>
                  <a:t>        </a:t>
                </a:r>
                <a:r>
                  <a:rPr lang="en-US" altLang="zh-CN" sz="1800" b="1">
                    <a:effectLst>
                      <a:outerShdw blurRad="38100" dist="38100" dir="2700000" algn="tl">
                        <a:srgbClr val="000000">
                          <a:alpha val="43137"/>
                        </a:srgbClr>
                      </a:outerShdw>
                    </a:effectLst>
                  </a:rPr>
                  <a:t>————————</a:t>
                </a:r>
                <a:endParaRPr lang="en-US" altLang="zh-CN" sz="1800" b="1">
                  <a:effectLst>
                    <a:outerShdw blurRad="38100" dist="38100" dir="2700000" algn="tl">
                      <a:srgbClr val="000000">
                        <a:alpha val="43137"/>
                      </a:srgbClr>
                    </a:outerShdw>
                  </a:effectLst>
                  <a:latin typeface="Verdana" panose="020B0604030504040204" pitchFamily="34" charset="0"/>
                </a:endParaRPr>
              </a:p>
              <a:p>
                <a:pPr eaLnBrk="1" hangingPunct="1">
                  <a:spcBef>
                    <a:spcPct val="0"/>
                  </a:spcBef>
                  <a:buFontTx/>
                  <a:buNone/>
                  <a:defRPr/>
                </a:pPr>
                <a:r>
                  <a:rPr lang="en-US" altLang="zh-CN" sz="1800" b="1">
                    <a:effectLst>
                      <a:outerShdw blurRad="38100" dist="38100" dir="2700000" algn="tl">
                        <a:srgbClr val="000000">
                          <a:alpha val="43137"/>
                        </a:srgbClr>
                      </a:outerShdw>
                    </a:effectLst>
                    <a:latin typeface="Verdana" panose="020B0604030504040204" pitchFamily="34" charset="0"/>
                  </a:rPr>
                  <a:t>   CY= </a:t>
                </a:r>
                <a:r>
                  <a:rPr lang="en-US" altLang="zh-CN" sz="1800" b="1">
                    <a:solidFill>
                      <a:srgbClr val="FF3300"/>
                    </a:solidFill>
                    <a:effectLst>
                      <a:outerShdw blurRad="38100" dist="38100" dir="2700000" algn="tl">
                        <a:srgbClr val="000000">
                          <a:alpha val="43137"/>
                        </a:srgbClr>
                      </a:outerShdw>
                    </a:effectLst>
                    <a:latin typeface="Verdana" panose="020B0604030504040204" pitchFamily="34" charset="0"/>
                  </a:rPr>
                  <a:t>1</a:t>
                </a:r>
                <a:r>
                  <a:rPr lang="en-US" altLang="zh-CN" sz="1800" b="1">
                    <a:effectLst>
                      <a:outerShdw blurRad="38100" dist="38100" dir="2700000" algn="tl">
                        <a:srgbClr val="000000">
                          <a:alpha val="43137"/>
                        </a:srgbClr>
                      </a:outerShdw>
                    </a:effectLst>
                    <a:latin typeface="Verdana" panose="020B0604030504040204" pitchFamily="34" charset="0"/>
                  </a:rPr>
                  <a:t> 1000 0011</a:t>
                </a:r>
              </a:p>
            </p:txBody>
          </p:sp>
          <p:sp>
            <p:nvSpPr>
              <p:cNvPr id="14346" name="Line 6"/>
              <p:cNvSpPr>
                <a:spLocks noChangeShapeType="1"/>
              </p:cNvSpPr>
              <p:nvPr/>
            </p:nvSpPr>
            <p:spPr bwMode="auto">
              <a:xfrm flipV="1">
                <a:off x="1542" y="3251"/>
                <a:ext cx="0" cy="299"/>
              </a:xfrm>
              <a:prstGeom prst="line">
                <a:avLst/>
              </a:prstGeom>
              <a:noFill/>
              <a:ln w="9525">
                <a:solidFill>
                  <a:schemeClr val="tx1"/>
                </a:solidFill>
                <a:round/>
                <a:tailEnd type="triangle" w="med" len="med"/>
              </a:ln>
            </p:spPr>
            <p:txBody>
              <a:bodyPr/>
              <a:lstStyle/>
              <a:p>
                <a:pPr eaLnBrk="1" hangingPunct="1">
                  <a:defRPr/>
                </a:pPr>
                <a:endParaRPr lang="zh-CN" altLang="en-US" b="1">
                  <a:effectLst>
                    <a:outerShdw blurRad="38100" dist="38100" dir="2700000" algn="tl">
                      <a:srgbClr val="000000">
                        <a:alpha val="43137"/>
                      </a:srgbClr>
                    </a:outerShdw>
                  </a:effectLst>
                </a:endParaRPr>
              </a:p>
            </p:txBody>
          </p:sp>
          <p:sp>
            <p:nvSpPr>
              <p:cNvPr id="14347" name="Text Box 7"/>
              <p:cNvSpPr txBox="1">
                <a:spLocks noChangeArrowheads="1"/>
              </p:cNvSpPr>
              <p:nvPr/>
            </p:nvSpPr>
            <p:spPr bwMode="auto">
              <a:xfrm>
                <a:off x="1499" y="3424"/>
                <a:ext cx="1381" cy="231"/>
              </a:xfrm>
              <a:prstGeom prst="rect">
                <a:avLst/>
              </a:prstGeom>
              <a:noFill/>
              <a:ln>
                <a:noFill/>
              </a:ln>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defRPr/>
                </a:pPr>
                <a:r>
                  <a:rPr lang="zh-CN" altLang="en-US" sz="1800" b="1">
                    <a:effectLst>
                      <a:outerShdw blurRad="38100" dist="38100" dir="2700000" algn="tl">
                        <a:srgbClr val="000000">
                          <a:alpha val="43137"/>
                        </a:srgbClr>
                      </a:outerShdw>
                    </a:effectLst>
                    <a:latin typeface="Verdana" panose="020B0604030504040204" pitchFamily="34" charset="0"/>
                  </a:rPr>
                  <a:t>进位标志位</a:t>
                </a:r>
                <a:r>
                  <a:rPr lang="en-US" altLang="zh-CN" sz="1800" b="1">
                    <a:effectLst>
                      <a:outerShdw blurRad="38100" dist="38100" dir="2700000" algn="tl">
                        <a:srgbClr val="000000">
                          <a:alpha val="43137"/>
                        </a:srgbClr>
                      </a:outerShdw>
                    </a:effectLst>
                    <a:latin typeface="Verdana" panose="020B0604030504040204" pitchFamily="34" charset="0"/>
                  </a:rPr>
                  <a:t>CY</a:t>
                </a:r>
              </a:p>
            </p:txBody>
          </p:sp>
        </p:grpSp>
        <p:sp>
          <p:nvSpPr>
            <p:cNvPr id="14344" name="Text Box 146"/>
            <p:cNvSpPr txBox="1">
              <a:spLocks noChangeArrowheads="1"/>
            </p:cNvSpPr>
            <p:nvPr/>
          </p:nvSpPr>
          <p:spPr bwMode="auto">
            <a:xfrm>
              <a:off x="464" y="2578"/>
              <a:ext cx="658" cy="288"/>
            </a:xfrm>
            <a:prstGeom prst="rect">
              <a:avLst/>
            </a:prstGeom>
            <a:noFill/>
            <a:ln>
              <a:noFill/>
            </a:ln>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defRPr/>
              </a:pPr>
              <a:r>
                <a:rPr kumimoji="1" lang="zh-CN" altLang="en-US" sz="2400" b="1">
                  <a:solidFill>
                    <a:srgbClr val="CC0000"/>
                  </a:solidFill>
                  <a:effectLst>
                    <a:outerShdw blurRad="38100" dist="38100" dir="2700000" algn="tl">
                      <a:srgbClr val="000000">
                        <a:alpha val="43137"/>
                      </a:srgbClr>
                    </a:outerShdw>
                  </a:effectLst>
                  <a:latin typeface="Times New Roman" panose="02020603050405020304" pitchFamily="18" charset="0"/>
                </a:rPr>
                <a:t>举例</a:t>
              </a:r>
            </a:p>
          </p:txBody>
        </p:sp>
      </p:grpSp>
      <p:sp>
        <p:nvSpPr>
          <p:cNvPr id="116" name="Rectangle 2"/>
          <p:cNvSpPr>
            <a:spLocks noChangeArrowheads="1"/>
          </p:cNvSpPr>
          <p:nvPr/>
        </p:nvSpPr>
        <p:spPr bwMode="auto">
          <a:xfrm>
            <a:off x="5364163" y="331788"/>
            <a:ext cx="3509962" cy="338137"/>
          </a:xfrm>
          <a:prstGeom prst="rect">
            <a:avLst/>
          </a:prstGeom>
          <a:noFill/>
          <a:ln>
            <a:noFill/>
          </a:ln>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defRPr/>
            </a:pPr>
            <a:r>
              <a:rPr kumimoji="1" lang="en-US" altLang="zh-CN"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2.1</a:t>
            </a: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 单片机的基本结构</a:t>
            </a:r>
            <a:endParaRPr kumimoji="1" lang="zh-CN" altLang="en-US" sz="24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1618"/>
                                        </p:tgtEl>
                                        <p:attrNameLst>
                                          <p:attrName>style.visibility</p:attrName>
                                        </p:attrNameLst>
                                      </p:cBhvr>
                                      <p:to>
                                        <p:strVal val="visible"/>
                                      </p:to>
                                    </p:set>
                                    <p:animEffect transition="in" filter="blinds(horizontal)">
                                      <p:cBhvr>
                                        <p:cTn id="7" dur="500"/>
                                        <p:tgtEl>
                                          <p:spTgt spid="11161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1798"/>
                                        </p:tgtEl>
                                        <p:attrNameLst>
                                          <p:attrName>style.visibility</p:attrName>
                                        </p:attrNameLst>
                                      </p:cBhvr>
                                      <p:to>
                                        <p:strVal val="visible"/>
                                      </p:to>
                                    </p:set>
                                    <p:animEffect transition="in" filter="blinds(horizontal)">
                                      <p:cBhvr>
                                        <p:cTn id="12" dur="500"/>
                                        <p:tgtEl>
                                          <p:spTgt spid="11179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1621"/>
                                        </p:tgtEl>
                                        <p:attrNameLst>
                                          <p:attrName>style.visibility</p:attrName>
                                        </p:attrNameLst>
                                      </p:cBhvr>
                                      <p:to>
                                        <p:strVal val="visible"/>
                                      </p:to>
                                    </p:set>
                                    <p:animEffect transition="in" filter="blinds(horizontal)">
                                      <p:cBhvr>
                                        <p:cTn id="17" dur="500"/>
                                        <p:tgtEl>
                                          <p:spTgt spid="1116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8" grpId="0"/>
      <p:bldP spid="11162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p:cNvSpPr>
            <a:spLocks noChangeArrowheads="1"/>
          </p:cNvSpPr>
          <p:nvPr/>
        </p:nvSpPr>
        <p:spPr bwMode="auto">
          <a:xfrm>
            <a:off x="677863" y="2359025"/>
            <a:ext cx="8004175" cy="1349375"/>
          </a:xfrm>
          <a:prstGeom prst="rect">
            <a:avLst/>
          </a:prstGeom>
          <a:noFill/>
          <a:ln>
            <a:noFill/>
          </a:ln>
        </p:spPr>
        <p:txBody>
          <a:bodyPr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2400" b="1">
                <a:solidFill>
                  <a:srgbClr val="CC0000"/>
                </a:solidFill>
                <a:effectLst>
                  <a:outerShdw blurRad="38100" dist="38100" dir="2700000" algn="tl">
                    <a:srgbClr val="000000">
                      <a:alpha val="43137"/>
                    </a:srgbClr>
                  </a:outerShdw>
                </a:effectLst>
                <a:latin typeface="Times New Roman" panose="02020603050405020304" pitchFamily="18" charset="0"/>
              </a:rPr>
              <a:t> AC</a:t>
            </a:r>
            <a:r>
              <a:rPr kumimoji="1" lang="zh-CN" altLang="en-US" sz="2400" b="1">
                <a:solidFill>
                  <a:srgbClr val="CC0000"/>
                </a:solidFill>
                <a:effectLst>
                  <a:outerShdw blurRad="38100" dist="38100" dir="2700000" algn="tl">
                    <a:srgbClr val="000000">
                      <a:alpha val="43137"/>
                    </a:srgbClr>
                  </a:outerShdw>
                </a:effectLst>
                <a:latin typeface="Times New Roman" panose="02020603050405020304" pitchFamily="18" charset="0"/>
              </a:rPr>
              <a:t>（</a:t>
            </a:r>
            <a:r>
              <a:rPr kumimoji="1" lang="en-US" altLang="zh-CN" sz="2400" b="1">
                <a:solidFill>
                  <a:srgbClr val="CC0000"/>
                </a:solidFill>
                <a:effectLst>
                  <a:outerShdw blurRad="38100" dist="38100" dir="2700000" algn="tl">
                    <a:srgbClr val="000000">
                      <a:alpha val="43137"/>
                    </a:srgbClr>
                  </a:outerShdw>
                </a:effectLst>
                <a:latin typeface="Times New Roman" panose="02020603050405020304" pitchFamily="18" charset="0"/>
              </a:rPr>
              <a:t>PSW.6</a:t>
            </a:r>
            <a:r>
              <a:rPr kumimoji="1" lang="zh-CN" altLang="en-US" sz="2400" b="1">
                <a:solidFill>
                  <a:srgbClr val="CC0000"/>
                </a:solidFill>
                <a:effectLst>
                  <a:outerShdw blurRad="38100" dist="38100" dir="2700000" algn="tl">
                    <a:srgbClr val="000000">
                      <a:alpha val="43137"/>
                    </a:srgbClr>
                  </a:outerShdw>
                </a:effectLst>
                <a:latin typeface="Times New Roman" panose="02020603050405020304" pitchFamily="18" charset="0"/>
              </a:rPr>
              <a:t>）</a:t>
            </a:r>
            <a:r>
              <a:rPr kumimoji="1" lang="en-US" altLang="zh-CN" sz="2400" b="1">
                <a:effectLst>
                  <a:outerShdw blurRad="38100" dist="38100" dir="2700000" algn="tl">
                    <a:srgbClr val="000000">
                      <a:alpha val="43137"/>
                    </a:srgbClr>
                  </a:outerShdw>
                </a:effectLst>
                <a:latin typeface="Times New Roman" panose="02020603050405020304" pitchFamily="18" charset="0"/>
              </a:rPr>
              <a:t>——</a:t>
            </a:r>
            <a:r>
              <a:rPr kumimoji="1" lang="zh-CN" altLang="en-US" sz="2400" b="1">
                <a:effectLst>
                  <a:outerShdw blurRad="38100" dist="38100" dir="2700000" algn="tl">
                    <a:srgbClr val="000000">
                      <a:alpha val="43137"/>
                    </a:srgbClr>
                  </a:outerShdw>
                </a:effectLst>
                <a:latin typeface="Times New Roman" panose="02020603050405020304" pitchFamily="18" charset="0"/>
              </a:rPr>
              <a:t>辅助进位标志</a:t>
            </a:r>
          </a:p>
          <a:p>
            <a:pPr eaLnBrk="1" hangingPunct="1">
              <a:spcBef>
                <a:spcPct val="40000"/>
              </a:spcBef>
              <a:buFontTx/>
              <a:buNone/>
              <a:defRPr/>
            </a:pPr>
            <a:r>
              <a:rPr kumimoji="1" lang="zh-CN" altLang="en-US" sz="2400" b="1">
                <a:effectLst>
                  <a:outerShdw blurRad="38100" dist="38100" dir="2700000" algn="tl">
                    <a:srgbClr val="000000">
                      <a:alpha val="43137"/>
                    </a:srgbClr>
                  </a:outerShdw>
                </a:effectLst>
                <a:latin typeface="Times New Roman" panose="02020603050405020304" pitchFamily="18" charset="0"/>
              </a:rPr>
              <a:t>在进行</a:t>
            </a:r>
            <a:r>
              <a:rPr kumimoji="1" lang="zh-CN" altLang="en-US" sz="2400" b="1">
                <a:solidFill>
                  <a:srgbClr val="CC0000"/>
                </a:solidFill>
                <a:effectLst>
                  <a:outerShdw blurRad="38100" dist="38100" dir="2700000" algn="tl">
                    <a:srgbClr val="000000">
                      <a:alpha val="43137"/>
                    </a:srgbClr>
                  </a:outerShdw>
                </a:effectLst>
                <a:latin typeface="Times New Roman" panose="02020603050405020304" pitchFamily="18" charset="0"/>
              </a:rPr>
              <a:t>加</a:t>
            </a:r>
            <a:r>
              <a:rPr kumimoji="1" lang="zh-CN" altLang="en-US" sz="2400" b="1">
                <a:effectLst>
                  <a:outerShdw blurRad="38100" dist="38100" dir="2700000" algn="tl">
                    <a:srgbClr val="000000">
                      <a:alpha val="43137"/>
                    </a:srgbClr>
                  </a:outerShdw>
                </a:effectLst>
                <a:latin typeface="Times New Roman" panose="02020603050405020304" pitchFamily="18" charset="0"/>
              </a:rPr>
              <a:t>或</a:t>
            </a:r>
            <a:r>
              <a:rPr kumimoji="1" lang="zh-CN" altLang="en-US" sz="2400" b="1">
                <a:solidFill>
                  <a:srgbClr val="CC0000"/>
                </a:solidFill>
                <a:effectLst>
                  <a:outerShdw blurRad="38100" dist="38100" dir="2700000" algn="tl">
                    <a:srgbClr val="000000">
                      <a:alpha val="43137"/>
                    </a:srgbClr>
                  </a:outerShdw>
                </a:effectLst>
                <a:latin typeface="Times New Roman" panose="02020603050405020304" pitchFamily="18" charset="0"/>
              </a:rPr>
              <a:t>减运算</a:t>
            </a:r>
            <a:r>
              <a:rPr kumimoji="1" lang="zh-CN" altLang="en-US" sz="2400" b="1">
                <a:effectLst>
                  <a:outerShdw blurRad="38100" dist="38100" dir="2700000" algn="tl">
                    <a:srgbClr val="000000">
                      <a:alpha val="43137"/>
                    </a:srgbClr>
                  </a:outerShdw>
                </a:effectLst>
                <a:latin typeface="Times New Roman" panose="02020603050405020304" pitchFamily="18" charset="0"/>
              </a:rPr>
              <a:t>时，如果操作结果的低四位数向高四位产生进位或借位时，将由硬件置“</a:t>
            </a:r>
            <a:r>
              <a:rPr kumimoji="1" lang="en-US" altLang="zh-CN" sz="2400" b="1">
                <a:effectLst>
                  <a:outerShdw blurRad="38100" dist="38100" dir="2700000" algn="tl">
                    <a:srgbClr val="000000">
                      <a:alpha val="43137"/>
                    </a:srgbClr>
                  </a:outerShdw>
                </a:effectLst>
                <a:latin typeface="Times New Roman" panose="02020603050405020304" pitchFamily="18" charset="0"/>
              </a:rPr>
              <a:t>1”</a:t>
            </a:r>
            <a:r>
              <a:rPr kumimoji="1" lang="zh-CN" altLang="en-US" sz="2400" b="1">
                <a:effectLst>
                  <a:outerShdw blurRad="38100" dist="38100" dir="2700000" algn="tl">
                    <a:srgbClr val="000000">
                      <a:alpha val="43137"/>
                    </a:srgbClr>
                  </a:outerShdw>
                </a:effectLst>
                <a:latin typeface="Times New Roman" panose="02020603050405020304" pitchFamily="18" charset="0"/>
              </a:rPr>
              <a:t>，否则清“</a:t>
            </a:r>
            <a:r>
              <a:rPr kumimoji="1" lang="en-US" altLang="zh-CN" sz="2400" b="1">
                <a:effectLst>
                  <a:outerShdw blurRad="38100" dist="38100" dir="2700000" algn="tl">
                    <a:srgbClr val="000000">
                      <a:alpha val="43137"/>
                    </a:srgbClr>
                  </a:outerShdw>
                </a:effectLst>
                <a:latin typeface="Times New Roman" panose="02020603050405020304" pitchFamily="18" charset="0"/>
              </a:rPr>
              <a:t>0”</a:t>
            </a:r>
            <a:r>
              <a:rPr kumimoji="1" lang="zh-CN" altLang="en-US" sz="2400" b="1">
                <a:effectLst>
                  <a:outerShdw blurRad="38100" dist="38100" dir="2700000" algn="tl">
                    <a:srgbClr val="000000">
                      <a:alpha val="43137"/>
                    </a:srgbClr>
                  </a:outerShdw>
                </a:effectLst>
                <a:latin typeface="Times New Roman" panose="02020603050405020304" pitchFamily="18" charset="0"/>
              </a:rPr>
              <a:t>。</a:t>
            </a:r>
          </a:p>
        </p:txBody>
      </p:sp>
      <p:grpSp>
        <p:nvGrpSpPr>
          <p:cNvPr id="16387" name="Group 4"/>
          <p:cNvGrpSpPr/>
          <p:nvPr/>
        </p:nvGrpSpPr>
        <p:grpSpPr bwMode="auto">
          <a:xfrm>
            <a:off x="1330325" y="4030663"/>
            <a:ext cx="2951163" cy="1701800"/>
            <a:chOff x="1583" y="2323"/>
            <a:chExt cx="1859" cy="1072"/>
          </a:xfrm>
        </p:grpSpPr>
        <p:sp>
          <p:nvSpPr>
            <p:cNvPr id="15472" name="Text Box 5"/>
            <p:cNvSpPr txBox="1">
              <a:spLocks noChangeArrowheads="1"/>
            </p:cNvSpPr>
            <p:nvPr/>
          </p:nvSpPr>
          <p:spPr bwMode="auto">
            <a:xfrm>
              <a:off x="1583" y="2323"/>
              <a:ext cx="1859" cy="750"/>
            </a:xfrm>
            <a:prstGeom prst="rect">
              <a:avLst/>
            </a:prstGeom>
            <a:noFill/>
            <a:ln>
              <a:noFill/>
            </a:ln>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lang="en-US" altLang="zh-CN" sz="1800" b="1">
                  <a:effectLst>
                    <a:outerShdw blurRad="38100" dist="38100" dir="2700000" algn="tl">
                      <a:srgbClr val="000000">
                        <a:alpha val="43137"/>
                      </a:srgbClr>
                    </a:outerShdw>
                  </a:effectLst>
                  <a:latin typeface="Verdana" panose="020B0604030504040204" pitchFamily="34" charset="0"/>
                </a:rPr>
                <a:t>              0100 1111</a:t>
              </a:r>
            </a:p>
            <a:p>
              <a:pPr eaLnBrk="1" hangingPunct="1">
                <a:spcBef>
                  <a:spcPct val="0"/>
                </a:spcBef>
                <a:buFontTx/>
                <a:buNone/>
                <a:defRPr/>
              </a:pPr>
              <a:r>
                <a:rPr lang="en-US" altLang="zh-CN" sz="1800" b="1">
                  <a:effectLst>
                    <a:outerShdw blurRad="38100" dist="38100" dir="2700000" algn="tl">
                      <a:srgbClr val="000000">
                        <a:alpha val="43137"/>
                      </a:srgbClr>
                    </a:outerShdw>
                  </a:effectLst>
                  <a:latin typeface="Verdana" panose="020B0604030504040204" pitchFamily="34" charset="0"/>
                </a:rPr>
                <a:t>          +  1010 0001</a:t>
              </a:r>
            </a:p>
            <a:p>
              <a:pPr eaLnBrk="1" hangingPunct="1">
                <a:spcBef>
                  <a:spcPct val="0"/>
                </a:spcBef>
                <a:buFontTx/>
                <a:buNone/>
                <a:defRPr/>
              </a:pPr>
              <a:r>
                <a:rPr lang="en-US" altLang="zh-CN" sz="1800" b="1">
                  <a:effectLst>
                    <a:outerShdw blurRad="38100" dist="38100" dir="2700000" algn="tl">
                      <a:srgbClr val="000000">
                        <a:alpha val="43137"/>
                      </a:srgbClr>
                    </a:outerShdw>
                  </a:effectLst>
                  <a:latin typeface="Verdana" panose="020B0604030504040204" pitchFamily="34" charset="0"/>
                </a:rPr>
                <a:t>        </a:t>
              </a:r>
              <a:r>
                <a:rPr lang="en-US" altLang="zh-CN" sz="1800" b="1">
                  <a:effectLst>
                    <a:outerShdw blurRad="38100" dist="38100" dir="2700000" algn="tl">
                      <a:srgbClr val="000000">
                        <a:alpha val="43137"/>
                      </a:srgbClr>
                    </a:outerShdw>
                  </a:effectLst>
                </a:rPr>
                <a:t>————————</a:t>
              </a:r>
              <a:endParaRPr lang="en-US" altLang="zh-CN" sz="1800" b="1">
                <a:effectLst>
                  <a:outerShdw blurRad="38100" dist="38100" dir="2700000" algn="tl">
                    <a:srgbClr val="000000">
                      <a:alpha val="43137"/>
                    </a:srgbClr>
                  </a:outerShdw>
                </a:effectLst>
                <a:latin typeface="Verdana" panose="020B0604030504040204" pitchFamily="34" charset="0"/>
              </a:endParaRPr>
            </a:p>
            <a:p>
              <a:pPr eaLnBrk="1" hangingPunct="1">
                <a:spcBef>
                  <a:spcPct val="0"/>
                </a:spcBef>
                <a:buFontTx/>
                <a:buNone/>
                <a:defRPr/>
              </a:pPr>
              <a:r>
                <a:rPr lang="en-US" altLang="zh-CN" sz="1800" b="1">
                  <a:effectLst>
                    <a:outerShdw blurRad="38100" dist="38100" dir="2700000" algn="tl">
                      <a:srgbClr val="000000">
                        <a:alpha val="43137"/>
                      </a:srgbClr>
                    </a:outerShdw>
                  </a:effectLst>
                  <a:latin typeface="Verdana" panose="020B0604030504040204" pitchFamily="34" charset="0"/>
                </a:rPr>
                <a:t>AC=1      111</a:t>
              </a:r>
              <a:r>
                <a:rPr lang="en-US" altLang="zh-CN" sz="1800" b="1">
                  <a:solidFill>
                    <a:srgbClr val="FF3300"/>
                  </a:solidFill>
                  <a:effectLst>
                    <a:outerShdw blurRad="38100" dist="38100" dir="2700000" algn="tl">
                      <a:srgbClr val="000000">
                        <a:alpha val="43137"/>
                      </a:srgbClr>
                    </a:outerShdw>
                  </a:effectLst>
                  <a:latin typeface="Verdana" panose="020B0604030504040204" pitchFamily="34" charset="0"/>
                </a:rPr>
                <a:t>1</a:t>
              </a:r>
              <a:r>
                <a:rPr lang="en-US" altLang="zh-CN" sz="1800" b="1">
                  <a:effectLst>
                    <a:outerShdw blurRad="38100" dist="38100" dir="2700000" algn="tl">
                      <a:srgbClr val="000000">
                        <a:alpha val="43137"/>
                      </a:srgbClr>
                    </a:outerShdw>
                  </a:effectLst>
                  <a:latin typeface="Verdana" panose="020B0604030504040204" pitchFamily="34" charset="0"/>
                </a:rPr>
                <a:t> 0000</a:t>
              </a:r>
            </a:p>
          </p:txBody>
        </p:sp>
        <p:sp>
          <p:nvSpPr>
            <p:cNvPr id="15473" name="Line 6"/>
            <p:cNvSpPr>
              <a:spLocks noChangeShapeType="1"/>
            </p:cNvSpPr>
            <p:nvPr/>
          </p:nvSpPr>
          <p:spPr bwMode="auto">
            <a:xfrm flipV="1">
              <a:off x="2748" y="3053"/>
              <a:ext cx="0" cy="292"/>
            </a:xfrm>
            <a:prstGeom prst="line">
              <a:avLst/>
            </a:prstGeom>
            <a:noFill/>
            <a:ln w="9525">
              <a:solidFill>
                <a:schemeClr val="tx1"/>
              </a:solidFill>
              <a:round/>
              <a:tailEnd type="triangle" w="med" len="med"/>
            </a:ln>
          </p:spPr>
          <p:txBody>
            <a:bodyPr/>
            <a:lstStyle/>
            <a:p>
              <a:pPr eaLnBrk="1" hangingPunct="1">
                <a:defRPr/>
              </a:pPr>
              <a:endParaRPr lang="zh-CN" altLang="en-US" b="1">
                <a:effectLst>
                  <a:outerShdw blurRad="38100" dist="38100" dir="2700000" algn="tl">
                    <a:srgbClr val="000000">
                      <a:alpha val="43137"/>
                    </a:srgbClr>
                  </a:outerShdw>
                </a:effectLst>
              </a:endParaRPr>
            </a:p>
          </p:txBody>
        </p:sp>
        <p:sp>
          <p:nvSpPr>
            <p:cNvPr id="15474" name="Text Box 7"/>
            <p:cNvSpPr txBox="1">
              <a:spLocks noChangeArrowheads="1"/>
            </p:cNvSpPr>
            <p:nvPr/>
          </p:nvSpPr>
          <p:spPr bwMode="auto">
            <a:xfrm>
              <a:off x="2644" y="3164"/>
              <a:ext cx="606" cy="231"/>
            </a:xfrm>
            <a:prstGeom prst="rect">
              <a:avLst/>
            </a:prstGeom>
            <a:noFill/>
            <a:ln>
              <a:noFill/>
            </a:ln>
          </p:spPr>
          <p:txBody>
            <a:bodyPr wrap="squar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FontTx/>
                <a:buNone/>
                <a:defRPr/>
              </a:pPr>
              <a:r>
                <a:rPr lang="zh-CN" altLang="en-US" sz="1800" b="1" dirty="0">
                  <a:effectLst>
                    <a:outerShdw blurRad="38100" dist="38100" dir="2700000" algn="tl">
                      <a:srgbClr val="000000">
                        <a:alpha val="43137"/>
                      </a:srgbClr>
                    </a:outerShdw>
                  </a:effectLst>
                  <a:latin typeface="Verdana" panose="020B0604030504040204" pitchFamily="34" charset="0"/>
                </a:rPr>
                <a:t>半进位</a:t>
              </a:r>
            </a:p>
          </p:txBody>
        </p:sp>
      </p:grpSp>
      <p:sp>
        <p:nvSpPr>
          <p:cNvPr id="15364" name="Text Box 145"/>
          <p:cNvSpPr txBox="1">
            <a:spLocks noChangeArrowheads="1"/>
          </p:cNvSpPr>
          <p:nvPr/>
        </p:nvSpPr>
        <p:spPr bwMode="auto">
          <a:xfrm>
            <a:off x="692150" y="4035425"/>
            <a:ext cx="1044575" cy="457200"/>
          </a:xfrm>
          <a:prstGeom prst="rect">
            <a:avLst/>
          </a:prstGeom>
          <a:noFill/>
          <a:ln>
            <a:noFill/>
          </a:ln>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defRPr/>
            </a:pPr>
            <a:r>
              <a:rPr kumimoji="1" lang="zh-CN" altLang="en-US" sz="2400" b="1">
                <a:solidFill>
                  <a:srgbClr val="CC0000"/>
                </a:solidFill>
                <a:effectLst>
                  <a:outerShdw blurRad="38100" dist="38100" dir="2700000" algn="tl">
                    <a:srgbClr val="000000">
                      <a:alpha val="43137"/>
                    </a:srgbClr>
                  </a:outerShdw>
                </a:effectLst>
                <a:latin typeface="Times New Roman" panose="02020603050405020304" pitchFamily="18" charset="0"/>
              </a:rPr>
              <a:t>举例</a:t>
            </a:r>
          </a:p>
        </p:txBody>
      </p:sp>
      <p:sp>
        <p:nvSpPr>
          <p:cNvPr id="15365" name="Text Box 146"/>
          <p:cNvSpPr txBox="1">
            <a:spLocks noChangeArrowheads="1"/>
          </p:cNvSpPr>
          <p:nvPr/>
        </p:nvSpPr>
        <p:spPr bwMode="auto">
          <a:xfrm>
            <a:off x="4700588" y="3957638"/>
            <a:ext cx="4156075" cy="1754187"/>
          </a:xfrm>
          <a:prstGeom prst="rect">
            <a:avLst/>
          </a:prstGeom>
          <a:noFill/>
          <a:ln>
            <a:noFill/>
          </a:ln>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defRPr/>
            </a:pPr>
            <a:r>
              <a:rPr kumimoji="1" lang="zh-CN" altLang="en-US" sz="2400" b="1">
                <a:solidFill>
                  <a:srgbClr val="CC0000"/>
                </a:solidFill>
                <a:effectLst>
                  <a:outerShdw blurRad="38100" dist="38100" dir="2700000" algn="tl">
                    <a:srgbClr val="000000">
                      <a:alpha val="43137"/>
                    </a:srgbClr>
                  </a:outerShdw>
                </a:effectLst>
                <a:latin typeface="Times New Roman" panose="02020603050405020304" pitchFamily="18" charset="0"/>
              </a:rPr>
              <a:t>用途</a:t>
            </a:r>
            <a:r>
              <a:rPr kumimoji="1" lang="zh-CN" altLang="en-US" sz="2400" b="1">
                <a:effectLst>
                  <a:outerShdw blurRad="38100" dist="38100" dir="2700000" algn="tl">
                    <a:srgbClr val="000000">
                      <a:alpha val="43137"/>
                    </a:srgbClr>
                  </a:outerShdw>
                </a:effectLst>
                <a:latin typeface="Times New Roman" panose="02020603050405020304" pitchFamily="18" charset="0"/>
              </a:rPr>
              <a:t>：</a:t>
            </a:r>
            <a:r>
              <a:rPr kumimoji="1" lang="en-US" altLang="zh-CN" sz="2400" b="1">
                <a:effectLst>
                  <a:outerShdw blurRad="38100" dist="38100" dir="2700000" algn="tl">
                    <a:srgbClr val="000000">
                      <a:alpha val="43137"/>
                    </a:srgbClr>
                  </a:outerShdw>
                </a:effectLst>
                <a:latin typeface="Times New Roman" panose="02020603050405020304" pitchFamily="18" charset="0"/>
              </a:rPr>
              <a:t>1</a:t>
            </a:r>
            <a:r>
              <a:rPr kumimoji="1" lang="zh-CN" altLang="en-US" sz="2400" b="1">
                <a:effectLst>
                  <a:outerShdw blurRad="38100" dist="38100" dir="2700000" algn="tl">
                    <a:srgbClr val="000000">
                      <a:alpha val="43137"/>
                    </a:srgbClr>
                  </a:outerShdw>
                </a:effectLst>
                <a:latin typeface="Times New Roman" panose="02020603050405020304" pitchFamily="18" charset="0"/>
              </a:rPr>
              <a:t>、根据</a:t>
            </a:r>
            <a:r>
              <a:rPr kumimoji="1" lang="en-US" altLang="zh-CN" sz="2400" b="1">
                <a:effectLst>
                  <a:outerShdw blurRad="38100" dist="38100" dir="2700000" algn="tl">
                    <a:srgbClr val="000000">
                      <a:alpha val="43137"/>
                    </a:srgbClr>
                  </a:outerShdw>
                </a:effectLst>
                <a:latin typeface="Times New Roman" panose="02020603050405020304" pitchFamily="18" charset="0"/>
              </a:rPr>
              <a:t>AC</a:t>
            </a:r>
            <a:r>
              <a:rPr kumimoji="1" lang="zh-CN" altLang="en-US" sz="2400" b="1">
                <a:effectLst>
                  <a:outerShdw blurRad="38100" dist="38100" dir="2700000" algn="tl">
                    <a:srgbClr val="000000">
                      <a:alpha val="43137"/>
                    </a:srgbClr>
                  </a:outerShdw>
                </a:effectLst>
                <a:latin typeface="Times New Roman" panose="02020603050405020304" pitchFamily="18" charset="0"/>
              </a:rPr>
              <a:t>判断加减运算时有无半进位或半借位；</a:t>
            </a:r>
          </a:p>
          <a:p>
            <a:pPr eaLnBrk="1" hangingPunct="1">
              <a:spcBef>
                <a:spcPct val="50000"/>
              </a:spcBef>
              <a:buFontTx/>
              <a:buNone/>
              <a:defRPr/>
            </a:pPr>
            <a:r>
              <a:rPr kumimoji="1" lang="en-US" altLang="zh-CN" sz="2400" b="1">
                <a:effectLst>
                  <a:outerShdw blurRad="38100" dist="38100" dir="2700000" algn="tl">
                    <a:srgbClr val="000000">
                      <a:alpha val="43137"/>
                    </a:srgbClr>
                  </a:outerShdw>
                </a:effectLst>
                <a:latin typeface="Times New Roman" panose="02020603050405020304" pitchFamily="18" charset="0"/>
              </a:rPr>
              <a:t>2</a:t>
            </a:r>
            <a:r>
              <a:rPr kumimoji="1" lang="zh-CN" altLang="en-US" sz="2400" b="1">
                <a:effectLst>
                  <a:outerShdw blurRad="38100" dist="38100" dir="2700000" algn="tl">
                    <a:srgbClr val="000000">
                      <a:alpha val="43137"/>
                    </a:srgbClr>
                  </a:outerShdw>
                </a:effectLst>
                <a:latin typeface="Times New Roman" panose="02020603050405020304" pitchFamily="18" charset="0"/>
              </a:rPr>
              <a:t>、在</a:t>
            </a:r>
            <a:r>
              <a:rPr kumimoji="1" lang="en-US" altLang="zh-CN" sz="2400" b="1">
                <a:solidFill>
                  <a:srgbClr val="0066FF"/>
                </a:solidFill>
                <a:effectLst>
                  <a:outerShdw blurRad="38100" dist="38100" dir="2700000" algn="tl">
                    <a:srgbClr val="000000">
                      <a:alpha val="43137"/>
                    </a:srgbClr>
                  </a:outerShdw>
                </a:effectLst>
                <a:latin typeface="Times New Roman" panose="02020603050405020304" pitchFamily="18" charset="0"/>
              </a:rPr>
              <a:t>BCD</a:t>
            </a:r>
            <a:r>
              <a:rPr kumimoji="1" lang="zh-CN" altLang="en-US" sz="2400" b="1">
                <a:solidFill>
                  <a:srgbClr val="0066FF"/>
                </a:solidFill>
                <a:effectLst>
                  <a:outerShdw blurRad="38100" dist="38100" dir="2700000" algn="tl">
                    <a:srgbClr val="000000">
                      <a:alpha val="43137"/>
                    </a:srgbClr>
                  </a:outerShdw>
                </a:effectLst>
                <a:latin typeface="Times New Roman" panose="02020603050405020304" pitchFamily="18" charset="0"/>
              </a:rPr>
              <a:t>码调整运算</a:t>
            </a:r>
            <a:r>
              <a:rPr kumimoji="1" lang="zh-CN" altLang="en-US" sz="2400" b="1">
                <a:effectLst>
                  <a:outerShdw blurRad="38100" dist="38100" dir="2700000" algn="tl">
                    <a:srgbClr val="000000">
                      <a:alpha val="43137"/>
                    </a:srgbClr>
                  </a:outerShdw>
                </a:effectLst>
                <a:latin typeface="Times New Roman" panose="02020603050405020304" pitchFamily="18" charset="0"/>
              </a:rPr>
              <a:t>中要用到</a:t>
            </a:r>
            <a:r>
              <a:rPr kumimoji="1" lang="en-US" altLang="zh-CN" sz="2400" b="1">
                <a:effectLst>
                  <a:outerShdw blurRad="38100" dist="38100" dir="2700000" algn="tl">
                    <a:srgbClr val="000000">
                      <a:alpha val="43137"/>
                    </a:srgbClr>
                  </a:outerShdw>
                </a:effectLst>
                <a:latin typeface="Times New Roman" panose="02020603050405020304" pitchFamily="18" charset="0"/>
              </a:rPr>
              <a:t>AC</a:t>
            </a:r>
            <a:r>
              <a:rPr kumimoji="1" lang="zh-CN" altLang="en-US" sz="2400" b="1">
                <a:effectLst>
                  <a:outerShdw blurRad="38100" dist="38100" dir="2700000" algn="tl">
                    <a:srgbClr val="000000">
                      <a:alpha val="43137"/>
                    </a:srgbClr>
                  </a:outerShdw>
                </a:effectLst>
                <a:latin typeface="Times New Roman" panose="02020603050405020304" pitchFamily="18" charset="0"/>
              </a:rPr>
              <a:t>标志</a:t>
            </a:r>
          </a:p>
        </p:txBody>
      </p:sp>
      <p:grpSp>
        <p:nvGrpSpPr>
          <p:cNvPr id="16390" name="Group 162"/>
          <p:cNvGrpSpPr/>
          <p:nvPr/>
        </p:nvGrpSpPr>
        <p:grpSpPr bwMode="auto">
          <a:xfrm>
            <a:off x="633413" y="1185863"/>
            <a:ext cx="7902575" cy="866775"/>
            <a:chOff x="399" y="747"/>
            <a:chExt cx="4978" cy="546"/>
          </a:xfrm>
        </p:grpSpPr>
        <p:sp>
          <p:nvSpPr>
            <p:cNvPr id="15368" name="Rectangle 9"/>
            <p:cNvSpPr>
              <a:spLocks noChangeArrowheads="1"/>
            </p:cNvSpPr>
            <p:nvPr/>
          </p:nvSpPr>
          <p:spPr bwMode="auto">
            <a:xfrm>
              <a:off x="399"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369" name="Rectangle 10"/>
            <p:cNvSpPr>
              <a:spLocks noChangeArrowheads="1"/>
            </p:cNvSpPr>
            <p:nvPr/>
          </p:nvSpPr>
          <p:spPr bwMode="auto">
            <a:xfrm>
              <a:off x="399"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370" name="Rectangle 11"/>
            <p:cNvSpPr>
              <a:spLocks noChangeArrowheads="1"/>
            </p:cNvSpPr>
            <p:nvPr/>
          </p:nvSpPr>
          <p:spPr bwMode="auto">
            <a:xfrm>
              <a:off x="65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CY</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5371" name="Rectangle 12"/>
            <p:cNvSpPr>
              <a:spLocks noChangeArrowheads="1"/>
            </p:cNvSpPr>
            <p:nvPr/>
          </p:nvSpPr>
          <p:spPr bwMode="auto">
            <a:xfrm>
              <a:off x="1022"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372" name="Rectangle 13"/>
            <p:cNvSpPr>
              <a:spLocks noChangeArrowheads="1"/>
            </p:cNvSpPr>
            <p:nvPr/>
          </p:nvSpPr>
          <p:spPr bwMode="auto">
            <a:xfrm>
              <a:off x="1022"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373" name="Rectangle 14"/>
            <p:cNvSpPr>
              <a:spLocks noChangeArrowheads="1"/>
            </p:cNvSpPr>
            <p:nvPr/>
          </p:nvSpPr>
          <p:spPr bwMode="auto">
            <a:xfrm>
              <a:off x="127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AC</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5374" name="Rectangle 15"/>
            <p:cNvSpPr>
              <a:spLocks noChangeArrowheads="1"/>
            </p:cNvSpPr>
            <p:nvPr/>
          </p:nvSpPr>
          <p:spPr bwMode="auto">
            <a:xfrm>
              <a:off x="1644"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375" name="Rectangle 16"/>
            <p:cNvSpPr>
              <a:spLocks noChangeArrowheads="1"/>
            </p:cNvSpPr>
            <p:nvPr/>
          </p:nvSpPr>
          <p:spPr bwMode="auto">
            <a:xfrm>
              <a:off x="1644"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376" name="Rectangle 17"/>
            <p:cNvSpPr>
              <a:spLocks noChangeArrowheads="1"/>
            </p:cNvSpPr>
            <p:nvPr/>
          </p:nvSpPr>
          <p:spPr bwMode="auto">
            <a:xfrm>
              <a:off x="1897"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5377" name="Rectangle 18"/>
            <p:cNvSpPr>
              <a:spLocks noChangeArrowheads="1"/>
            </p:cNvSpPr>
            <p:nvPr/>
          </p:nvSpPr>
          <p:spPr bwMode="auto">
            <a:xfrm>
              <a:off x="2266" y="984"/>
              <a:ext cx="621"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378" name="Rectangle 19"/>
            <p:cNvSpPr>
              <a:spLocks noChangeArrowheads="1"/>
            </p:cNvSpPr>
            <p:nvPr/>
          </p:nvSpPr>
          <p:spPr bwMode="auto">
            <a:xfrm>
              <a:off x="2266" y="984"/>
              <a:ext cx="621"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379" name="Rectangle 20"/>
            <p:cNvSpPr>
              <a:spLocks noChangeArrowheads="1"/>
            </p:cNvSpPr>
            <p:nvPr/>
          </p:nvSpPr>
          <p:spPr bwMode="auto">
            <a:xfrm>
              <a:off x="2488"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5380" name="Rectangle 21"/>
            <p:cNvSpPr>
              <a:spLocks noChangeArrowheads="1"/>
            </p:cNvSpPr>
            <p:nvPr/>
          </p:nvSpPr>
          <p:spPr bwMode="auto">
            <a:xfrm>
              <a:off x="2887"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381" name="Rectangle 22"/>
            <p:cNvSpPr>
              <a:spLocks noChangeArrowheads="1"/>
            </p:cNvSpPr>
            <p:nvPr/>
          </p:nvSpPr>
          <p:spPr bwMode="auto">
            <a:xfrm>
              <a:off x="2887"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382" name="Rectangle 23"/>
            <p:cNvSpPr>
              <a:spLocks noChangeArrowheads="1"/>
            </p:cNvSpPr>
            <p:nvPr/>
          </p:nvSpPr>
          <p:spPr bwMode="auto">
            <a:xfrm>
              <a:off x="3111"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5383" name="Rectangle 24"/>
            <p:cNvSpPr>
              <a:spLocks noChangeArrowheads="1"/>
            </p:cNvSpPr>
            <p:nvPr/>
          </p:nvSpPr>
          <p:spPr bwMode="auto">
            <a:xfrm>
              <a:off x="3510"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384" name="Rectangle 25"/>
            <p:cNvSpPr>
              <a:spLocks noChangeArrowheads="1"/>
            </p:cNvSpPr>
            <p:nvPr/>
          </p:nvSpPr>
          <p:spPr bwMode="auto">
            <a:xfrm>
              <a:off x="3510"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385" name="Rectangle 26"/>
            <p:cNvSpPr>
              <a:spLocks noChangeArrowheads="1"/>
            </p:cNvSpPr>
            <p:nvPr/>
          </p:nvSpPr>
          <p:spPr bwMode="auto">
            <a:xfrm>
              <a:off x="376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OV</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5386" name="Rectangle 27"/>
            <p:cNvSpPr>
              <a:spLocks noChangeArrowheads="1"/>
            </p:cNvSpPr>
            <p:nvPr/>
          </p:nvSpPr>
          <p:spPr bwMode="auto">
            <a:xfrm>
              <a:off x="4132" y="984"/>
              <a:ext cx="622"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387" name="Rectangle 28"/>
            <p:cNvSpPr>
              <a:spLocks noChangeArrowheads="1"/>
            </p:cNvSpPr>
            <p:nvPr/>
          </p:nvSpPr>
          <p:spPr bwMode="auto">
            <a:xfrm>
              <a:off x="4132" y="984"/>
              <a:ext cx="622"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388" name="Rectangle 29"/>
            <p:cNvSpPr>
              <a:spLocks noChangeArrowheads="1"/>
            </p:cNvSpPr>
            <p:nvPr/>
          </p:nvSpPr>
          <p:spPr bwMode="auto">
            <a:xfrm>
              <a:off x="441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5389" name="Rectangle 30"/>
            <p:cNvSpPr>
              <a:spLocks noChangeArrowheads="1"/>
            </p:cNvSpPr>
            <p:nvPr/>
          </p:nvSpPr>
          <p:spPr bwMode="auto">
            <a:xfrm>
              <a:off x="4754" y="984"/>
              <a:ext cx="623"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390" name="Rectangle 31"/>
            <p:cNvSpPr>
              <a:spLocks noChangeArrowheads="1"/>
            </p:cNvSpPr>
            <p:nvPr/>
          </p:nvSpPr>
          <p:spPr bwMode="auto">
            <a:xfrm>
              <a:off x="4754" y="984"/>
              <a:ext cx="623"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391" name="Rectangle 32"/>
            <p:cNvSpPr>
              <a:spLocks noChangeArrowheads="1"/>
            </p:cNvSpPr>
            <p:nvPr/>
          </p:nvSpPr>
          <p:spPr bwMode="auto">
            <a:xfrm>
              <a:off x="5038" y="1117"/>
              <a:ext cx="57"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P</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5392" name="Rectangle 33"/>
            <p:cNvSpPr>
              <a:spLocks noChangeArrowheads="1"/>
            </p:cNvSpPr>
            <p:nvPr/>
          </p:nvSpPr>
          <p:spPr bwMode="auto">
            <a:xfrm>
              <a:off x="399"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393" name="Rectangle 34"/>
            <p:cNvSpPr>
              <a:spLocks noChangeArrowheads="1"/>
            </p:cNvSpPr>
            <p:nvPr/>
          </p:nvSpPr>
          <p:spPr bwMode="auto">
            <a:xfrm>
              <a:off x="399"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394" name="Rectangle 35"/>
            <p:cNvSpPr>
              <a:spLocks noChangeArrowheads="1"/>
            </p:cNvSpPr>
            <p:nvPr/>
          </p:nvSpPr>
          <p:spPr bwMode="auto">
            <a:xfrm>
              <a:off x="65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CY</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5395" name="Rectangle 36"/>
            <p:cNvSpPr>
              <a:spLocks noChangeArrowheads="1"/>
            </p:cNvSpPr>
            <p:nvPr/>
          </p:nvSpPr>
          <p:spPr bwMode="auto">
            <a:xfrm>
              <a:off x="1022"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396" name="Rectangle 37"/>
            <p:cNvSpPr>
              <a:spLocks noChangeArrowheads="1"/>
            </p:cNvSpPr>
            <p:nvPr/>
          </p:nvSpPr>
          <p:spPr bwMode="auto">
            <a:xfrm>
              <a:off x="1022"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397" name="Rectangle 38"/>
            <p:cNvSpPr>
              <a:spLocks noChangeArrowheads="1"/>
            </p:cNvSpPr>
            <p:nvPr/>
          </p:nvSpPr>
          <p:spPr bwMode="auto">
            <a:xfrm>
              <a:off x="127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AC</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5398" name="Rectangle 39"/>
            <p:cNvSpPr>
              <a:spLocks noChangeArrowheads="1"/>
            </p:cNvSpPr>
            <p:nvPr/>
          </p:nvSpPr>
          <p:spPr bwMode="auto">
            <a:xfrm>
              <a:off x="1644"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399" name="Rectangle 40"/>
            <p:cNvSpPr>
              <a:spLocks noChangeArrowheads="1"/>
            </p:cNvSpPr>
            <p:nvPr/>
          </p:nvSpPr>
          <p:spPr bwMode="auto">
            <a:xfrm>
              <a:off x="1644"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00" name="Rectangle 41"/>
            <p:cNvSpPr>
              <a:spLocks noChangeArrowheads="1"/>
            </p:cNvSpPr>
            <p:nvPr/>
          </p:nvSpPr>
          <p:spPr bwMode="auto">
            <a:xfrm>
              <a:off x="1897"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5401" name="Rectangle 42"/>
            <p:cNvSpPr>
              <a:spLocks noChangeArrowheads="1"/>
            </p:cNvSpPr>
            <p:nvPr/>
          </p:nvSpPr>
          <p:spPr bwMode="auto">
            <a:xfrm>
              <a:off x="2266" y="984"/>
              <a:ext cx="621"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02" name="Rectangle 43"/>
            <p:cNvSpPr>
              <a:spLocks noChangeArrowheads="1"/>
            </p:cNvSpPr>
            <p:nvPr/>
          </p:nvSpPr>
          <p:spPr bwMode="auto">
            <a:xfrm>
              <a:off x="2266" y="984"/>
              <a:ext cx="621"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03" name="Rectangle 44"/>
            <p:cNvSpPr>
              <a:spLocks noChangeArrowheads="1"/>
            </p:cNvSpPr>
            <p:nvPr/>
          </p:nvSpPr>
          <p:spPr bwMode="auto">
            <a:xfrm>
              <a:off x="2488"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5404" name="Rectangle 45"/>
            <p:cNvSpPr>
              <a:spLocks noChangeArrowheads="1"/>
            </p:cNvSpPr>
            <p:nvPr/>
          </p:nvSpPr>
          <p:spPr bwMode="auto">
            <a:xfrm>
              <a:off x="2887"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05" name="Rectangle 46"/>
            <p:cNvSpPr>
              <a:spLocks noChangeArrowheads="1"/>
            </p:cNvSpPr>
            <p:nvPr/>
          </p:nvSpPr>
          <p:spPr bwMode="auto">
            <a:xfrm>
              <a:off x="2887"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06" name="Rectangle 47"/>
            <p:cNvSpPr>
              <a:spLocks noChangeArrowheads="1"/>
            </p:cNvSpPr>
            <p:nvPr/>
          </p:nvSpPr>
          <p:spPr bwMode="auto">
            <a:xfrm>
              <a:off x="3111"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5407" name="Rectangle 48"/>
            <p:cNvSpPr>
              <a:spLocks noChangeArrowheads="1"/>
            </p:cNvSpPr>
            <p:nvPr/>
          </p:nvSpPr>
          <p:spPr bwMode="auto">
            <a:xfrm>
              <a:off x="3510"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08" name="Rectangle 49"/>
            <p:cNvSpPr>
              <a:spLocks noChangeArrowheads="1"/>
            </p:cNvSpPr>
            <p:nvPr/>
          </p:nvSpPr>
          <p:spPr bwMode="auto">
            <a:xfrm>
              <a:off x="3510"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09" name="Rectangle 50"/>
            <p:cNvSpPr>
              <a:spLocks noChangeArrowheads="1"/>
            </p:cNvSpPr>
            <p:nvPr/>
          </p:nvSpPr>
          <p:spPr bwMode="auto">
            <a:xfrm>
              <a:off x="376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OV</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5410" name="Rectangle 51"/>
            <p:cNvSpPr>
              <a:spLocks noChangeArrowheads="1"/>
            </p:cNvSpPr>
            <p:nvPr/>
          </p:nvSpPr>
          <p:spPr bwMode="auto">
            <a:xfrm>
              <a:off x="4132" y="984"/>
              <a:ext cx="622"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11" name="Rectangle 52"/>
            <p:cNvSpPr>
              <a:spLocks noChangeArrowheads="1"/>
            </p:cNvSpPr>
            <p:nvPr/>
          </p:nvSpPr>
          <p:spPr bwMode="auto">
            <a:xfrm>
              <a:off x="4132" y="984"/>
              <a:ext cx="622"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12" name="Rectangle 53"/>
            <p:cNvSpPr>
              <a:spLocks noChangeArrowheads="1"/>
            </p:cNvSpPr>
            <p:nvPr/>
          </p:nvSpPr>
          <p:spPr bwMode="auto">
            <a:xfrm>
              <a:off x="441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5413" name="Rectangle 54"/>
            <p:cNvSpPr>
              <a:spLocks noChangeArrowheads="1"/>
            </p:cNvSpPr>
            <p:nvPr/>
          </p:nvSpPr>
          <p:spPr bwMode="auto">
            <a:xfrm>
              <a:off x="4754" y="984"/>
              <a:ext cx="623"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14" name="Rectangle 55"/>
            <p:cNvSpPr>
              <a:spLocks noChangeArrowheads="1"/>
            </p:cNvSpPr>
            <p:nvPr/>
          </p:nvSpPr>
          <p:spPr bwMode="auto">
            <a:xfrm>
              <a:off x="4754" y="984"/>
              <a:ext cx="623"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15" name="Rectangle 56"/>
            <p:cNvSpPr>
              <a:spLocks noChangeArrowheads="1"/>
            </p:cNvSpPr>
            <p:nvPr/>
          </p:nvSpPr>
          <p:spPr bwMode="auto">
            <a:xfrm>
              <a:off x="5038" y="1117"/>
              <a:ext cx="57"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P</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5416" name="Rectangle 73"/>
            <p:cNvSpPr>
              <a:spLocks noChangeArrowheads="1"/>
            </p:cNvSpPr>
            <p:nvPr/>
          </p:nvSpPr>
          <p:spPr bwMode="auto">
            <a:xfrm>
              <a:off x="399"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17" name="Rectangle 74"/>
            <p:cNvSpPr>
              <a:spLocks noChangeArrowheads="1"/>
            </p:cNvSpPr>
            <p:nvPr/>
          </p:nvSpPr>
          <p:spPr bwMode="auto">
            <a:xfrm>
              <a:off x="399"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18" name="Rectangle 75"/>
            <p:cNvSpPr>
              <a:spLocks noChangeArrowheads="1"/>
            </p:cNvSpPr>
            <p:nvPr/>
          </p:nvSpPr>
          <p:spPr bwMode="auto">
            <a:xfrm>
              <a:off x="65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CY</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5419" name="Rectangle 76"/>
            <p:cNvSpPr>
              <a:spLocks noChangeArrowheads="1"/>
            </p:cNvSpPr>
            <p:nvPr/>
          </p:nvSpPr>
          <p:spPr bwMode="auto">
            <a:xfrm>
              <a:off x="1022"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20" name="Rectangle 77"/>
            <p:cNvSpPr>
              <a:spLocks noChangeArrowheads="1"/>
            </p:cNvSpPr>
            <p:nvPr/>
          </p:nvSpPr>
          <p:spPr bwMode="auto">
            <a:xfrm>
              <a:off x="1022"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21" name="Rectangle 78"/>
            <p:cNvSpPr>
              <a:spLocks noChangeArrowheads="1"/>
            </p:cNvSpPr>
            <p:nvPr/>
          </p:nvSpPr>
          <p:spPr bwMode="auto">
            <a:xfrm>
              <a:off x="127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AC</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5422" name="Rectangle 79"/>
            <p:cNvSpPr>
              <a:spLocks noChangeArrowheads="1"/>
            </p:cNvSpPr>
            <p:nvPr/>
          </p:nvSpPr>
          <p:spPr bwMode="auto">
            <a:xfrm>
              <a:off x="1644"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23" name="Rectangle 80"/>
            <p:cNvSpPr>
              <a:spLocks noChangeArrowheads="1"/>
            </p:cNvSpPr>
            <p:nvPr/>
          </p:nvSpPr>
          <p:spPr bwMode="auto">
            <a:xfrm>
              <a:off x="1644"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24" name="Rectangle 81"/>
            <p:cNvSpPr>
              <a:spLocks noChangeArrowheads="1"/>
            </p:cNvSpPr>
            <p:nvPr/>
          </p:nvSpPr>
          <p:spPr bwMode="auto">
            <a:xfrm>
              <a:off x="1897"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5425" name="Rectangle 82"/>
            <p:cNvSpPr>
              <a:spLocks noChangeArrowheads="1"/>
            </p:cNvSpPr>
            <p:nvPr/>
          </p:nvSpPr>
          <p:spPr bwMode="auto">
            <a:xfrm>
              <a:off x="2266" y="984"/>
              <a:ext cx="621"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26" name="Rectangle 83"/>
            <p:cNvSpPr>
              <a:spLocks noChangeArrowheads="1"/>
            </p:cNvSpPr>
            <p:nvPr/>
          </p:nvSpPr>
          <p:spPr bwMode="auto">
            <a:xfrm>
              <a:off x="2266" y="984"/>
              <a:ext cx="621"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27" name="Rectangle 84"/>
            <p:cNvSpPr>
              <a:spLocks noChangeArrowheads="1"/>
            </p:cNvSpPr>
            <p:nvPr/>
          </p:nvSpPr>
          <p:spPr bwMode="auto">
            <a:xfrm>
              <a:off x="2488"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5428" name="Rectangle 85"/>
            <p:cNvSpPr>
              <a:spLocks noChangeArrowheads="1"/>
            </p:cNvSpPr>
            <p:nvPr/>
          </p:nvSpPr>
          <p:spPr bwMode="auto">
            <a:xfrm>
              <a:off x="2887"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29" name="Rectangle 86"/>
            <p:cNvSpPr>
              <a:spLocks noChangeArrowheads="1"/>
            </p:cNvSpPr>
            <p:nvPr/>
          </p:nvSpPr>
          <p:spPr bwMode="auto">
            <a:xfrm>
              <a:off x="2887"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30" name="Rectangle 87"/>
            <p:cNvSpPr>
              <a:spLocks noChangeArrowheads="1"/>
            </p:cNvSpPr>
            <p:nvPr/>
          </p:nvSpPr>
          <p:spPr bwMode="auto">
            <a:xfrm>
              <a:off x="3111"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5431" name="Rectangle 88"/>
            <p:cNvSpPr>
              <a:spLocks noChangeArrowheads="1"/>
            </p:cNvSpPr>
            <p:nvPr/>
          </p:nvSpPr>
          <p:spPr bwMode="auto">
            <a:xfrm>
              <a:off x="3510"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32" name="Rectangle 89"/>
            <p:cNvSpPr>
              <a:spLocks noChangeArrowheads="1"/>
            </p:cNvSpPr>
            <p:nvPr/>
          </p:nvSpPr>
          <p:spPr bwMode="auto">
            <a:xfrm>
              <a:off x="3510"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33" name="Rectangle 90"/>
            <p:cNvSpPr>
              <a:spLocks noChangeArrowheads="1"/>
            </p:cNvSpPr>
            <p:nvPr/>
          </p:nvSpPr>
          <p:spPr bwMode="auto">
            <a:xfrm>
              <a:off x="376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OV</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5434" name="Rectangle 91"/>
            <p:cNvSpPr>
              <a:spLocks noChangeArrowheads="1"/>
            </p:cNvSpPr>
            <p:nvPr/>
          </p:nvSpPr>
          <p:spPr bwMode="auto">
            <a:xfrm>
              <a:off x="4132" y="984"/>
              <a:ext cx="622"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35" name="Rectangle 92"/>
            <p:cNvSpPr>
              <a:spLocks noChangeArrowheads="1"/>
            </p:cNvSpPr>
            <p:nvPr/>
          </p:nvSpPr>
          <p:spPr bwMode="auto">
            <a:xfrm>
              <a:off x="4132" y="984"/>
              <a:ext cx="622"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36" name="Rectangle 93"/>
            <p:cNvSpPr>
              <a:spLocks noChangeArrowheads="1"/>
            </p:cNvSpPr>
            <p:nvPr/>
          </p:nvSpPr>
          <p:spPr bwMode="auto">
            <a:xfrm>
              <a:off x="441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5437" name="Rectangle 94"/>
            <p:cNvSpPr>
              <a:spLocks noChangeArrowheads="1"/>
            </p:cNvSpPr>
            <p:nvPr/>
          </p:nvSpPr>
          <p:spPr bwMode="auto">
            <a:xfrm>
              <a:off x="4754" y="984"/>
              <a:ext cx="623"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38" name="Rectangle 95"/>
            <p:cNvSpPr>
              <a:spLocks noChangeArrowheads="1"/>
            </p:cNvSpPr>
            <p:nvPr/>
          </p:nvSpPr>
          <p:spPr bwMode="auto">
            <a:xfrm>
              <a:off x="4754" y="984"/>
              <a:ext cx="623"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39" name="Rectangle 96"/>
            <p:cNvSpPr>
              <a:spLocks noChangeArrowheads="1"/>
            </p:cNvSpPr>
            <p:nvPr/>
          </p:nvSpPr>
          <p:spPr bwMode="auto">
            <a:xfrm>
              <a:off x="5038" y="1117"/>
              <a:ext cx="57"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P</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5440" name="Rectangle 97"/>
            <p:cNvSpPr>
              <a:spLocks noChangeArrowheads="1"/>
            </p:cNvSpPr>
            <p:nvPr/>
          </p:nvSpPr>
          <p:spPr bwMode="auto">
            <a:xfrm>
              <a:off x="399"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41" name="Rectangle 98"/>
            <p:cNvSpPr>
              <a:spLocks noChangeArrowheads="1"/>
            </p:cNvSpPr>
            <p:nvPr/>
          </p:nvSpPr>
          <p:spPr bwMode="auto">
            <a:xfrm>
              <a:off x="399" y="984"/>
              <a:ext cx="623" cy="308"/>
            </a:xfrm>
            <a:prstGeom prst="rect">
              <a:avLst/>
            </a:prstGeom>
            <a:solidFill>
              <a:schemeClr val="bg1"/>
            </a:solid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42" name="Rectangle 99"/>
            <p:cNvSpPr>
              <a:spLocks noChangeArrowheads="1"/>
            </p:cNvSpPr>
            <p:nvPr/>
          </p:nvSpPr>
          <p:spPr bwMode="auto">
            <a:xfrm>
              <a:off x="637" y="1043"/>
              <a:ext cx="238" cy="173"/>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effectLst>
                    <a:outerShdw blurRad="38100" dist="38100" dir="2700000" algn="tl">
                      <a:srgbClr val="000000">
                        <a:alpha val="43137"/>
                      </a:srgbClr>
                    </a:outerShdw>
                  </a:effectLst>
                  <a:latin typeface="宋体" panose="02010600030101010101" pitchFamily="2" charset="-122"/>
                </a:rPr>
                <a:t>CY</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5443" name="Rectangle 100"/>
            <p:cNvSpPr>
              <a:spLocks noChangeArrowheads="1"/>
            </p:cNvSpPr>
            <p:nvPr/>
          </p:nvSpPr>
          <p:spPr bwMode="auto">
            <a:xfrm>
              <a:off x="1022"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44" name="Rectangle 101"/>
            <p:cNvSpPr>
              <a:spLocks noChangeArrowheads="1"/>
            </p:cNvSpPr>
            <p:nvPr/>
          </p:nvSpPr>
          <p:spPr bwMode="auto">
            <a:xfrm>
              <a:off x="1022" y="984"/>
              <a:ext cx="622" cy="308"/>
            </a:xfrm>
            <a:prstGeom prst="rect">
              <a:avLst/>
            </a:prstGeom>
            <a:solidFill>
              <a:srgbClr val="CCFFFF"/>
            </a:solid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45" name="Rectangle 102"/>
            <p:cNvSpPr>
              <a:spLocks noChangeArrowheads="1"/>
            </p:cNvSpPr>
            <p:nvPr/>
          </p:nvSpPr>
          <p:spPr bwMode="auto">
            <a:xfrm>
              <a:off x="1276" y="1043"/>
              <a:ext cx="219" cy="173"/>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FF3300"/>
                  </a:solidFill>
                  <a:effectLst>
                    <a:outerShdw blurRad="38100" dist="38100" dir="2700000" algn="tl">
                      <a:srgbClr val="000000">
                        <a:alpha val="43137"/>
                      </a:srgbClr>
                    </a:outerShdw>
                  </a:effectLst>
                  <a:latin typeface="宋体" panose="02010600030101010101" pitchFamily="2" charset="-122"/>
                </a:rPr>
                <a:t>AC</a:t>
              </a:r>
              <a:endParaRPr kumimoji="1" lang="en-US" altLang="zh-CN" b="1">
                <a:solidFill>
                  <a:srgbClr val="FF3300"/>
                </a:solidFill>
                <a:effectLst>
                  <a:outerShdw blurRad="38100" dist="38100" dir="2700000" algn="tl">
                    <a:srgbClr val="000000">
                      <a:alpha val="43137"/>
                    </a:srgbClr>
                  </a:outerShdw>
                </a:effectLst>
                <a:latin typeface="Times New Roman" panose="02020603050405020304" pitchFamily="18" charset="0"/>
              </a:endParaRPr>
            </a:p>
          </p:txBody>
        </p:sp>
        <p:sp>
          <p:nvSpPr>
            <p:cNvPr id="15446" name="Rectangle 103"/>
            <p:cNvSpPr>
              <a:spLocks noChangeArrowheads="1"/>
            </p:cNvSpPr>
            <p:nvPr/>
          </p:nvSpPr>
          <p:spPr bwMode="auto">
            <a:xfrm>
              <a:off x="1644"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47" name="Rectangle 104"/>
            <p:cNvSpPr>
              <a:spLocks noChangeArrowheads="1"/>
            </p:cNvSpPr>
            <p:nvPr/>
          </p:nvSpPr>
          <p:spPr bwMode="auto">
            <a:xfrm>
              <a:off x="1644"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48" name="Rectangle 105"/>
            <p:cNvSpPr>
              <a:spLocks noChangeArrowheads="1"/>
            </p:cNvSpPr>
            <p:nvPr/>
          </p:nvSpPr>
          <p:spPr bwMode="auto">
            <a:xfrm>
              <a:off x="1882" y="1044"/>
              <a:ext cx="146" cy="173"/>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F0</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5449" name="Rectangle 106"/>
            <p:cNvSpPr>
              <a:spLocks noChangeArrowheads="1"/>
            </p:cNvSpPr>
            <p:nvPr/>
          </p:nvSpPr>
          <p:spPr bwMode="auto">
            <a:xfrm>
              <a:off x="2266" y="984"/>
              <a:ext cx="621"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50" name="Rectangle 107"/>
            <p:cNvSpPr>
              <a:spLocks noChangeArrowheads="1"/>
            </p:cNvSpPr>
            <p:nvPr/>
          </p:nvSpPr>
          <p:spPr bwMode="auto">
            <a:xfrm>
              <a:off x="2266" y="984"/>
              <a:ext cx="621"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51" name="Rectangle 108"/>
            <p:cNvSpPr>
              <a:spLocks noChangeArrowheads="1"/>
            </p:cNvSpPr>
            <p:nvPr/>
          </p:nvSpPr>
          <p:spPr bwMode="auto">
            <a:xfrm>
              <a:off x="2505" y="1044"/>
              <a:ext cx="219" cy="173"/>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RS1</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5452" name="Rectangle 109"/>
            <p:cNvSpPr>
              <a:spLocks noChangeArrowheads="1"/>
            </p:cNvSpPr>
            <p:nvPr/>
          </p:nvSpPr>
          <p:spPr bwMode="auto">
            <a:xfrm>
              <a:off x="2887"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53" name="Rectangle 110"/>
            <p:cNvSpPr>
              <a:spLocks noChangeArrowheads="1"/>
            </p:cNvSpPr>
            <p:nvPr/>
          </p:nvSpPr>
          <p:spPr bwMode="auto">
            <a:xfrm>
              <a:off x="2887"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54" name="Rectangle 111"/>
            <p:cNvSpPr>
              <a:spLocks noChangeArrowheads="1"/>
            </p:cNvSpPr>
            <p:nvPr/>
          </p:nvSpPr>
          <p:spPr bwMode="auto">
            <a:xfrm>
              <a:off x="3111" y="1051"/>
              <a:ext cx="219" cy="173"/>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RS0</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5455" name="Rectangle 112"/>
            <p:cNvSpPr>
              <a:spLocks noChangeArrowheads="1"/>
            </p:cNvSpPr>
            <p:nvPr/>
          </p:nvSpPr>
          <p:spPr bwMode="auto">
            <a:xfrm>
              <a:off x="3510"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56" name="Rectangle 113"/>
            <p:cNvSpPr>
              <a:spLocks noChangeArrowheads="1"/>
            </p:cNvSpPr>
            <p:nvPr/>
          </p:nvSpPr>
          <p:spPr bwMode="auto">
            <a:xfrm>
              <a:off x="3510"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57" name="Rectangle 114"/>
            <p:cNvSpPr>
              <a:spLocks noChangeArrowheads="1"/>
            </p:cNvSpPr>
            <p:nvPr/>
          </p:nvSpPr>
          <p:spPr bwMode="auto">
            <a:xfrm>
              <a:off x="3754" y="1035"/>
              <a:ext cx="146" cy="173"/>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OV</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5458" name="Rectangle 115"/>
            <p:cNvSpPr>
              <a:spLocks noChangeArrowheads="1"/>
            </p:cNvSpPr>
            <p:nvPr/>
          </p:nvSpPr>
          <p:spPr bwMode="auto">
            <a:xfrm>
              <a:off x="4132" y="984"/>
              <a:ext cx="622"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59" name="Rectangle 116"/>
            <p:cNvSpPr>
              <a:spLocks noChangeArrowheads="1"/>
            </p:cNvSpPr>
            <p:nvPr/>
          </p:nvSpPr>
          <p:spPr bwMode="auto">
            <a:xfrm>
              <a:off x="4132" y="984"/>
              <a:ext cx="622"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60" name="Rectangle 117"/>
            <p:cNvSpPr>
              <a:spLocks noChangeArrowheads="1"/>
            </p:cNvSpPr>
            <p:nvPr/>
          </p:nvSpPr>
          <p:spPr bwMode="auto">
            <a:xfrm>
              <a:off x="4400" y="1034"/>
              <a:ext cx="146" cy="173"/>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F1</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5461" name="Rectangle 118"/>
            <p:cNvSpPr>
              <a:spLocks noChangeArrowheads="1"/>
            </p:cNvSpPr>
            <p:nvPr/>
          </p:nvSpPr>
          <p:spPr bwMode="auto">
            <a:xfrm>
              <a:off x="4754" y="984"/>
              <a:ext cx="623"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62" name="Rectangle 119"/>
            <p:cNvSpPr>
              <a:spLocks noChangeArrowheads="1"/>
            </p:cNvSpPr>
            <p:nvPr/>
          </p:nvSpPr>
          <p:spPr bwMode="auto">
            <a:xfrm>
              <a:off x="4754" y="984"/>
              <a:ext cx="623"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5463" name="Rectangle 120"/>
            <p:cNvSpPr>
              <a:spLocks noChangeArrowheads="1"/>
            </p:cNvSpPr>
            <p:nvPr/>
          </p:nvSpPr>
          <p:spPr bwMode="auto">
            <a:xfrm>
              <a:off x="5047" y="1034"/>
              <a:ext cx="74" cy="174"/>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P</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5464" name="Rectangle 121"/>
            <p:cNvSpPr>
              <a:spLocks noChangeArrowheads="1"/>
            </p:cNvSpPr>
            <p:nvPr/>
          </p:nvSpPr>
          <p:spPr bwMode="auto">
            <a:xfrm>
              <a:off x="569" y="773"/>
              <a:ext cx="380"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effectLst>
                    <a:outerShdw blurRad="38100" dist="38100" dir="2700000" algn="tl">
                      <a:srgbClr val="000000">
                        <a:alpha val="43137"/>
                      </a:srgbClr>
                    </a:outerShdw>
                  </a:effectLst>
                  <a:latin typeface="宋体" panose="02010600030101010101" pitchFamily="2" charset="-122"/>
                </a:rPr>
                <a:t>PSW.7</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15465" name="Rectangle 122"/>
            <p:cNvSpPr>
              <a:spLocks noChangeArrowheads="1"/>
            </p:cNvSpPr>
            <p:nvPr/>
          </p:nvSpPr>
          <p:spPr bwMode="auto">
            <a:xfrm>
              <a:off x="1197" y="763"/>
              <a:ext cx="374"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FF3300"/>
                  </a:solidFill>
                  <a:effectLst>
                    <a:outerShdw blurRad="38100" dist="38100" dir="2700000" algn="tl">
                      <a:srgbClr val="000000">
                        <a:alpha val="43137"/>
                      </a:srgbClr>
                    </a:outerShdw>
                  </a:effectLst>
                  <a:latin typeface="宋体" panose="02010600030101010101" pitchFamily="2" charset="-122"/>
                </a:rPr>
                <a:t>PSW.6</a:t>
              </a:r>
              <a:endParaRPr kumimoji="1" lang="en-US" altLang="zh-CN" sz="2800" b="1">
                <a:solidFill>
                  <a:srgbClr val="FF3300"/>
                </a:solidFill>
                <a:effectLst>
                  <a:outerShdw blurRad="38100" dist="38100" dir="2700000" algn="tl">
                    <a:srgbClr val="000000">
                      <a:alpha val="43137"/>
                    </a:srgbClr>
                  </a:outerShdw>
                </a:effectLst>
                <a:latin typeface="Times New Roman" panose="02020603050405020304" pitchFamily="18" charset="0"/>
              </a:endParaRPr>
            </a:p>
          </p:txBody>
        </p:sp>
        <p:sp>
          <p:nvSpPr>
            <p:cNvPr id="15466" name="Rectangle 123"/>
            <p:cNvSpPr>
              <a:spLocks noChangeArrowheads="1"/>
            </p:cNvSpPr>
            <p:nvPr/>
          </p:nvSpPr>
          <p:spPr bwMode="auto">
            <a:xfrm>
              <a:off x="1810" y="764"/>
              <a:ext cx="368"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PSW.5</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15467" name="Rectangle 124"/>
            <p:cNvSpPr>
              <a:spLocks noChangeArrowheads="1"/>
            </p:cNvSpPr>
            <p:nvPr/>
          </p:nvSpPr>
          <p:spPr bwMode="auto">
            <a:xfrm>
              <a:off x="2448" y="772"/>
              <a:ext cx="364"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PSW.4</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15468" name="Rectangle 125"/>
            <p:cNvSpPr>
              <a:spLocks noChangeArrowheads="1"/>
            </p:cNvSpPr>
            <p:nvPr/>
          </p:nvSpPr>
          <p:spPr bwMode="auto">
            <a:xfrm>
              <a:off x="3054" y="763"/>
              <a:ext cx="363"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PSW.3</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15469" name="Rectangle 126"/>
            <p:cNvSpPr>
              <a:spLocks noChangeArrowheads="1"/>
            </p:cNvSpPr>
            <p:nvPr/>
          </p:nvSpPr>
          <p:spPr bwMode="auto">
            <a:xfrm>
              <a:off x="3675" y="756"/>
              <a:ext cx="379"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PSW.2</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15470" name="Rectangle 127"/>
            <p:cNvSpPr>
              <a:spLocks noChangeArrowheads="1"/>
            </p:cNvSpPr>
            <p:nvPr/>
          </p:nvSpPr>
          <p:spPr bwMode="auto">
            <a:xfrm>
              <a:off x="4298" y="747"/>
              <a:ext cx="374"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PSW.1</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15471" name="Rectangle 128"/>
            <p:cNvSpPr>
              <a:spLocks noChangeArrowheads="1"/>
            </p:cNvSpPr>
            <p:nvPr/>
          </p:nvSpPr>
          <p:spPr bwMode="auto">
            <a:xfrm>
              <a:off x="4918" y="763"/>
              <a:ext cx="368"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PSW.0</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grpSp>
      <p:sp>
        <p:nvSpPr>
          <p:cNvPr id="116" name="Rectangle 2"/>
          <p:cNvSpPr>
            <a:spLocks noChangeArrowheads="1"/>
          </p:cNvSpPr>
          <p:nvPr/>
        </p:nvSpPr>
        <p:spPr bwMode="auto">
          <a:xfrm>
            <a:off x="5364163" y="331788"/>
            <a:ext cx="3509962" cy="338137"/>
          </a:xfrm>
          <a:prstGeom prst="rect">
            <a:avLst/>
          </a:prstGeom>
          <a:noFill/>
          <a:ln>
            <a:noFill/>
          </a:ln>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defRPr/>
            </a:pPr>
            <a:r>
              <a:rPr kumimoji="1" lang="en-US" altLang="zh-CN"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2.1</a:t>
            </a: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单片机的基本结构</a:t>
            </a:r>
            <a:endParaRPr kumimoji="1" lang="zh-CN" altLang="en-US" sz="24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ChangeArrowheads="1"/>
          </p:cNvSpPr>
          <p:nvPr/>
        </p:nvSpPr>
        <p:spPr bwMode="auto">
          <a:xfrm>
            <a:off x="1250950" y="2382838"/>
            <a:ext cx="7004050" cy="996950"/>
          </a:xfrm>
          <a:prstGeom prst="rect">
            <a:avLst/>
          </a:prstGeom>
          <a:noFill/>
          <a:ln>
            <a:noFill/>
          </a:ln>
        </p:spPr>
        <p:txBody>
          <a:bodyPr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2400" b="1" dirty="0">
                <a:solidFill>
                  <a:srgbClr val="CC0000"/>
                </a:solidFill>
                <a:effectLst>
                  <a:outerShdw blurRad="38100" dist="38100" dir="2700000" algn="tl">
                    <a:srgbClr val="000000">
                      <a:alpha val="43137"/>
                    </a:srgbClr>
                  </a:outerShdw>
                </a:effectLst>
                <a:latin typeface="Times New Roman" panose="02020603050405020304" pitchFamily="18" charset="0"/>
              </a:rPr>
              <a:t>F0</a:t>
            </a:r>
            <a:r>
              <a:rPr kumimoji="1" lang="zh-CN" altLang="en-US" sz="2400" b="1" dirty="0">
                <a:solidFill>
                  <a:srgbClr val="CC0000"/>
                </a:solidFill>
                <a:effectLst>
                  <a:outerShdw blurRad="38100" dist="38100" dir="2700000" algn="tl">
                    <a:srgbClr val="000000">
                      <a:alpha val="43137"/>
                    </a:srgbClr>
                  </a:outerShdw>
                </a:effectLst>
                <a:latin typeface="Times New Roman" panose="02020603050405020304" pitchFamily="18" charset="0"/>
              </a:rPr>
              <a:t>（</a:t>
            </a:r>
            <a:r>
              <a:rPr kumimoji="1" lang="en-US" altLang="zh-CN" sz="2400" b="1" dirty="0">
                <a:solidFill>
                  <a:srgbClr val="CC0000"/>
                </a:solidFill>
                <a:effectLst>
                  <a:outerShdw blurRad="38100" dist="38100" dir="2700000" algn="tl">
                    <a:srgbClr val="000000">
                      <a:alpha val="43137"/>
                    </a:srgbClr>
                  </a:outerShdw>
                </a:effectLst>
                <a:latin typeface="Times New Roman" panose="02020603050405020304" pitchFamily="18" charset="0"/>
              </a:rPr>
              <a:t>PSW.5</a:t>
            </a:r>
            <a:r>
              <a:rPr kumimoji="1" lang="zh-CN" altLang="en-US" sz="2400" b="1" dirty="0">
                <a:solidFill>
                  <a:srgbClr val="CC0000"/>
                </a:solidFill>
                <a:effectLst>
                  <a:outerShdw blurRad="38100" dist="38100" dir="2700000" algn="tl">
                    <a:srgbClr val="000000">
                      <a:alpha val="43137"/>
                    </a:srgbClr>
                  </a:outerShdw>
                </a:effectLst>
                <a:latin typeface="Times New Roman" panose="02020603050405020304" pitchFamily="18" charset="0"/>
              </a:rPr>
              <a:t>）</a:t>
            </a:r>
            <a:r>
              <a:rPr kumimoji="1" lang="zh-CN" altLang="en-US" sz="2400" b="1" dirty="0">
                <a:effectLst>
                  <a:outerShdw blurRad="38100" dist="38100" dir="2700000" algn="tl">
                    <a:srgbClr val="000000">
                      <a:alpha val="43137"/>
                    </a:srgbClr>
                  </a:outerShdw>
                </a:effectLst>
                <a:latin typeface="Times New Roman" panose="02020603050405020304" pitchFamily="18" charset="0"/>
              </a:rPr>
              <a:t>和 </a:t>
            </a:r>
            <a:r>
              <a:rPr kumimoji="1" lang="en-US" altLang="zh-CN" sz="2400" b="1" dirty="0">
                <a:solidFill>
                  <a:srgbClr val="CC0000"/>
                </a:solidFill>
                <a:effectLst>
                  <a:outerShdw blurRad="38100" dist="38100" dir="2700000" algn="tl">
                    <a:srgbClr val="000000">
                      <a:alpha val="43137"/>
                    </a:srgbClr>
                  </a:outerShdw>
                </a:effectLst>
                <a:latin typeface="Times New Roman" panose="02020603050405020304" pitchFamily="18" charset="0"/>
              </a:rPr>
              <a:t>F1</a:t>
            </a:r>
            <a:r>
              <a:rPr kumimoji="1" lang="zh-CN" altLang="en-US" sz="2400" b="1" dirty="0">
                <a:solidFill>
                  <a:srgbClr val="CC0000"/>
                </a:solidFill>
                <a:effectLst>
                  <a:outerShdw blurRad="38100" dist="38100" dir="2700000" algn="tl">
                    <a:srgbClr val="000000">
                      <a:alpha val="43137"/>
                    </a:srgbClr>
                  </a:outerShdw>
                </a:effectLst>
                <a:latin typeface="Times New Roman" panose="02020603050405020304" pitchFamily="18" charset="0"/>
              </a:rPr>
              <a:t>（</a:t>
            </a:r>
            <a:r>
              <a:rPr kumimoji="1" lang="en-US" altLang="zh-CN" sz="2400" b="1" dirty="0">
                <a:solidFill>
                  <a:srgbClr val="CC0000"/>
                </a:solidFill>
                <a:effectLst>
                  <a:outerShdw blurRad="38100" dist="38100" dir="2700000" algn="tl">
                    <a:srgbClr val="000000">
                      <a:alpha val="43137"/>
                    </a:srgbClr>
                  </a:outerShdw>
                </a:effectLst>
                <a:latin typeface="Times New Roman" panose="02020603050405020304" pitchFamily="18" charset="0"/>
              </a:rPr>
              <a:t>PSW.1</a:t>
            </a:r>
            <a:r>
              <a:rPr kumimoji="1" lang="zh-CN" altLang="en-US" sz="2400" b="1" dirty="0">
                <a:solidFill>
                  <a:srgbClr val="CC0000"/>
                </a:solidFill>
                <a:effectLst>
                  <a:outerShdw blurRad="38100" dist="38100" dir="2700000" algn="tl">
                    <a:srgbClr val="000000">
                      <a:alpha val="43137"/>
                    </a:srgbClr>
                  </a:outerShdw>
                </a:effectLst>
                <a:latin typeface="Times New Roman" panose="02020603050405020304" pitchFamily="18" charset="0"/>
              </a:rPr>
              <a:t>） </a:t>
            </a:r>
            <a:r>
              <a:rPr kumimoji="1" lang="en-US" altLang="zh-CN" sz="2400" b="1" dirty="0">
                <a:effectLst>
                  <a:outerShdw blurRad="38100" dist="38100" dir="2700000" algn="tl">
                    <a:srgbClr val="000000">
                      <a:alpha val="43137"/>
                    </a:srgbClr>
                  </a:outerShdw>
                </a:effectLst>
                <a:latin typeface="Times New Roman" panose="02020603050405020304" pitchFamily="18" charset="0"/>
              </a:rPr>
              <a:t>——</a:t>
            </a:r>
            <a:r>
              <a:rPr kumimoji="1" lang="zh-CN" altLang="en-US" sz="2400" b="1" dirty="0">
                <a:effectLst>
                  <a:outerShdw blurRad="38100" dist="38100" dir="2700000" algn="tl">
                    <a:srgbClr val="000000">
                      <a:alpha val="43137"/>
                    </a:srgbClr>
                  </a:outerShdw>
                </a:effectLst>
                <a:latin typeface="Times New Roman" panose="02020603050405020304" pitchFamily="18" charset="0"/>
              </a:rPr>
              <a:t>用户标志位</a:t>
            </a:r>
          </a:p>
          <a:p>
            <a:pPr eaLnBrk="1" hangingPunct="1">
              <a:spcBef>
                <a:spcPct val="45000"/>
              </a:spcBef>
              <a:buFontTx/>
              <a:buNone/>
              <a:defRPr/>
            </a:pPr>
            <a:r>
              <a:rPr kumimoji="1" lang="zh-CN" altLang="en-US" sz="2400" b="1" dirty="0">
                <a:effectLst>
                  <a:outerShdw blurRad="38100" dist="38100" dir="2700000" algn="tl">
                    <a:srgbClr val="000000">
                      <a:alpha val="43137"/>
                    </a:srgbClr>
                  </a:outerShdw>
                </a:effectLst>
                <a:latin typeface="Times New Roman" panose="02020603050405020304" pitchFamily="18" charset="0"/>
              </a:rPr>
              <a:t>用途</a:t>
            </a:r>
            <a:r>
              <a:rPr kumimoji="1" lang="en-US" altLang="zh-CN" sz="2400" b="1" dirty="0">
                <a:effectLst>
                  <a:outerShdw blurRad="38100" dist="38100" dir="2700000" algn="tl">
                    <a:srgbClr val="000000">
                      <a:alpha val="43137"/>
                    </a:srgbClr>
                  </a:outerShdw>
                </a:effectLst>
                <a:latin typeface="Times New Roman" panose="02020603050405020304" pitchFamily="18" charset="0"/>
              </a:rPr>
              <a:t>: </a:t>
            </a:r>
            <a:r>
              <a:rPr kumimoji="1" lang="zh-CN" altLang="en-US" sz="2400" b="1" dirty="0">
                <a:effectLst>
                  <a:outerShdw blurRad="38100" dist="38100" dir="2700000" algn="tl">
                    <a:srgbClr val="000000">
                      <a:alpha val="43137"/>
                    </a:srgbClr>
                  </a:outerShdw>
                </a:effectLst>
                <a:latin typeface="Times New Roman" panose="02020603050405020304" pitchFamily="18" charset="0"/>
              </a:rPr>
              <a:t>可作为</a:t>
            </a:r>
            <a:r>
              <a:rPr kumimoji="1" lang="zh-CN" altLang="en-US" sz="2400" b="1" dirty="0">
                <a:solidFill>
                  <a:srgbClr val="0066FF"/>
                </a:solidFill>
                <a:effectLst>
                  <a:outerShdw blurRad="38100" dist="38100" dir="2700000" algn="tl">
                    <a:srgbClr val="000000">
                      <a:alpha val="43137"/>
                    </a:srgbClr>
                  </a:outerShdw>
                </a:effectLst>
                <a:latin typeface="Times New Roman" panose="02020603050405020304" pitchFamily="18" charset="0"/>
              </a:rPr>
              <a:t>用户指定的状态标志</a:t>
            </a:r>
            <a:endParaRPr kumimoji="1" lang="zh-CN" altLang="en-US" sz="2400" b="1" dirty="0">
              <a:effectLst>
                <a:outerShdw blurRad="38100" dist="38100" dir="2700000" algn="tl">
                  <a:srgbClr val="000000">
                    <a:alpha val="43137"/>
                  </a:srgbClr>
                </a:outerShdw>
              </a:effectLst>
              <a:latin typeface="Times New Roman" panose="02020603050405020304" pitchFamily="18" charset="0"/>
            </a:endParaRPr>
          </a:p>
        </p:txBody>
      </p:sp>
      <p:grpSp>
        <p:nvGrpSpPr>
          <p:cNvPr id="17411" name="Group 158"/>
          <p:cNvGrpSpPr/>
          <p:nvPr/>
        </p:nvGrpSpPr>
        <p:grpSpPr bwMode="auto">
          <a:xfrm>
            <a:off x="633413" y="1185863"/>
            <a:ext cx="7902575" cy="866775"/>
            <a:chOff x="399" y="747"/>
            <a:chExt cx="4978" cy="546"/>
          </a:xfrm>
        </p:grpSpPr>
        <p:sp>
          <p:nvSpPr>
            <p:cNvPr id="16389" name="Rectangle 9"/>
            <p:cNvSpPr>
              <a:spLocks noChangeArrowheads="1"/>
            </p:cNvSpPr>
            <p:nvPr/>
          </p:nvSpPr>
          <p:spPr bwMode="auto">
            <a:xfrm>
              <a:off x="399"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390" name="Rectangle 10"/>
            <p:cNvSpPr>
              <a:spLocks noChangeArrowheads="1"/>
            </p:cNvSpPr>
            <p:nvPr/>
          </p:nvSpPr>
          <p:spPr bwMode="auto">
            <a:xfrm>
              <a:off x="399"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391" name="Rectangle 11"/>
            <p:cNvSpPr>
              <a:spLocks noChangeArrowheads="1"/>
            </p:cNvSpPr>
            <p:nvPr/>
          </p:nvSpPr>
          <p:spPr bwMode="auto">
            <a:xfrm>
              <a:off x="65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CY</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6392" name="Rectangle 12"/>
            <p:cNvSpPr>
              <a:spLocks noChangeArrowheads="1"/>
            </p:cNvSpPr>
            <p:nvPr/>
          </p:nvSpPr>
          <p:spPr bwMode="auto">
            <a:xfrm>
              <a:off x="1022"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393" name="Rectangle 13"/>
            <p:cNvSpPr>
              <a:spLocks noChangeArrowheads="1"/>
            </p:cNvSpPr>
            <p:nvPr/>
          </p:nvSpPr>
          <p:spPr bwMode="auto">
            <a:xfrm>
              <a:off x="1022"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394" name="Rectangle 14"/>
            <p:cNvSpPr>
              <a:spLocks noChangeArrowheads="1"/>
            </p:cNvSpPr>
            <p:nvPr/>
          </p:nvSpPr>
          <p:spPr bwMode="auto">
            <a:xfrm>
              <a:off x="127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AC</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6395" name="Rectangle 15"/>
            <p:cNvSpPr>
              <a:spLocks noChangeArrowheads="1"/>
            </p:cNvSpPr>
            <p:nvPr/>
          </p:nvSpPr>
          <p:spPr bwMode="auto">
            <a:xfrm>
              <a:off x="1644"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396" name="Rectangle 16"/>
            <p:cNvSpPr>
              <a:spLocks noChangeArrowheads="1"/>
            </p:cNvSpPr>
            <p:nvPr/>
          </p:nvSpPr>
          <p:spPr bwMode="auto">
            <a:xfrm>
              <a:off x="1644"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397" name="Rectangle 17"/>
            <p:cNvSpPr>
              <a:spLocks noChangeArrowheads="1"/>
            </p:cNvSpPr>
            <p:nvPr/>
          </p:nvSpPr>
          <p:spPr bwMode="auto">
            <a:xfrm>
              <a:off x="1897"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6398" name="Rectangle 18"/>
            <p:cNvSpPr>
              <a:spLocks noChangeArrowheads="1"/>
            </p:cNvSpPr>
            <p:nvPr/>
          </p:nvSpPr>
          <p:spPr bwMode="auto">
            <a:xfrm>
              <a:off x="2266" y="984"/>
              <a:ext cx="621"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399" name="Rectangle 19"/>
            <p:cNvSpPr>
              <a:spLocks noChangeArrowheads="1"/>
            </p:cNvSpPr>
            <p:nvPr/>
          </p:nvSpPr>
          <p:spPr bwMode="auto">
            <a:xfrm>
              <a:off x="2266" y="984"/>
              <a:ext cx="621"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00" name="Rectangle 20"/>
            <p:cNvSpPr>
              <a:spLocks noChangeArrowheads="1"/>
            </p:cNvSpPr>
            <p:nvPr/>
          </p:nvSpPr>
          <p:spPr bwMode="auto">
            <a:xfrm>
              <a:off x="2488"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6401" name="Rectangle 21"/>
            <p:cNvSpPr>
              <a:spLocks noChangeArrowheads="1"/>
            </p:cNvSpPr>
            <p:nvPr/>
          </p:nvSpPr>
          <p:spPr bwMode="auto">
            <a:xfrm>
              <a:off x="2887"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02" name="Rectangle 22"/>
            <p:cNvSpPr>
              <a:spLocks noChangeArrowheads="1"/>
            </p:cNvSpPr>
            <p:nvPr/>
          </p:nvSpPr>
          <p:spPr bwMode="auto">
            <a:xfrm>
              <a:off x="2887"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03" name="Rectangle 23"/>
            <p:cNvSpPr>
              <a:spLocks noChangeArrowheads="1"/>
            </p:cNvSpPr>
            <p:nvPr/>
          </p:nvSpPr>
          <p:spPr bwMode="auto">
            <a:xfrm>
              <a:off x="3111"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6404" name="Rectangle 24"/>
            <p:cNvSpPr>
              <a:spLocks noChangeArrowheads="1"/>
            </p:cNvSpPr>
            <p:nvPr/>
          </p:nvSpPr>
          <p:spPr bwMode="auto">
            <a:xfrm>
              <a:off x="3510"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05" name="Rectangle 25"/>
            <p:cNvSpPr>
              <a:spLocks noChangeArrowheads="1"/>
            </p:cNvSpPr>
            <p:nvPr/>
          </p:nvSpPr>
          <p:spPr bwMode="auto">
            <a:xfrm>
              <a:off x="3510"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06" name="Rectangle 26"/>
            <p:cNvSpPr>
              <a:spLocks noChangeArrowheads="1"/>
            </p:cNvSpPr>
            <p:nvPr/>
          </p:nvSpPr>
          <p:spPr bwMode="auto">
            <a:xfrm>
              <a:off x="376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OV</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6407" name="Rectangle 27"/>
            <p:cNvSpPr>
              <a:spLocks noChangeArrowheads="1"/>
            </p:cNvSpPr>
            <p:nvPr/>
          </p:nvSpPr>
          <p:spPr bwMode="auto">
            <a:xfrm>
              <a:off x="4132" y="984"/>
              <a:ext cx="622"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08" name="Rectangle 28"/>
            <p:cNvSpPr>
              <a:spLocks noChangeArrowheads="1"/>
            </p:cNvSpPr>
            <p:nvPr/>
          </p:nvSpPr>
          <p:spPr bwMode="auto">
            <a:xfrm>
              <a:off x="4132" y="984"/>
              <a:ext cx="622"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09" name="Rectangle 29"/>
            <p:cNvSpPr>
              <a:spLocks noChangeArrowheads="1"/>
            </p:cNvSpPr>
            <p:nvPr/>
          </p:nvSpPr>
          <p:spPr bwMode="auto">
            <a:xfrm>
              <a:off x="441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6410" name="Rectangle 30"/>
            <p:cNvSpPr>
              <a:spLocks noChangeArrowheads="1"/>
            </p:cNvSpPr>
            <p:nvPr/>
          </p:nvSpPr>
          <p:spPr bwMode="auto">
            <a:xfrm>
              <a:off x="4754" y="984"/>
              <a:ext cx="623"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11" name="Rectangle 31"/>
            <p:cNvSpPr>
              <a:spLocks noChangeArrowheads="1"/>
            </p:cNvSpPr>
            <p:nvPr/>
          </p:nvSpPr>
          <p:spPr bwMode="auto">
            <a:xfrm>
              <a:off x="4754" y="984"/>
              <a:ext cx="623"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12" name="Rectangle 32"/>
            <p:cNvSpPr>
              <a:spLocks noChangeArrowheads="1"/>
            </p:cNvSpPr>
            <p:nvPr/>
          </p:nvSpPr>
          <p:spPr bwMode="auto">
            <a:xfrm>
              <a:off x="5038" y="1117"/>
              <a:ext cx="57"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P</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6413" name="Rectangle 33"/>
            <p:cNvSpPr>
              <a:spLocks noChangeArrowheads="1"/>
            </p:cNvSpPr>
            <p:nvPr/>
          </p:nvSpPr>
          <p:spPr bwMode="auto">
            <a:xfrm>
              <a:off x="399"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14" name="Rectangle 34"/>
            <p:cNvSpPr>
              <a:spLocks noChangeArrowheads="1"/>
            </p:cNvSpPr>
            <p:nvPr/>
          </p:nvSpPr>
          <p:spPr bwMode="auto">
            <a:xfrm>
              <a:off x="399"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15" name="Rectangle 35"/>
            <p:cNvSpPr>
              <a:spLocks noChangeArrowheads="1"/>
            </p:cNvSpPr>
            <p:nvPr/>
          </p:nvSpPr>
          <p:spPr bwMode="auto">
            <a:xfrm>
              <a:off x="65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CY</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6416" name="Rectangle 36"/>
            <p:cNvSpPr>
              <a:spLocks noChangeArrowheads="1"/>
            </p:cNvSpPr>
            <p:nvPr/>
          </p:nvSpPr>
          <p:spPr bwMode="auto">
            <a:xfrm>
              <a:off x="1022"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17" name="Rectangle 37"/>
            <p:cNvSpPr>
              <a:spLocks noChangeArrowheads="1"/>
            </p:cNvSpPr>
            <p:nvPr/>
          </p:nvSpPr>
          <p:spPr bwMode="auto">
            <a:xfrm>
              <a:off x="1022"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18" name="Rectangle 38"/>
            <p:cNvSpPr>
              <a:spLocks noChangeArrowheads="1"/>
            </p:cNvSpPr>
            <p:nvPr/>
          </p:nvSpPr>
          <p:spPr bwMode="auto">
            <a:xfrm>
              <a:off x="127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AC</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6419" name="Rectangle 39"/>
            <p:cNvSpPr>
              <a:spLocks noChangeArrowheads="1"/>
            </p:cNvSpPr>
            <p:nvPr/>
          </p:nvSpPr>
          <p:spPr bwMode="auto">
            <a:xfrm>
              <a:off x="1644"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20" name="Rectangle 40"/>
            <p:cNvSpPr>
              <a:spLocks noChangeArrowheads="1"/>
            </p:cNvSpPr>
            <p:nvPr/>
          </p:nvSpPr>
          <p:spPr bwMode="auto">
            <a:xfrm>
              <a:off x="1644"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21" name="Rectangle 41"/>
            <p:cNvSpPr>
              <a:spLocks noChangeArrowheads="1"/>
            </p:cNvSpPr>
            <p:nvPr/>
          </p:nvSpPr>
          <p:spPr bwMode="auto">
            <a:xfrm>
              <a:off x="1897"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6422" name="Rectangle 42"/>
            <p:cNvSpPr>
              <a:spLocks noChangeArrowheads="1"/>
            </p:cNvSpPr>
            <p:nvPr/>
          </p:nvSpPr>
          <p:spPr bwMode="auto">
            <a:xfrm>
              <a:off x="2266" y="984"/>
              <a:ext cx="621"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23" name="Rectangle 43"/>
            <p:cNvSpPr>
              <a:spLocks noChangeArrowheads="1"/>
            </p:cNvSpPr>
            <p:nvPr/>
          </p:nvSpPr>
          <p:spPr bwMode="auto">
            <a:xfrm>
              <a:off x="2266" y="984"/>
              <a:ext cx="621"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24" name="Rectangle 44"/>
            <p:cNvSpPr>
              <a:spLocks noChangeArrowheads="1"/>
            </p:cNvSpPr>
            <p:nvPr/>
          </p:nvSpPr>
          <p:spPr bwMode="auto">
            <a:xfrm>
              <a:off x="2488"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6425" name="Rectangle 45"/>
            <p:cNvSpPr>
              <a:spLocks noChangeArrowheads="1"/>
            </p:cNvSpPr>
            <p:nvPr/>
          </p:nvSpPr>
          <p:spPr bwMode="auto">
            <a:xfrm>
              <a:off x="2887"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26" name="Rectangle 46"/>
            <p:cNvSpPr>
              <a:spLocks noChangeArrowheads="1"/>
            </p:cNvSpPr>
            <p:nvPr/>
          </p:nvSpPr>
          <p:spPr bwMode="auto">
            <a:xfrm>
              <a:off x="2887"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27" name="Rectangle 47"/>
            <p:cNvSpPr>
              <a:spLocks noChangeArrowheads="1"/>
            </p:cNvSpPr>
            <p:nvPr/>
          </p:nvSpPr>
          <p:spPr bwMode="auto">
            <a:xfrm>
              <a:off x="3111"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6428" name="Rectangle 48"/>
            <p:cNvSpPr>
              <a:spLocks noChangeArrowheads="1"/>
            </p:cNvSpPr>
            <p:nvPr/>
          </p:nvSpPr>
          <p:spPr bwMode="auto">
            <a:xfrm>
              <a:off x="3510"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29" name="Rectangle 49"/>
            <p:cNvSpPr>
              <a:spLocks noChangeArrowheads="1"/>
            </p:cNvSpPr>
            <p:nvPr/>
          </p:nvSpPr>
          <p:spPr bwMode="auto">
            <a:xfrm>
              <a:off x="3510"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30" name="Rectangle 50"/>
            <p:cNvSpPr>
              <a:spLocks noChangeArrowheads="1"/>
            </p:cNvSpPr>
            <p:nvPr/>
          </p:nvSpPr>
          <p:spPr bwMode="auto">
            <a:xfrm>
              <a:off x="376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OV</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6431" name="Rectangle 51"/>
            <p:cNvSpPr>
              <a:spLocks noChangeArrowheads="1"/>
            </p:cNvSpPr>
            <p:nvPr/>
          </p:nvSpPr>
          <p:spPr bwMode="auto">
            <a:xfrm>
              <a:off x="4132" y="984"/>
              <a:ext cx="622"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32" name="Rectangle 52"/>
            <p:cNvSpPr>
              <a:spLocks noChangeArrowheads="1"/>
            </p:cNvSpPr>
            <p:nvPr/>
          </p:nvSpPr>
          <p:spPr bwMode="auto">
            <a:xfrm>
              <a:off x="4132" y="984"/>
              <a:ext cx="622"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33" name="Rectangle 53"/>
            <p:cNvSpPr>
              <a:spLocks noChangeArrowheads="1"/>
            </p:cNvSpPr>
            <p:nvPr/>
          </p:nvSpPr>
          <p:spPr bwMode="auto">
            <a:xfrm>
              <a:off x="441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6434" name="Rectangle 54"/>
            <p:cNvSpPr>
              <a:spLocks noChangeArrowheads="1"/>
            </p:cNvSpPr>
            <p:nvPr/>
          </p:nvSpPr>
          <p:spPr bwMode="auto">
            <a:xfrm>
              <a:off x="4754" y="984"/>
              <a:ext cx="623"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35" name="Rectangle 55"/>
            <p:cNvSpPr>
              <a:spLocks noChangeArrowheads="1"/>
            </p:cNvSpPr>
            <p:nvPr/>
          </p:nvSpPr>
          <p:spPr bwMode="auto">
            <a:xfrm>
              <a:off x="4754" y="984"/>
              <a:ext cx="623"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36" name="Rectangle 56"/>
            <p:cNvSpPr>
              <a:spLocks noChangeArrowheads="1"/>
            </p:cNvSpPr>
            <p:nvPr/>
          </p:nvSpPr>
          <p:spPr bwMode="auto">
            <a:xfrm>
              <a:off x="5038" y="1117"/>
              <a:ext cx="57"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P</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6437" name="Rectangle 73"/>
            <p:cNvSpPr>
              <a:spLocks noChangeArrowheads="1"/>
            </p:cNvSpPr>
            <p:nvPr/>
          </p:nvSpPr>
          <p:spPr bwMode="auto">
            <a:xfrm>
              <a:off x="399"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38" name="Rectangle 74"/>
            <p:cNvSpPr>
              <a:spLocks noChangeArrowheads="1"/>
            </p:cNvSpPr>
            <p:nvPr/>
          </p:nvSpPr>
          <p:spPr bwMode="auto">
            <a:xfrm>
              <a:off x="399"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39" name="Rectangle 75"/>
            <p:cNvSpPr>
              <a:spLocks noChangeArrowheads="1"/>
            </p:cNvSpPr>
            <p:nvPr/>
          </p:nvSpPr>
          <p:spPr bwMode="auto">
            <a:xfrm>
              <a:off x="65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CY</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6440" name="Rectangle 76"/>
            <p:cNvSpPr>
              <a:spLocks noChangeArrowheads="1"/>
            </p:cNvSpPr>
            <p:nvPr/>
          </p:nvSpPr>
          <p:spPr bwMode="auto">
            <a:xfrm>
              <a:off x="1022"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41" name="Rectangle 77"/>
            <p:cNvSpPr>
              <a:spLocks noChangeArrowheads="1"/>
            </p:cNvSpPr>
            <p:nvPr/>
          </p:nvSpPr>
          <p:spPr bwMode="auto">
            <a:xfrm>
              <a:off x="1022"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42" name="Rectangle 78"/>
            <p:cNvSpPr>
              <a:spLocks noChangeArrowheads="1"/>
            </p:cNvSpPr>
            <p:nvPr/>
          </p:nvSpPr>
          <p:spPr bwMode="auto">
            <a:xfrm>
              <a:off x="127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AC</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6443" name="Rectangle 79"/>
            <p:cNvSpPr>
              <a:spLocks noChangeArrowheads="1"/>
            </p:cNvSpPr>
            <p:nvPr/>
          </p:nvSpPr>
          <p:spPr bwMode="auto">
            <a:xfrm>
              <a:off x="1644"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44" name="Rectangle 80"/>
            <p:cNvSpPr>
              <a:spLocks noChangeArrowheads="1"/>
            </p:cNvSpPr>
            <p:nvPr/>
          </p:nvSpPr>
          <p:spPr bwMode="auto">
            <a:xfrm>
              <a:off x="1644"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45" name="Rectangle 81"/>
            <p:cNvSpPr>
              <a:spLocks noChangeArrowheads="1"/>
            </p:cNvSpPr>
            <p:nvPr/>
          </p:nvSpPr>
          <p:spPr bwMode="auto">
            <a:xfrm>
              <a:off x="1897"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6446" name="Rectangle 82"/>
            <p:cNvSpPr>
              <a:spLocks noChangeArrowheads="1"/>
            </p:cNvSpPr>
            <p:nvPr/>
          </p:nvSpPr>
          <p:spPr bwMode="auto">
            <a:xfrm>
              <a:off x="2266" y="984"/>
              <a:ext cx="621"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47" name="Rectangle 83"/>
            <p:cNvSpPr>
              <a:spLocks noChangeArrowheads="1"/>
            </p:cNvSpPr>
            <p:nvPr/>
          </p:nvSpPr>
          <p:spPr bwMode="auto">
            <a:xfrm>
              <a:off x="2266" y="984"/>
              <a:ext cx="621"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48" name="Rectangle 84"/>
            <p:cNvSpPr>
              <a:spLocks noChangeArrowheads="1"/>
            </p:cNvSpPr>
            <p:nvPr/>
          </p:nvSpPr>
          <p:spPr bwMode="auto">
            <a:xfrm>
              <a:off x="2488"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6449" name="Rectangle 85"/>
            <p:cNvSpPr>
              <a:spLocks noChangeArrowheads="1"/>
            </p:cNvSpPr>
            <p:nvPr/>
          </p:nvSpPr>
          <p:spPr bwMode="auto">
            <a:xfrm>
              <a:off x="2887"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50" name="Rectangle 86"/>
            <p:cNvSpPr>
              <a:spLocks noChangeArrowheads="1"/>
            </p:cNvSpPr>
            <p:nvPr/>
          </p:nvSpPr>
          <p:spPr bwMode="auto">
            <a:xfrm>
              <a:off x="2887"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51" name="Rectangle 87"/>
            <p:cNvSpPr>
              <a:spLocks noChangeArrowheads="1"/>
            </p:cNvSpPr>
            <p:nvPr/>
          </p:nvSpPr>
          <p:spPr bwMode="auto">
            <a:xfrm>
              <a:off x="3111"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6452" name="Rectangle 88"/>
            <p:cNvSpPr>
              <a:spLocks noChangeArrowheads="1"/>
            </p:cNvSpPr>
            <p:nvPr/>
          </p:nvSpPr>
          <p:spPr bwMode="auto">
            <a:xfrm>
              <a:off x="3510"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53" name="Rectangle 89"/>
            <p:cNvSpPr>
              <a:spLocks noChangeArrowheads="1"/>
            </p:cNvSpPr>
            <p:nvPr/>
          </p:nvSpPr>
          <p:spPr bwMode="auto">
            <a:xfrm>
              <a:off x="3510"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54" name="Rectangle 90"/>
            <p:cNvSpPr>
              <a:spLocks noChangeArrowheads="1"/>
            </p:cNvSpPr>
            <p:nvPr/>
          </p:nvSpPr>
          <p:spPr bwMode="auto">
            <a:xfrm>
              <a:off x="376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OV</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6455" name="Rectangle 91"/>
            <p:cNvSpPr>
              <a:spLocks noChangeArrowheads="1"/>
            </p:cNvSpPr>
            <p:nvPr/>
          </p:nvSpPr>
          <p:spPr bwMode="auto">
            <a:xfrm>
              <a:off x="4132" y="984"/>
              <a:ext cx="622"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56" name="Rectangle 92"/>
            <p:cNvSpPr>
              <a:spLocks noChangeArrowheads="1"/>
            </p:cNvSpPr>
            <p:nvPr/>
          </p:nvSpPr>
          <p:spPr bwMode="auto">
            <a:xfrm>
              <a:off x="4132" y="984"/>
              <a:ext cx="622"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57" name="Rectangle 93"/>
            <p:cNvSpPr>
              <a:spLocks noChangeArrowheads="1"/>
            </p:cNvSpPr>
            <p:nvPr/>
          </p:nvSpPr>
          <p:spPr bwMode="auto">
            <a:xfrm>
              <a:off x="441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6458" name="Rectangle 94"/>
            <p:cNvSpPr>
              <a:spLocks noChangeArrowheads="1"/>
            </p:cNvSpPr>
            <p:nvPr/>
          </p:nvSpPr>
          <p:spPr bwMode="auto">
            <a:xfrm>
              <a:off x="4754" y="984"/>
              <a:ext cx="623"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59" name="Rectangle 95"/>
            <p:cNvSpPr>
              <a:spLocks noChangeArrowheads="1"/>
            </p:cNvSpPr>
            <p:nvPr/>
          </p:nvSpPr>
          <p:spPr bwMode="auto">
            <a:xfrm>
              <a:off x="4754" y="984"/>
              <a:ext cx="623"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60" name="Rectangle 96"/>
            <p:cNvSpPr>
              <a:spLocks noChangeArrowheads="1"/>
            </p:cNvSpPr>
            <p:nvPr/>
          </p:nvSpPr>
          <p:spPr bwMode="auto">
            <a:xfrm>
              <a:off x="5038" y="1117"/>
              <a:ext cx="57"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P</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6461" name="Rectangle 97"/>
            <p:cNvSpPr>
              <a:spLocks noChangeArrowheads="1"/>
            </p:cNvSpPr>
            <p:nvPr/>
          </p:nvSpPr>
          <p:spPr bwMode="auto">
            <a:xfrm>
              <a:off x="399"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62" name="Rectangle 98"/>
            <p:cNvSpPr>
              <a:spLocks noChangeArrowheads="1"/>
            </p:cNvSpPr>
            <p:nvPr/>
          </p:nvSpPr>
          <p:spPr bwMode="auto">
            <a:xfrm>
              <a:off x="399" y="984"/>
              <a:ext cx="623" cy="308"/>
            </a:xfrm>
            <a:prstGeom prst="rect">
              <a:avLst/>
            </a:prstGeom>
            <a:solidFill>
              <a:schemeClr val="bg1"/>
            </a:solid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63" name="Rectangle 99"/>
            <p:cNvSpPr>
              <a:spLocks noChangeArrowheads="1"/>
            </p:cNvSpPr>
            <p:nvPr/>
          </p:nvSpPr>
          <p:spPr bwMode="auto">
            <a:xfrm>
              <a:off x="637" y="1043"/>
              <a:ext cx="238" cy="173"/>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effectLst>
                    <a:outerShdw blurRad="38100" dist="38100" dir="2700000" algn="tl">
                      <a:srgbClr val="000000">
                        <a:alpha val="43137"/>
                      </a:srgbClr>
                    </a:outerShdw>
                  </a:effectLst>
                  <a:latin typeface="宋体" panose="02010600030101010101" pitchFamily="2" charset="-122"/>
                </a:rPr>
                <a:t>CY</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6464" name="Rectangle 100"/>
            <p:cNvSpPr>
              <a:spLocks noChangeArrowheads="1"/>
            </p:cNvSpPr>
            <p:nvPr/>
          </p:nvSpPr>
          <p:spPr bwMode="auto">
            <a:xfrm>
              <a:off x="1022"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65" name="Rectangle 101"/>
            <p:cNvSpPr>
              <a:spLocks noChangeArrowheads="1"/>
            </p:cNvSpPr>
            <p:nvPr/>
          </p:nvSpPr>
          <p:spPr bwMode="auto">
            <a:xfrm>
              <a:off x="1022"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66" name="Rectangle 102"/>
            <p:cNvSpPr>
              <a:spLocks noChangeArrowheads="1"/>
            </p:cNvSpPr>
            <p:nvPr/>
          </p:nvSpPr>
          <p:spPr bwMode="auto">
            <a:xfrm>
              <a:off x="1276" y="1043"/>
              <a:ext cx="219" cy="173"/>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AC</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6467" name="Rectangle 103"/>
            <p:cNvSpPr>
              <a:spLocks noChangeArrowheads="1"/>
            </p:cNvSpPr>
            <p:nvPr/>
          </p:nvSpPr>
          <p:spPr bwMode="auto">
            <a:xfrm>
              <a:off x="1644"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68" name="Rectangle 104"/>
            <p:cNvSpPr>
              <a:spLocks noChangeArrowheads="1"/>
            </p:cNvSpPr>
            <p:nvPr/>
          </p:nvSpPr>
          <p:spPr bwMode="auto">
            <a:xfrm>
              <a:off x="1644" y="984"/>
              <a:ext cx="622" cy="308"/>
            </a:xfrm>
            <a:prstGeom prst="rect">
              <a:avLst/>
            </a:prstGeom>
            <a:solidFill>
              <a:srgbClr val="CCFFFF"/>
            </a:solid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69" name="Rectangle 105"/>
            <p:cNvSpPr>
              <a:spLocks noChangeArrowheads="1"/>
            </p:cNvSpPr>
            <p:nvPr/>
          </p:nvSpPr>
          <p:spPr bwMode="auto">
            <a:xfrm>
              <a:off x="1882" y="1044"/>
              <a:ext cx="146" cy="173"/>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FF3300"/>
                  </a:solidFill>
                  <a:effectLst>
                    <a:outerShdw blurRad="38100" dist="38100" dir="2700000" algn="tl">
                      <a:srgbClr val="000000">
                        <a:alpha val="43137"/>
                      </a:srgbClr>
                    </a:outerShdw>
                  </a:effectLst>
                  <a:latin typeface="宋体" panose="02010600030101010101" pitchFamily="2" charset="-122"/>
                </a:rPr>
                <a:t>F0</a:t>
              </a:r>
              <a:endParaRPr kumimoji="1" lang="en-US" altLang="zh-CN" b="1">
                <a:solidFill>
                  <a:srgbClr val="FF3300"/>
                </a:solidFill>
                <a:effectLst>
                  <a:outerShdw blurRad="38100" dist="38100" dir="2700000" algn="tl">
                    <a:srgbClr val="000000">
                      <a:alpha val="43137"/>
                    </a:srgbClr>
                  </a:outerShdw>
                </a:effectLst>
                <a:latin typeface="Times New Roman" panose="02020603050405020304" pitchFamily="18" charset="0"/>
              </a:endParaRPr>
            </a:p>
          </p:txBody>
        </p:sp>
        <p:sp>
          <p:nvSpPr>
            <p:cNvPr id="16470" name="Rectangle 106"/>
            <p:cNvSpPr>
              <a:spLocks noChangeArrowheads="1"/>
            </p:cNvSpPr>
            <p:nvPr/>
          </p:nvSpPr>
          <p:spPr bwMode="auto">
            <a:xfrm>
              <a:off x="2266" y="984"/>
              <a:ext cx="621"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71" name="Rectangle 107"/>
            <p:cNvSpPr>
              <a:spLocks noChangeArrowheads="1"/>
            </p:cNvSpPr>
            <p:nvPr/>
          </p:nvSpPr>
          <p:spPr bwMode="auto">
            <a:xfrm>
              <a:off x="2266" y="984"/>
              <a:ext cx="621"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72" name="Rectangle 108"/>
            <p:cNvSpPr>
              <a:spLocks noChangeArrowheads="1"/>
            </p:cNvSpPr>
            <p:nvPr/>
          </p:nvSpPr>
          <p:spPr bwMode="auto">
            <a:xfrm>
              <a:off x="2505" y="1044"/>
              <a:ext cx="219" cy="173"/>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RS1</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6473" name="Rectangle 109"/>
            <p:cNvSpPr>
              <a:spLocks noChangeArrowheads="1"/>
            </p:cNvSpPr>
            <p:nvPr/>
          </p:nvSpPr>
          <p:spPr bwMode="auto">
            <a:xfrm>
              <a:off x="2887"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74" name="Rectangle 110"/>
            <p:cNvSpPr>
              <a:spLocks noChangeArrowheads="1"/>
            </p:cNvSpPr>
            <p:nvPr/>
          </p:nvSpPr>
          <p:spPr bwMode="auto">
            <a:xfrm>
              <a:off x="2887"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75" name="Rectangle 111"/>
            <p:cNvSpPr>
              <a:spLocks noChangeArrowheads="1"/>
            </p:cNvSpPr>
            <p:nvPr/>
          </p:nvSpPr>
          <p:spPr bwMode="auto">
            <a:xfrm>
              <a:off x="3111" y="1051"/>
              <a:ext cx="219" cy="173"/>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RS0</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6476" name="Rectangle 112"/>
            <p:cNvSpPr>
              <a:spLocks noChangeArrowheads="1"/>
            </p:cNvSpPr>
            <p:nvPr/>
          </p:nvSpPr>
          <p:spPr bwMode="auto">
            <a:xfrm>
              <a:off x="3510"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77" name="Rectangle 113"/>
            <p:cNvSpPr>
              <a:spLocks noChangeArrowheads="1"/>
            </p:cNvSpPr>
            <p:nvPr/>
          </p:nvSpPr>
          <p:spPr bwMode="auto">
            <a:xfrm>
              <a:off x="3510"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78" name="Rectangle 114"/>
            <p:cNvSpPr>
              <a:spLocks noChangeArrowheads="1"/>
            </p:cNvSpPr>
            <p:nvPr/>
          </p:nvSpPr>
          <p:spPr bwMode="auto">
            <a:xfrm>
              <a:off x="3754" y="1035"/>
              <a:ext cx="146" cy="173"/>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OV</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6479" name="Rectangle 115"/>
            <p:cNvSpPr>
              <a:spLocks noChangeArrowheads="1"/>
            </p:cNvSpPr>
            <p:nvPr/>
          </p:nvSpPr>
          <p:spPr bwMode="auto">
            <a:xfrm>
              <a:off x="4132" y="984"/>
              <a:ext cx="622"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80" name="Rectangle 116"/>
            <p:cNvSpPr>
              <a:spLocks noChangeArrowheads="1"/>
            </p:cNvSpPr>
            <p:nvPr/>
          </p:nvSpPr>
          <p:spPr bwMode="auto">
            <a:xfrm>
              <a:off x="4132" y="984"/>
              <a:ext cx="622" cy="309"/>
            </a:xfrm>
            <a:prstGeom prst="rect">
              <a:avLst/>
            </a:prstGeom>
            <a:solidFill>
              <a:srgbClr val="CCFFFF"/>
            </a:solid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81" name="Rectangle 117"/>
            <p:cNvSpPr>
              <a:spLocks noChangeArrowheads="1"/>
            </p:cNvSpPr>
            <p:nvPr/>
          </p:nvSpPr>
          <p:spPr bwMode="auto">
            <a:xfrm>
              <a:off x="4400" y="1034"/>
              <a:ext cx="146" cy="173"/>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FF3300"/>
                  </a:solidFill>
                  <a:effectLst>
                    <a:outerShdw blurRad="38100" dist="38100" dir="2700000" algn="tl">
                      <a:srgbClr val="000000">
                        <a:alpha val="43137"/>
                      </a:srgbClr>
                    </a:outerShdw>
                  </a:effectLst>
                  <a:latin typeface="宋体" panose="02010600030101010101" pitchFamily="2" charset="-122"/>
                </a:rPr>
                <a:t>F1</a:t>
              </a:r>
            </a:p>
          </p:txBody>
        </p:sp>
        <p:sp>
          <p:nvSpPr>
            <p:cNvPr id="16482" name="Rectangle 118"/>
            <p:cNvSpPr>
              <a:spLocks noChangeArrowheads="1"/>
            </p:cNvSpPr>
            <p:nvPr/>
          </p:nvSpPr>
          <p:spPr bwMode="auto">
            <a:xfrm>
              <a:off x="4754" y="984"/>
              <a:ext cx="623"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83" name="Rectangle 119"/>
            <p:cNvSpPr>
              <a:spLocks noChangeArrowheads="1"/>
            </p:cNvSpPr>
            <p:nvPr/>
          </p:nvSpPr>
          <p:spPr bwMode="auto">
            <a:xfrm>
              <a:off x="4754" y="984"/>
              <a:ext cx="623"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6484" name="Rectangle 120"/>
            <p:cNvSpPr>
              <a:spLocks noChangeArrowheads="1"/>
            </p:cNvSpPr>
            <p:nvPr/>
          </p:nvSpPr>
          <p:spPr bwMode="auto">
            <a:xfrm>
              <a:off x="5047" y="1034"/>
              <a:ext cx="74" cy="174"/>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P</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6485" name="Rectangle 121"/>
            <p:cNvSpPr>
              <a:spLocks noChangeArrowheads="1"/>
            </p:cNvSpPr>
            <p:nvPr/>
          </p:nvSpPr>
          <p:spPr bwMode="auto">
            <a:xfrm>
              <a:off x="569" y="773"/>
              <a:ext cx="380"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effectLst>
                    <a:outerShdw blurRad="38100" dist="38100" dir="2700000" algn="tl">
                      <a:srgbClr val="000000">
                        <a:alpha val="43137"/>
                      </a:srgbClr>
                    </a:outerShdw>
                  </a:effectLst>
                  <a:latin typeface="宋体" panose="02010600030101010101" pitchFamily="2" charset="-122"/>
                </a:rPr>
                <a:t>PSW.7</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16486" name="Rectangle 122"/>
            <p:cNvSpPr>
              <a:spLocks noChangeArrowheads="1"/>
            </p:cNvSpPr>
            <p:nvPr/>
          </p:nvSpPr>
          <p:spPr bwMode="auto">
            <a:xfrm>
              <a:off x="1197" y="763"/>
              <a:ext cx="374"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PSW.6</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16487" name="Rectangle 123"/>
            <p:cNvSpPr>
              <a:spLocks noChangeArrowheads="1"/>
            </p:cNvSpPr>
            <p:nvPr/>
          </p:nvSpPr>
          <p:spPr bwMode="auto">
            <a:xfrm>
              <a:off x="1810" y="764"/>
              <a:ext cx="368" cy="173"/>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FF3300"/>
                  </a:solidFill>
                  <a:effectLst>
                    <a:outerShdw blurRad="38100" dist="38100" dir="2700000" algn="tl">
                      <a:srgbClr val="000000">
                        <a:alpha val="43137"/>
                      </a:srgbClr>
                    </a:outerShdw>
                  </a:effectLst>
                  <a:latin typeface="宋体" panose="02010600030101010101" pitchFamily="2" charset="-122"/>
                </a:rPr>
                <a:t>PSW.5</a:t>
              </a:r>
            </a:p>
          </p:txBody>
        </p:sp>
        <p:sp>
          <p:nvSpPr>
            <p:cNvPr id="16488" name="Rectangle 124"/>
            <p:cNvSpPr>
              <a:spLocks noChangeArrowheads="1"/>
            </p:cNvSpPr>
            <p:nvPr/>
          </p:nvSpPr>
          <p:spPr bwMode="auto">
            <a:xfrm>
              <a:off x="2448" y="772"/>
              <a:ext cx="364"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PSW.4</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16489" name="Rectangle 125"/>
            <p:cNvSpPr>
              <a:spLocks noChangeArrowheads="1"/>
            </p:cNvSpPr>
            <p:nvPr/>
          </p:nvSpPr>
          <p:spPr bwMode="auto">
            <a:xfrm>
              <a:off x="3054" y="763"/>
              <a:ext cx="363"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PSW.3</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16490" name="Rectangle 126"/>
            <p:cNvSpPr>
              <a:spLocks noChangeArrowheads="1"/>
            </p:cNvSpPr>
            <p:nvPr/>
          </p:nvSpPr>
          <p:spPr bwMode="auto">
            <a:xfrm>
              <a:off x="3675" y="756"/>
              <a:ext cx="379"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PSW.2</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16491" name="Rectangle 127"/>
            <p:cNvSpPr>
              <a:spLocks noChangeArrowheads="1"/>
            </p:cNvSpPr>
            <p:nvPr/>
          </p:nvSpPr>
          <p:spPr bwMode="auto">
            <a:xfrm>
              <a:off x="4298" y="747"/>
              <a:ext cx="374" cy="173"/>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FF3300"/>
                  </a:solidFill>
                  <a:effectLst>
                    <a:outerShdw blurRad="38100" dist="38100" dir="2700000" algn="tl">
                      <a:srgbClr val="000000">
                        <a:alpha val="43137"/>
                      </a:srgbClr>
                    </a:outerShdw>
                  </a:effectLst>
                  <a:latin typeface="宋体" panose="02010600030101010101" pitchFamily="2" charset="-122"/>
                </a:rPr>
                <a:t>PSW.1</a:t>
              </a:r>
            </a:p>
          </p:txBody>
        </p:sp>
        <p:sp>
          <p:nvSpPr>
            <p:cNvPr id="16492" name="Rectangle 128"/>
            <p:cNvSpPr>
              <a:spLocks noChangeArrowheads="1"/>
            </p:cNvSpPr>
            <p:nvPr/>
          </p:nvSpPr>
          <p:spPr bwMode="auto">
            <a:xfrm>
              <a:off x="4918" y="763"/>
              <a:ext cx="368"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PSW.0</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grpSp>
      <p:sp>
        <p:nvSpPr>
          <p:cNvPr id="110" name="Rectangle 2"/>
          <p:cNvSpPr>
            <a:spLocks noChangeArrowheads="1"/>
          </p:cNvSpPr>
          <p:nvPr/>
        </p:nvSpPr>
        <p:spPr bwMode="auto">
          <a:xfrm>
            <a:off x="5364163" y="331788"/>
            <a:ext cx="3509962" cy="338137"/>
          </a:xfrm>
          <a:prstGeom prst="rect">
            <a:avLst/>
          </a:prstGeom>
          <a:noFill/>
          <a:ln>
            <a:noFill/>
          </a:ln>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defRPr/>
            </a:pPr>
            <a:r>
              <a:rPr kumimoji="1" lang="en-US" altLang="zh-CN"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2.1</a:t>
            </a: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单片机的基本结构</a:t>
            </a:r>
            <a:endParaRPr kumimoji="1" lang="zh-CN" altLang="en-US" sz="24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ChangeArrowheads="1"/>
          </p:cNvSpPr>
          <p:nvPr/>
        </p:nvSpPr>
        <p:spPr bwMode="auto">
          <a:xfrm>
            <a:off x="719138" y="2411413"/>
            <a:ext cx="8054975" cy="996950"/>
          </a:xfrm>
          <a:prstGeom prst="rect">
            <a:avLst/>
          </a:prstGeom>
          <a:noFill/>
          <a:ln>
            <a:noFill/>
          </a:ln>
        </p:spPr>
        <p:txBody>
          <a:bodyPr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2400" b="1" dirty="0">
                <a:solidFill>
                  <a:srgbClr val="CC0000"/>
                </a:solidFill>
                <a:effectLst>
                  <a:outerShdw blurRad="38100" dist="38100" dir="2700000" algn="tl">
                    <a:srgbClr val="000000">
                      <a:alpha val="43137"/>
                    </a:srgbClr>
                  </a:outerShdw>
                </a:effectLst>
                <a:latin typeface="Times New Roman" panose="02020603050405020304" pitchFamily="18" charset="0"/>
              </a:rPr>
              <a:t>RS1</a:t>
            </a:r>
            <a:r>
              <a:rPr kumimoji="1" lang="zh-CN" altLang="en-US" sz="2400" b="1" dirty="0">
                <a:solidFill>
                  <a:srgbClr val="CC0000"/>
                </a:solidFill>
                <a:effectLst>
                  <a:outerShdw blurRad="38100" dist="38100" dir="2700000" algn="tl">
                    <a:srgbClr val="000000">
                      <a:alpha val="43137"/>
                    </a:srgbClr>
                  </a:outerShdw>
                </a:effectLst>
                <a:latin typeface="Times New Roman" panose="02020603050405020304" pitchFamily="18" charset="0"/>
              </a:rPr>
              <a:t>（</a:t>
            </a:r>
            <a:r>
              <a:rPr kumimoji="1" lang="en-US" altLang="zh-CN" sz="2400" b="1" dirty="0">
                <a:solidFill>
                  <a:srgbClr val="CC0000"/>
                </a:solidFill>
                <a:effectLst>
                  <a:outerShdw blurRad="38100" dist="38100" dir="2700000" algn="tl">
                    <a:srgbClr val="000000">
                      <a:alpha val="43137"/>
                    </a:srgbClr>
                  </a:outerShdw>
                </a:effectLst>
                <a:latin typeface="Times New Roman" panose="02020603050405020304" pitchFamily="18" charset="0"/>
              </a:rPr>
              <a:t>PSW.4</a:t>
            </a:r>
            <a:r>
              <a:rPr kumimoji="1" lang="zh-CN" altLang="en-US" sz="2400" b="1" dirty="0">
                <a:solidFill>
                  <a:srgbClr val="CC0000"/>
                </a:solidFill>
                <a:effectLst>
                  <a:outerShdw blurRad="38100" dist="38100" dir="2700000" algn="tl">
                    <a:srgbClr val="000000">
                      <a:alpha val="43137"/>
                    </a:srgbClr>
                  </a:outerShdw>
                </a:effectLst>
                <a:latin typeface="Times New Roman" panose="02020603050405020304" pitchFamily="18" charset="0"/>
              </a:rPr>
              <a:t>）</a:t>
            </a:r>
            <a:r>
              <a:rPr kumimoji="1" lang="zh-CN" altLang="en-US" sz="2400" b="1" dirty="0">
                <a:effectLst>
                  <a:outerShdw blurRad="38100" dist="38100" dir="2700000" algn="tl">
                    <a:srgbClr val="000000">
                      <a:alpha val="43137"/>
                    </a:srgbClr>
                  </a:outerShdw>
                </a:effectLst>
                <a:latin typeface="Times New Roman" panose="02020603050405020304" pitchFamily="18" charset="0"/>
              </a:rPr>
              <a:t>和</a:t>
            </a:r>
            <a:r>
              <a:rPr kumimoji="1" lang="en-US" altLang="zh-CN" sz="2400" b="1" dirty="0">
                <a:solidFill>
                  <a:srgbClr val="CC0000"/>
                </a:solidFill>
                <a:effectLst>
                  <a:outerShdw blurRad="38100" dist="38100" dir="2700000" algn="tl">
                    <a:srgbClr val="000000">
                      <a:alpha val="43137"/>
                    </a:srgbClr>
                  </a:outerShdw>
                </a:effectLst>
                <a:latin typeface="Times New Roman" panose="02020603050405020304" pitchFamily="18" charset="0"/>
              </a:rPr>
              <a:t>RS0</a:t>
            </a:r>
            <a:r>
              <a:rPr kumimoji="1" lang="zh-CN" altLang="en-US" sz="2400" b="1" dirty="0">
                <a:effectLst>
                  <a:outerShdw blurRad="38100" dist="38100" dir="2700000" algn="tl">
                    <a:srgbClr val="000000">
                      <a:alpha val="43137"/>
                    </a:srgbClr>
                  </a:outerShdw>
                </a:effectLst>
                <a:latin typeface="Times New Roman" panose="02020603050405020304" pitchFamily="18" charset="0"/>
              </a:rPr>
              <a:t>（</a:t>
            </a:r>
            <a:r>
              <a:rPr kumimoji="1" lang="en-US" altLang="zh-CN" sz="2400" b="1" dirty="0">
                <a:solidFill>
                  <a:srgbClr val="CC0000"/>
                </a:solidFill>
                <a:effectLst>
                  <a:outerShdw blurRad="38100" dist="38100" dir="2700000" algn="tl">
                    <a:srgbClr val="000000">
                      <a:alpha val="43137"/>
                    </a:srgbClr>
                  </a:outerShdw>
                </a:effectLst>
                <a:latin typeface="Times New Roman" panose="02020603050405020304" pitchFamily="18" charset="0"/>
              </a:rPr>
              <a:t>PSW.3</a:t>
            </a:r>
            <a:r>
              <a:rPr kumimoji="1" lang="zh-CN" altLang="en-US" sz="2400" b="1" dirty="0">
                <a:solidFill>
                  <a:srgbClr val="CC0000"/>
                </a:solidFill>
                <a:effectLst>
                  <a:outerShdw blurRad="38100" dist="38100" dir="2700000" algn="tl">
                    <a:srgbClr val="000000">
                      <a:alpha val="43137"/>
                    </a:srgbClr>
                  </a:outerShdw>
                </a:effectLst>
                <a:latin typeface="Times New Roman" panose="02020603050405020304" pitchFamily="18" charset="0"/>
              </a:rPr>
              <a:t>）</a:t>
            </a:r>
            <a:r>
              <a:rPr kumimoji="1" lang="en-US" altLang="zh-CN" sz="2400" b="1" dirty="0">
                <a:effectLst>
                  <a:outerShdw blurRad="38100" dist="38100" dir="2700000" algn="tl">
                    <a:srgbClr val="000000">
                      <a:alpha val="43137"/>
                    </a:srgbClr>
                  </a:outerShdw>
                </a:effectLst>
                <a:latin typeface="Times New Roman" panose="02020603050405020304" pitchFamily="18" charset="0"/>
              </a:rPr>
              <a:t>——</a:t>
            </a:r>
            <a:r>
              <a:rPr kumimoji="1" lang="zh-CN" altLang="en-US" sz="2400" b="1" dirty="0">
                <a:effectLst>
                  <a:outerShdw blurRad="38100" dist="38100" dir="2700000" algn="tl">
                    <a:srgbClr val="000000">
                      <a:alpha val="43137"/>
                    </a:srgbClr>
                  </a:outerShdw>
                </a:effectLst>
                <a:latin typeface="Times New Roman" panose="02020603050405020304" pitchFamily="18" charset="0"/>
              </a:rPr>
              <a:t>工作寄存器组指针</a:t>
            </a:r>
          </a:p>
          <a:p>
            <a:pPr eaLnBrk="1" hangingPunct="1">
              <a:spcBef>
                <a:spcPct val="45000"/>
              </a:spcBef>
              <a:buFontTx/>
              <a:buNone/>
              <a:defRPr/>
            </a:pPr>
            <a:r>
              <a:rPr kumimoji="1" lang="zh-CN" altLang="en-US" sz="2400" b="1" dirty="0">
                <a:solidFill>
                  <a:srgbClr val="CC0000"/>
                </a:solidFill>
                <a:effectLst>
                  <a:outerShdw blurRad="38100" dist="38100" dir="2700000" algn="tl">
                    <a:srgbClr val="000000">
                      <a:alpha val="43137"/>
                    </a:srgbClr>
                  </a:outerShdw>
                </a:effectLst>
                <a:latin typeface="Times New Roman" panose="02020603050405020304" pitchFamily="18" charset="0"/>
              </a:rPr>
              <a:t>用途</a:t>
            </a:r>
            <a:r>
              <a:rPr kumimoji="1" lang="zh-CN" altLang="en-US" sz="2400" b="1" dirty="0">
                <a:effectLst>
                  <a:outerShdw blurRad="38100" dist="38100" dir="2700000" algn="tl">
                    <a:srgbClr val="000000">
                      <a:alpha val="43137"/>
                    </a:srgbClr>
                  </a:outerShdw>
                </a:effectLst>
                <a:latin typeface="Times New Roman" panose="02020603050405020304" pitchFamily="18" charset="0"/>
              </a:rPr>
              <a:t>：用于</a:t>
            </a:r>
            <a:r>
              <a:rPr kumimoji="1" lang="zh-CN" altLang="en-US" sz="2400" b="1" dirty="0">
                <a:solidFill>
                  <a:srgbClr val="0066FF"/>
                </a:solidFill>
                <a:effectLst>
                  <a:outerShdw blurRad="38100" dist="38100" dir="2700000" algn="tl">
                    <a:srgbClr val="000000">
                      <a:alpha val="43137"/>
                    </a:srgbClr>
                  </a:outerShdw>
                </a:effectLst>
                <a:latin typeface="Times New Roman" panose="02020603050405020304" pitchFamily="18" charset="0"/>
              </a:rPr>
              <a:t>指定</a:t>
            </a:r>
            <a:r>
              <a:rPr kumimoji="1" lang="en-US" altLang="zh-CN" sz="2400" b="1" dirty="0">
                <a:solidFill>
                  <a:srgbClr val="0066FF"/>
                </a:solidFill>
                <a:effectLst>
                  <a:outerShdw blurRad="38100" dist="38100" dir="2700000" algn="tl">
                    <a:srgbClr val="000000">
                      <a:alpha val="43137"/>
                    </a:srgbClr>
                  </a:outerShdw>
                </a:effectLst>
                <a:latin typeface="Times New Roman" panose="02020603050405020304" pitchFamily="18" charset="0"/>
              </a:rPr>
              <a:t>CPU</a:t>
            </a:r>
            <a:r>
              <a:rPr kumimoji="1" lang="zh-CN" altLang="en-US" sz="2400" b="1" dirty="0">
                <a:solidFill>
                  <a:srgbClr val="0066FF"/>
                </a:solidFill>
                <a:effectLst>
                  <a:outerShdw blurRad="38100" dist="38100" dir="2700000" algn="tl">
                    <a:srgbClr val="000000">
                      <a:alpha val="43137"/>
                    </a:srgbClr>
                  </a:outerShdw>
                </a:effectLst>
                <a:latin typeface="Times New Roman" panose="02020603050405020304" pitchFamily="18" charset="0"/>
              </a:rPr>
              <a:t>的当前工作寄存器组</a:t>
            </a:r>
          </a:p>
        </p:txBody>
      </p:sp>
      <p:grpSp>
        <p:nvGrpSpPr>
          <p:cNvPr id="18435" name="Group 160"/>
          <p:cNvGrpSpPr/>
          <p:nvPr/>
        </p:nvGrpSpPr>
        <p:grpSpPr bwMode="auto">
          <a:xfrm>
            <a:off x="563563" y="1176338"/>
            <a:ext cx="7902575" cy="866775"/>
            <a:chOff x="399" y="747"/>
            <a:chExt cx="4978" cy="546"/>
          </a:xfrm>
        </p:grpSpPr>
        <p:sp>
          <p:nvSpPr>
            <p:cNvPr id="17414" name="Rectangle 9"/>
            <p:cNvSpPr>
              <a:spLocks noChangeArrowheads="1"/>
            </p:cNvSpPr>
            <p:nvPr/>
          </p:nvSpPr>
          <p:spPr bwMode="auto">
            <a:xfrm>
              <a:off x="399"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15" name="Rectangle 10"/>
            <p:cNvSpPr>
              <a:spLocks noChangeArrowheads="1"/>
            </p:cNvSpPr>
            <p:nvPr/>
          </p:nvSpPr>
          <p:spPr bwMode="auto">
            <a:xfrm>
              <a:off x="399"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16" name="Rectangle 11"/>
            <p:cNvSpPr>
              <a:spLocks noChangeArrowheads="1"/>
            </p:cNvSpPr>
            <p:nvPr/>
          </p:nvSpPr>
          <p:spPr bwMode="auto">
            <a:xfrm>
              <a:off x="65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CY</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7417" name="Rectangle 12"/>
            <p:cNvSpPr>
              <a:spLocks noChangeArrowheads="1"/>
            </p:cNvSpPr>
            <p:nvPr/>
          </p:nvSpPr>
          <p:spPr bwMode="auto">
            <a:xfrm>
              <a:off x="1022"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18" name="Rectangle 13"/>
            <p:cNvSpPr>
              <a:spLocks noChangeArrowheads="1"/>
            </p:cNvSpPr>
            <p:nvPr/>
          </p:nvSpPr>
          <p:spPr bwMode="auto">
            <a:xfrm>
              <a:off x="1022"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19" name="Rectangle 14"/>
            <p:cNvSpPr>
              <a:spLocks noChangeArrowheads="1"/>
            </p:cNvSpPr>
            <p:nvPr/>
          </p:nvSpPr>
          <p:spPr bwMode="auto">
            <a:xfrm>
              <a:off x="127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AC</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7420" name="Rectangle 15"/>
            <p:cNvSpPr>
              <a:spLocks noChangeArrowheads="1"/>
            </p:cNvSpPr>
            <p:nvPr/>
          </p:nvSpPr>
          <p:spPr bwMode="auto">
            <a:xfrm>
              <a:off x="1644"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21" name="Rectangle 16"/>
            <p:cNvSpPr>
              <a:spLocks noChangeArrowheads="1"/>
            </p:cNvSpPr>
            <p:nvPr/>
          </p:nvSpPr>
          <p:spPr bwMode="auto">
            <a:xfrm>
              <a:off x="1644"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22" name="Rectangle 17"/>
            <p:cNvSpPr>
              <a:spLocks noChangeArrowheads="1"/>
            </p:cNvSpPr>
            <p:nvPr/>
          </p:nvSpPr>
          <p:spPr bwMode="auto">
            <a:xfrm>
              <a:off x="1897"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7423" name="Rectangle 18"/>
            <p:cNvSpPr>
              <a:spLocks noChangeArrowheads="1"/>
            </p:cNvSpPr>
            <p:nvPr/>
          </p:nvSpPr>
          <p:spPr bwMode="auto">
            <a:xfrm>
              <a:off x="2266" y="984"/>
              <a:ext cx="621"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24" name="Rectangle 19"/>
            <p:cNvSpPr>
              <a:spLocks noChangeArrowheads="1"/>
            </p:cNvSpPr>
            <p:nvPr/>
          </p:nvSpPr>
          <p:spPr bwMode="auto">
            <a:xfrm>
              <a:off x="2266" y="984"/>
              <a:ext cx="621"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25" name="Rectangle 20"/>
            <p:cNvSpPr>
              <a:spLocks noChangeArrowheads="1"/>
            </p:cNvSpPr>
            <p:nvPr/>
          </p:nvSpPr>
          <p:spPr bwMode="auto">
            <a:xfrm>
              <a:off x="2488"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7426" name="Rectangle 21"/>
            <p:cNvSpPr>
              <a:spLocks noChangeArrowheads="1"/>
            </p:cNvSpPr>
            <p:nvPr/>
          </p:nvSpPr>
          <p:spPr bwMode="auto">
            <a:xfrm>
              <a:off x="2887"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27" name="Rectangle 22"/>
            <p:cNvSpPr>
              <a:spLocks noChangeArrowheads="1"/>
            </p:cNvSpPr>
            <p:nvPr/>
          </p:nvSpPr>
          <p:spPr bwMode="auto">
            <a:xfrm>
              <a:off x="2887"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28" name="Rectangle 23"/>
            <p:cNvSpPr>
              <a:spLocks noChangeArrowheads="1"/>
            </p:cNvSpPr>
            <p:nvPr/>
          </p:nvSpPr>
          <p:spPr bwMode="auto">
            <a:xfrm>
              <a:off x="3111"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7429" name="Rectangle 24"/>
            <p:cNvSpPr>
              <a:spLocks noChangeArrowheads="1"/>
            </p:cNvSpPr>
            <p:nvPr/>
          </p:nvSpPr>
          <p:spPr bwMode="auto">
            <a:xfrm>
              <a:off x="3510"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30" name="Rectangle 25"/>
            <p:cNvSpPr>
              <a:spLocks noChangeArrowheads="1"/>
            </p:cNvSpPr>
            <p:nvPr/>
          </p:nvSpPr>
          <p:spPr bwMode="auto">
            <a:xfrm>
              <a:off x="3510"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31" name="Rectangle 26"/>
            <p:cNvSpPr>
              <a:spLocks noChangeArrowheads="1"/>
            </p:cNvSpPr>
            <p:nvPr/>
          </p:nvSpPr>
          <p:spPr bwMode="auto">
            <a:xfrm>
              <a:off x="376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OV</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7432" name="Rectangle 27"/>
            <p:cNvSpPr>
              <a:spLocks noChangeArrowheads="1"/>
            </p:cNvSpPr>
            <p:nvPr/>
          </p:nvSpPr>
          <p:spPr bwMode="auto">
            <a:xfrm>
              <a:off x="4132" y="984"/>
              <a:ext cx="622"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33" name="Rectangle 28"/>
            <p:cNvSpPr>
              <a:spLocks noChangeArrowheads="1"/>
            </p:cNvSpPr>
            <p:nvPr/>
          </p:nvSpPr>
          <p:spPr bwMode="auto">
            <a:xfrm>
              <a:off x="4132" y="984"/>
              <a:ext cx="622"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34" name="Rectangle 29"/>
            <p:cNvSpPr>
              <a:spLocks noChangeArrowheads="1"/>
            </p:cNvSpPr>
            <p:nvPr/>
          </p:nvSpPr>
          <p:spPr bwMode="auto">
            <a:xfrm>
              <a:off x="441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7435" name="Rectangle 30"/>
            <p:cNvSpPr>
              <a:spLocks noChangeArrowheads="1"/>
            </p:cNvSpPr>
            <p:nvPr/>
          </p:nvSpPr>
          <p:spPr bwMode="auto">
            <a:xfrm>
              <a:off x="4754" y="984"/>
              <a:ext cx="623"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36" name="Rectangle 31"/>
            <p:cNvSpPr>
              <a:spLocks noChangeArrowheads="1"/>
            </p:cNvSpPr>
            <p:nvPr/>
          </p:nvSpPr>
          <p:spPr bwMode="auto">
            <a:xfrm>
              <a:off x="4754" y="984"/>
              <a:ext cx="623"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37" name="Rectangle 32"/>
            <p:cNvSpPr>
              <a:spLocks noChangeArrowheads="1"/>
            </p:cNvSpPr>
            <p:nvPr/>
          </p:nvSpPr>
          <p:spPr bwMode="auto">
            <a:xfrm>
              <a:off x="5038" y="1117"/>
              <a:ext cx="57"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P</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7438" name="Rectangle 33"/>
            <p:cNvSpPr>
              <a:spLocks noChangeArrowheads="1"/>
            </p:cNvSpPr>
            <p:nvPr/>
          </p:nvSpPr>
          <p:spPr bwMode="auto">
            <a:xfrm>
              <a:off x="399"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39" name="Rectangle 34"/>
            <p:cNvSpPr>
              <a:spLocks noChangeArrowheads="1"/>
            </p:cNvSpPr>
            <p:nvPr/>
          </p:nvSpPr>
          <p:spPr bwMode="auto">
            <a:xfrm>
              <a:off x="399"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40" name="Rectangle 35"/>
            <p:cNvSpPr>
              <a:spLocks noChangeArrowheads="1"/>
            </p:cNvSpPr>
            <p:nvPr/>
          </p:nvSpPr>
          <p:spPr bwMode="auto">
            <a:xfrm>
              <a:off x="65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CY</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7441" name="Rectangle 36"/>
            <p:cNvSpPr>
              <a:spLocks noChangeArrowheads="1"/>
            </p:cNvSpPr>
            <p:nvPr/>
          </p:nvSpPr>
          <p:spPr bwMode="auto">
            <a:xfrm>
              <a:off x="1022"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42" name="Rectangle 37"/>
            <p:cNvSpPr>
              <a:spLocks noChangeArrowheads="1"/>
            </p:cNvSpPr>
            <p:nvPr/>
          </p:nvSpPr>
          <p:spPr bwMode="auto">
            <a:xfrm>
              <a:off x="1022"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43" name="Rectangle 38"/>
            <p:cNvSpPr>
              <a:spLocks noChangeArrowheads="1"/>
            </p:cNvSpPr>
            <p:nvPr/>
          </p:nvSpPr>
          <p:spPr bwMode="auto">
            <a:xfrm>
              <a:off x="127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AC</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7444" name="Rectangle 39"/>
            <p:cNvSpPr>
              <a:spLocks noChangeArrowheads="1"/>
            </p:cNvSpPr>
            <p:nvPr/>
          </p:nvSpPr>
          <p:spPr bwMode="auto">
            <a:xfrm>
              <a:off x="1644"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45" name="Rectangle 40"/>
            <p:cNvSpPr>
              <a:spLocks noChangeArrowheads="1"/>
            </p:cNvSpPr>
            <p:nvPr/>
          </p:nvSpPr>
          <p:spPr bwMode="auto">
            <a:xfrm>
              <a:off x="1644"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46" name="Rectangle 41"/>
            <p:cNvSpPr>
              <a:spLocks noChangeArrowheads="1"/>
            </p:cNvSpPr>
            <p:nvPr/>
          </p:nvSpPr>
          <p:spPr bwMode="auto">
            <a:xfrm>
              <a:off x="1897"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7447" name="Rectangle 42"/>
            <p:cNvSpPr>
              <a:spLocks noChangeArrowheads="1"/>
            </p:cNvSpPr>
            <p:nvPr/>
          </p:nvSpPr>
          <p:spPr bwMode="auto">
            <a:xfrm>
              <a:off x="2266" y="984"/>
              <a:ext cx="621"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48" name="Rectangle 43"/>
            <p:cNvSpPr>
              <a:spLocks noChangeArrowheads="1"/>
            </p:cNvSpPr>
            <p:nvPr/>
          </p:nvSpPr>
          <p:spPr bwMode="auto">
            <a:xfrm>
              <a:off x="2266" y="984"/>
              <a:ext cx="621"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49" name="Rectangle 44"/>
            <p:cNvSpPr>
              <a:spLocks noChangeArrowheads="1"/>
            </p:cNvSpPr>
            <p:nvPr/>
          </p:nvSpPr>
          <p:spPr bwMode="auto">
            <a:xfrm>
              <a:off x="2488"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7450" name="Rectangle 45"/>
            <p:cNvSpPr>
              <a:spLocks noChangeArrowheads="1"/>
            </p:cNvSpPr>
            <p:nvPr/>
          </p:nvSpPr>
          <p:spPr bwMode="auto">
            <a:xfrm>
              <a:off x="2887"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51" name="Rectangle 46"/>
            <p:cNvSpPr>
              <a:spLocks noChangeArrowheads="1"/>
            </p:cNvSpPr>
            <p:nvPr/>
          </p:nvSpPr>
          <p:spPr bwMode="auto">
            <a:xfrm>
              <a:off x="2887"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52" name="Rectangle 47"/>
            <p:cNvSpPr>
              <a:spLocks noChangeArrowheads="1"/>
            </p:cNvSpPr>
            <p:nvPr/>
          </p:nvSpPr>
          <p:spPr bwMode="auto">
            <a:xfrm>
              <a:off x="3111"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7453" name="Rectangle 48"/>
            <p:cNvSpPr>
              <a:spLocks noChangeArrowheads="1"/>
            </p:cNvSpPr>
            <p:nvPr/>
          </p:nvSpPr>
          <p:spPr bwMode="auto">
            <a:xfrm>
              <a:off x="3510"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54" name="Rectangle 49"/>
            <p:cNvSpPr>
              <a:spLocks noChangeArrowheads="1"/>
            </p:cNvSpPr>
            <p:nvPr/>
          </p:nvSpPr>
          <p:spPr bwMode="auto">
            <a:xfrm>
              <a:off x="3510"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55" name="Rectangle 50"/>
            <p:cNvSpPr>
              <a:spLocks noChangeArrowheads="1"/>
            </p:cNvSpPr>
            <p:nvPr/>
          </p:nvSpPr>
          <p:spPr bwMode="auto">
            <a:xfrm>
              <a:off x="376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OV</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7456" name="Rectangle 51"/>
            <p:cNvSpPr>
              <a:spLocks noChangeArrowheads="1"/>
            </p:cNvSpPr>
            <p:nvPr/>
          </p:nvSpPr>
          <p:spPr bwMode="auto">
            <a:xfrm>
              <a:off x="4132" y="984"/>
              <a:ext cx="622"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57" name="Rectangle 52"/>
            <p:cNvSpPr>
              <a:spLocks noChangeArrowheads="1"/>
            </p:cNvSpPr>
            <p:nvPr/>
          </p:nvSpPr>
          <p:spPr bwMode="auto">
            <a:xfrm>
              <a:off x="4132" y="984"/>
              <a:ext cx="622"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58" name="Rectangle 53"/>
            <p:cNvSpPr>
              <a:spLocks noChangeArrowheads="1"/>
            </p:cNvSpPr>
            <p:nvPr/>
          </p:nvSpPr>
          <p:spPr bwMode="auto">
            <a:xfrm>
              <a:off x="441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7459" name="Rectangle 54"/>
            <p:cNvSpPr>
              <a:spLocks noChangeArrowheads="1"/>
            </p:cNvSpPr>
            <p:nvPr/>
          </p:nvSpPr>
          <p:spPr bwMode="auto">
            <a:xfrm>
              <a:off x="4754" y="984"/>
              <a:ext cx="623"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60" name="Rectangle 55"/>
            <p:cNvSpPr>
              <a:spLocks noChangeArrowheads="1"/>
            </p:cNvSpPr>
            <p:nvPr/>
          </p:nvSpPr>
          <p:spPr bwMode="auto">
            <a:xfrm>
              <a:off x="4754" y="984"/>
              <a:ext cx="623"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61" name="Rectangle 56"/>
            <p:cNvSpPr>
              <a:spLocks noChangeArrowheads="1"/>
            </p:cNvSpPr>
            <p:nvPr/>
          </p:nvSpPr>
          <p:spPr bwMode="auto">
            <a:xfrm>
              <a:off x="5038" y="1117"/>
              <a:ext cx="57"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P</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7462" name="Rectangle 73"/>
            <p:cNvSpPr>
              <a:spLocks noChangeArrowheads="1"/>
            </p:cNvSpPr>
            <p:nvPr/>
          </p:nvSpPr>
          <p:spPr bwMode="auto">
            <a:xfrm>
              <a:off x="399"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63" name="Rectangle 74"/>
            <p:cNvSpPr>
              <a:spLocks noChangeArrowheads="1"/>
            </p:cNvSpPr>
            <p:nvPr/>
          </p:nvSpPr>
          <p:spPr bwMode="auto">
            <a:xfrm>
              <a:off x="399"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64" name="Rectangle 75"/>
            <p:cNvSpPr>
              <a:spLocks noChangeArrowheads="1"/>
            </p:cNvSpPr>
            <p:nvPr/>
          </p:nvSpPr>
          <p:spPr bwMode="auto">
            <a:xfrm>
              <a:off x="65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CY</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7465" name="Rectangle 76"/>
            <p:cNvSpPr>
              <a:spLocks noChangeArrowheads="1"/>
            </p:cNvSpPr>
            <p:nvPr/>
          </p:nvSpPr>
          <p:spPr bwMode="auto">
            <a:xfrm>
              <a:off x="1022"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66" name="Rectangle 77"/>
            <p:cNvSpPr>
              <a:spLocks noChangeArrowheads="1"/>
            </p:cNvSpPr>
            <p:nvPr/>
          </p:nvSpPr>
          <p:spPr bwMode="auto">
            <a:xfrm>
              <a:off x="1022"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67" name="Rectangle 78"/>
            <p:cNvSpPr>
              <a:spLocks noChangeArrowheads="1"/>
            </p:cNvSpPr>
            <p:nvPr/>
          </p:nvSpPr>
          <p:spPr bwMode="auto">
            <a:xfrm>
              <a:off x="127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AC</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7468" name="Rectangle 79"/>
            <p:cNvSpPr>
              <a:spLocks noChangeArrowheads="1"/>
            </p:cNvSpPr>
            <p:nvPr/>
          </p:nvSpPr>
          <p:spPr bwMode="auto">
            <a:xfrm>
              <a:off x="1644"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69" name="Rectangle 80"/>
            <p:cNvSpPr>
              <a:spLocks noChangeArrowheads="1"/>
            </p:cNvSpPr>
            <p:nvPr/>
          </p:nvSpPr>
          <p:spPr bwMode="auto">
            <a:xfrm>
              <a:off x="1644"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70" name="Rectangle 81"/>
            <p:cNvSpPr>
              <a:spLocks noChangeArrowheads="1"/>
            </p:cNvSpPr>
            <p:nvPr/>
          </p:nvSpPr>
          <p:spPr bwMode="auto">
            <a:xfrm>
              <a:off x="1897"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7471" name="Rectangle 82"/>
            <p:cNvSpPr>
              <a:spLocks noChangeArrowheads="1"/>
            </p:cNvSpPr>
            <p:nvPr/>
          </p:nvSpPr>
          <p:spPr bwMode="auto">
            <a:xfrm>
              <a:off x="2266" y="984"/>
              <a:ext cx="621"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72" name="Rectangle 83"/>
            <p:cNvSpPr>
              <a:spLocks noChangeArrowheads="1"/>
            </p:cNvSpPr>
            <p:nvPr/>
          </p:nvSpPr>
          <p:spPr bwMode="auto">
            <a:xfrm>
              <a:off x="2266" y="984"/>
              <a:ext cx="621"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73" name="Rectangle 84"/>
            <p:cNvSpPr>
              <a:spLocks noChangeArrowheads="1"/>
            </p:cNvSpPr>
            <p:nvPr/>
          </p:nvSpPr>
          <p:spPr bwMode="auto">
            <a:xfrm>
              <a:off x="2488"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7474" name="Rectangle 85"/>
            <p:cNvSpPr>
              <a:spLocks noChangeArrowheads="1"/>
            </p:cNvSpPr>
            <p:nvPr/>
          </p:nvSpPr>
          <p:spPr bwMode="auto">
            <a:xfrm>
              <a:off x="2887"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75" name="Rectangle 86"/>
            <p:cNvSpPr>
              <a:spLocks noChangeArrowheads="1"/>
            </p:cNvSpPr>
            <p:nvPr/>
          </p:nvSpPr>
          <p:spPr bwMode="auto">
            <a:xfrm>
              <a:off x="2887"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76" name="Rectangle 87"/>
            <p:cNvSpPr>
              <a:spLocks noChangeArrowheads="1"/>
            </p:cNvSpPr>
            <p:nvPr/>
          </p:nvSpPr>
          <p:spPr bwMode="auto">
            <a:xfrm>
              <a:off x="3111"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7477" name="Rectangle 88"/>
            <p:cNvSpPr>
              <a:spLocks noChangeArrowheads="1"/>
            </p:cNvSpPr>
            <p:nvPr/>
          </p:nvSpPr>
          <p:spPr bwMode="auto">
            <a:xfrm>
              <a:off x="3510"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78" name="Rectangle 89"/>
            <p:cNvSpPr>
              <a:spLocks noChangeArrowheads="1"/>
            </p:cNvSpPr>
            <p:nvPr/>
          </p:nvSpPr>
          <p:spPr bwMode="auto">
            <a:xfrm>
              <a:off x="3510"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79" name="Rectangle 90"/>
            <p:cNvSpPr>
              <a:spLocks noChangeArrowheads="1"/>
            </p:cNvSpPr>
            <p:nvPr/>
          </p:nvSpPr>
          <p:spPr bwMode="auto">
            <a:xfrm>
              <a:off x="376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OV</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7480" name="Rectangle 91"/>
            <p:cNvSpPr>
              <a:spLocks noChangeArrowheads="1"/>
            </p:cNvSpPr>
            <p:nvPr/>
          </p:nvSpPr>
          <p:spPr bwMode="auto">
            <a:xfrm>
              <a:off x="4132" y="984"/>
              <a:ext cx="622"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81" name="Rectangle 92"/>
            <p:cNvSpPr>
              <a:spLocks noChangeArrowheads="1"/>
            </p:cNvSpPr>
            <p:nvPr/>
          </p:nvSpPr>
          <p:spPr bwMode="auto">
            <a:xfrm>
              <a:off x="4132" y="984"/>
              <a:ext cx="622"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82" name="Rectangle 93"/>
            <p:cNvSpPr>
              <a:spLocks noChangeArrowheads="1"/>
            </p:cNvSpPr>
            <p:nvPr/>
          </p:nvSpPr>
          <p:spPr bwMode="auto">
            <a:xfrm>
              <a:off x="441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7483" name="Rectangle 94"/>
            <p:cNvSpPr>
              <a:spLocks noChangeArrowheads="1"/>
            </p:cNvSpPr>
            <p:nvPr/>
          </p:nvSpPr>
          <p:spPr bwMode="auto">
            <a:xfrm>
              <a:off x="4754" y="984"/>
              <a:ext cx="623"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84" name="Rectangle 95"/>
            <p:cNvSpPr>
              <a:spLocks noChangeArrowheads="1"/>
            </p:cNvSpPr>
            <p:nvPr/>
          </p:nvSpPr>
          <p:spPr bwMode="auto">
            <a:xfrm>
              <a:off x="4754" y="984"/>
              <a:ext cx="623"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85" name="Rectangle 96"/>
            <p:cNvSpPr>
              <a:spLocks noChangeArrowheads="1"/>
            </p:cNvSpPr>
            <p:nvPr/>
          </p:nvSpPr>
          <p:spPr bwMode="auto">
            <a:xfrm>
              <a:off x="5038" y="1117"/>
              <a:ext cx="57"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P</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7486" name="Rectangle 97"/>
            <p:cNvSpPr>
              <a:spLocks noChangeArrowheads="1"/>
            </p:cNvSpPr>
            <p:nvPr/>
          </p:nvSpPr>
          <p:spPr bwMode="auto">
            <a:xfrm>
              <a:off x="399"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87" name="Rectangle 98"/>
            <p:cNvSpPr>
              <a:spLocks noChangeArrowheads="1"/>
            </p:cNvSpPr>
            <p:nvPr/>
          </p:nvSpPr>
          <p:spPr bwMode="auto">
            <a:xfrm>
              <a:off x="399" y="984"/>
              <a:ext cx="623" cy="308"/>
            </a:xfrm>
            <a:prstGeom prst="rect">
              <a:avLst/>
            </a:prstGeom>
            <a:solidFill>
              <a:schemeClr val="bg1"/>
            </a:solid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88" name="Rectangle 99"/>
            <p:cNvSpPr>
              <a:spLocks noChangeArrowheads="1"/>
            </p:cNvSpPr>
            <p:nvPr/>
          </p:nvSpPr>
          <p:spPr bwMode="auto">
            <a:xfrm>
              <a:off x="637" y="1043"/>
              <a:ext cx="238" cy="173"/>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effectLst>
                    <a:outerShdw blurRad="38100" dist="38100" dir="2700000" algn="tl">
                      <a:srgbClr val="000000">
                        <a:alpha val="43137"/>
                      </a:srgbClr>
                    </a:outerShdw>
                  </a:effectLst>
                  <a:latin typeface="宋体" panose="02010600030101010101" pitchFamily="2" charset="-122"/>
                </a:rPr>
                <a:t>CY</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7489" name="Rectangle 100"/>
            <p:cNvSpPr>
              <a:spLocks noChangeArrowheads="1"/>
            </p:cNvSpPr>
            <p:nvPr/>
          </p:nvSpPr>
          <p:spPr bwMode="auto">
            <a:xfrm>
              <a:off x="1022"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90" name="Rectangle 101"/>
            <p:cNvSpPr>
              <a:spLocks noChangeArrowheads="1"/>
            </p:cNvSpPr>
            <p:nvPr/>
          </p:nvSpPr>
          <p:spPr bwMode="auto">
            <a:xfrm>
              <a:off x="1022"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91" name="Rectangle 102"/>
            <p:cNvSpPr>
              <a:spLocks noChangeArrowheads="1"/>
            </p:cNvSpPr>
            <p:nvPr/>
          </p:nvSpPr>
          <p:spPr bwMode="auto">
            <a:xfrm>
              <a:off x="1276" y="1043"/>
              <a:ext cx="219" cy="173"/>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AC</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7492" name="Rectangle 103"/>
            <p:cNvSpPr>
              <a:spLocks noChangeArrowheads="1"/>
            </p:cNvSpPr>
            <p:nvPr/>
          </p:nvSpPr>
          <p:spPr bwMode="auto">
            <a:xfrm>
              <a:off x="1644"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93" name="Rectangle 104"/>
            <p:cNvSpPr>
              <a:spLocks noChangeArrowheads="1"/>
            </p:cNvSpPr>
            <p:nvPr/>
          </p:nvSpPr>
          <p:spPr bwMode="auto">
            <a:xfrm>
              <a:off x="1644"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94" name="Rectangle 105"/>
            <p:cNvSpPr>
              <a:spLocks noChangeArrowheads="1"/>
            </p:cNvSpPr>
            <p:nvPr/>
          </p:nvSpPr>
          <p:spPr bwMode="auto">
            <a:xfrm>
              <a:off x="1882" y="1044"/>
              <a:ext cx="146" cy="173"/>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F0</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7495" name="Rectangle 106"/>
            <p:cNvSpPr>
              <a:spLocks noChangeArrowheads="1"/>
            </p:cNvSpPr>
            <p:nvPr/>
          </p:nvSpPr>
          <p:spPr bwMode="auto">
            <a:xfrm>
              <a:off x="2266" y="984"/>
              <a:ext cx="621" cy="308"/>
            </a:xfrm>
            <a:prstGeom prst="rect">
              <a:avLst/>
            </a:prstGeom>
            <a:solidFill>
              <a:srgbClr val="CC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96" name="Rectangle 107"/>
            <p:cNvSpPr>
              <a:spLocks noChangeArrowheads="1"/>
            </p:cNvSpPr>
            <p:nvPr/>
          </p:nvSpPr>
          <p:spPr bwMode="auto">
            <a:xfrm>
              <a:off x="2266" y="984"/>
              <a:ext cx="621"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97" name="Rectangle 108"/>
            <p:cNvSpPr>
              <a:spLocks noChangeArrowheads="1"/>
            </p:cNvSpPr>
            <p:nvPr/>
          </p:nvSpPr>
          <p:spPr bwMode="auto">
            <a:xfrm>
              <a:off x="2505" y="1044"/>
              <a:ext cx="219" cy="173"/>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FF3300"/>
                  </a:solidFill>
                  <a:effectLst>
                    <a:outerShdw blurRad="38100" dist="38100" dir="2700000" algn="tl">
                      <a:srgbClr val="000000">
                        <a:alpha val="43137"/>
                      </a:srgbClr>
                    </a:outerShdw>
                  </a:effectLst>
                  <a:latin typeface="宋体" panose="02010600030101010101" pitchFamily="2" charset="-122"/>
                </a:rPr>
                <a:t>RS1</a:t>
              </a:r>
              <a:endParaRPr kumimoji="1" lang="en-US" altLang="zh-CN" b="1">
                <a:solidFill>
                  <a:srgbClr val="FF3300"/>
                </a:solidFill>
                <a:effectLst>
                  <a:outerShdw blurRad="38100" dist="38100" dir="2700000" algn="tl">
                    <a:srgbClr val="000000">
                      <a:alpha val="43137"/>
                    </a:srgbClr>
                  </a:outerShdw>
                </a:effectLst>
                <a:latin typeface="Times New Roman" panose="02020603050405020304" pitchFamily="18" charset="0"/>
              </a:endParaRPr>
            </a:p>
          </p:txBody>
        </p:sp>
        <p:sp>
          <p:nvSpPr>
            <p:cNvPr id="17498" name="Rectangle 109"/>
            <p:cNvSpPr>
              <a:spLocks noChangeArrowheads="1"/>
            </p:cNvSpPr>
            <p:nvPr/>
          </p:nvSpPr>
          <p:spPr bwMode="auto">
            <a:xfrm>
              <a:off x="2887"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499" name="Rectangle 110"/>
            <p:cNvSpPr>
              <a:spLocks noChangeArrowheads="1"/>
            </p:cNvSpPr>
            <p:nvPr/>
          </p:nvSpPr>
          <p:spPr bwMode="auto">
            <a:xfrm>
              <a:off x="2887" y="984"/>
              <a:ext cx="623" cy="308"/>
            </a:xfrm>
            <a:prstGeom prst="rect">
              <a:avLst/>
            </a:prstGeom>
            <a:solidFill>
              <a:srgbClr val="CCFFFF"/>
            </a:solid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500" name="Rectangle 111"/>
            <p:cNvSpPr>
              <a:spLocks noChangeArrowheads="1"/>
            </p:cNvSpPr>
            <p:nvPr/>
          </p:nvSpPr>
          <p:spPr bwMode="auto">
            <a:xfrm>
              <a:off x="3111" y="1051"/>
              <a:ext cx="219" cy="173"/>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FF3300"/>
                  </a:solidFill>
                  <a:effectLst>
                    <a:outerShdw blurRad="38100" dist="38100" dir="2700000" algn="tl">
                      <a:srgbClr val="000000">
                        <a:alpha val="43137"/>
                      </a:srgbClr>
                    </a:outerShdw>
                  </a:effectLst>
                  <a:latin typeface="宋体" panose="02010600030101010101" pitchFamily="2" charset="-122"/>
                </a:rPr>
                <a:t>RS0</a:t>
              </a:r>
            </a:p>
          </p:txBody>
        </p:sp>
        <p:sp>
          <p:nvSpPr>
            <p:cNvPr id="17501" name="Rectangle 112"/>
            <p:cNvSpPr>
              <a:spLocks noChangeArrowheads="1"/>
            </p:cNvSpPr>
            <p:nvPr/>
          </p:nvSpPr>
          <p:spPr bwMode="auto">
            <a:xfrm>
              <a:off x="3510"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502" name="Rectangle 113"/>
            <p:cNvSpPr>
              <a:spLocks noChangeArrowheads="1"/>
            </p:cNvSpPr>
            <p:nvPr/>
          </p:nvSpPr>
          <p:spPr bwMode="auto">
            <a:xfrm>
              <a:off x="3510"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503" name="Rectangle 114"/>
            <p:cNvSpPr>
              <a:spLocks noChangeArrowheads="1"/>
            </p:cNvSpPr>
            <p:nvPr/>
          </p:nvSpPr>
          <p:spPr bwMode="auto">
            <a:xfrm>
              <a:off x="3754" y="1035"/>
              <a:ext cx="146" cy="173"/>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OV</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7504" name="Rectangle 115"/>
            <p:cNvSpPr>
              <a:spLocks noChangeArrowheads="1"/>
            </p:cNvSpPr>
            <p:nvPr/>
          </p:nvSpPr>
          <p:spPr bwMode="auto">
            <a:xfrm>
              <a:off x="4132" y="984"/>
              <a:ext cx="622"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505" name="Rectangle 116"/>
            <p:cNvSpPr>
              <a:spLocks noChangeArrowheads="1"/>
            </p:cNvSpPr>
            <p:nvPr/>
          </p:nvSpPr>
          <p:spPr bwMode="auto">
            <a:xfrm>
              <a:off x="4132" y="984"/>
              <a:ext cx="622"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506" name="Rectangle 117"/>
            <p:cNvSpPr>
              <a:spLocks noChangeArrowheads="1"/>
            </p:cNvSpPr>
            <p:nvPr/>
          </p:nvSpPr>
          <p:spPr bwMode="auto">
            <a:xfrm>
              <a:off x="4400" y="1034"/>
              <a:ext cx="146" cy="173"/>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F1</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7507" name="Rectangle 118"/>
            <p:cNvSpPr>
              <a:spLocks noChangeArrowheads="1"/>
            </p:cNvSpPr>
            <p:nvPr/>
          </p:nvSpPr>
          <p:spPr bwMode="auto">
            <a:xfrm>
              <a:off x="4754" y="984"/>
              <a:ext cx="623"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508" name="Rectangle 119"/>
            <p:cNvSpPr>
              <a:spLocks noChangeArrowheads="1"/>
            </p:cNvSpPr>
            <p:nvPr/>
          </p:nvSpPr>
          <p:spPr bwMode="auto">
            <a:xfrm>
              <a:off x="4754" y="984"/>
              <a:ext cx="623"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7509" name="Rectangle 120"/>
            <p:cNvSpPr>
              <a:spLocks noChangeArrowheads="1"/>
            </p:cNvSpPr>
            <p:nvPr/>
          </p:nvSpPr>
          <p:spPr bwMode="auto">
            <a:xfrm>
              <a:off x="5047" y="1034"/>
              <a:ext cx="74" cy="174"/>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P</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7510" name="Rectangle 121"/>
            <p:cNvSpPr>
              <a:spLocks noChangeArrowheads="1"/>
            </p:cNvSpPr>
            <p:nvPr/>
          </p:nvSpPr>
          <p:spPr bwMode="auto">
            <a:xfrm>
              <a:off x="569" y="773"/>
              <a:ext cx="380"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effectLst>
                    <a:outerShdw blurRad="38100" dist="38100" dir="2700000" algn="tl">
                      <a:srgbClr val="000000">
                        <a:alpha val="43137"/>
                      </a:srgbClr>
                    </a:outerShdw>
                  </a:effectLst>
                  <a:latin typeface="宋体" panose="02010600030101010101" pitchFamily="2" charset="-122"/>
                </a:rPr>
                <a:t>PSW.7</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17511" name="Rectangle 122"/>
            <p:cNvSpPr>
              <a:spLocks noChangeArrowheads="1"/>
            </p:cNvSpPr>
            <p:nvPr/>
          </p:nvSpPr>
          <p:spPr bwMode="auto">
            <a:xfrm>
              <a:off x="1197" y="763"/>
              <a:ext cx="374"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PSW.6</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17512" name="Rectangle 123"/>
            <p:cNvSpPr>
              <a:spLocks noChangeArrowheads="1"/>
            </p:cNvSpPr>
            <p:nvPr/>
          </p:nvSpPr>
          <p:spPr bwMode="auto">
            <a:xfrm>
              <a:off x="1810" y="764"/>
              <a:ext cx="368"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PSW.5</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17513" name="Rectangle 124"/>
            <p:cNvSpPr>
              <a:spLocks noChangeArrowheads="1"/>
            </p:cNvSpPr>
            <p:nvPr/>
          </p:nvSpPr>
          <p:spPr bwMode="auto">
            <a:xfrm>
              <a:off x="2448" y="772"/>
              <a:ext cx="364"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FF3300"/>
                  </a:solidFill>
                  <a:effectLst>
                    <a:outerShdw blurRad="38100" dist="38100" dir="2700000" algn="tl">
                      <a:srgbClr val="000000">
                        <a:alpha val="43137"/>
                      </a:srgbClr>
                    </a:outerShdw>
                  </a:effectLst>
                  <a:latin typeface="宋体" panose="02010600030101010101" pitchFamily="2" charset="-122"/>
                </a:rPr>
                <a:t>PSW.4</a:t>
              </a:r>
            </a:p>
          </p:txBody>
        </p:sp>
        <p:sp>
          <p:nvSpPr>
            <p:cNvPr id="17514" name="Rectangle 125"/>
            <p:cNvSpPr>
              <a:spLocks noChangeArrowheads="1"/>
            </p:cNvSpPr>
            <p:nvPr/>
          </p:nvSpPr>
          <p:spPr bwMode="auto">
            <a:xfrm>
              <a:off x="3054" y="763"/>
              <a:ext cx="363"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FF3300"/>
                  </a:solidFill>
                  <a:effectLst>
                    <a:outerShdw blurRad="38100" dist="38100" dir="2700000" algn="tl">
                      <a:srgbClr val="000000">
                        <a:alpha val="43137"/>
                      </a:srgbClr>
                    </a:outerShdw>
                  </a:effectLst>
                  <a:latin typeface="宋体" panose="02010600030101010101" pitchFamily="2" charset="-122"/>
                </a:rPr>
                <a:t>PSW.3</a:t>
              </a:r>
            </a:p>
          </p:txBody>
        </p:sp>
        <p:sp>
          <p:nvSpPr>
            <p:cNvPr id="17515" name="Rectangle 126"/>
            <p:cNvSpPr>
              <a:spLocks noChangeArrowheads="1"/>
            </p:cNvSpPr>
            <p:nvPr/>
          </p:nvSpPr>
          <p:spPr bwMode="auto">
            <a:xfrm>
              <a:off x="3675" y="756"/>
              <a:ext cx="379"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PSW.2</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17516" name="Rectangle 127"/>
            <p:cNvSpPr>
              <a:spLocks noChangeArrowheads="1"/>
            </p:cNvSpPr>
            <p:nvPr/>
          </p:nvSpPr>
          <p:spPr bwMode="auto">
            <a:xfrm>
              <a:off x="4298" y="747"/>
              <a:ext cx="374"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PSW.1</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17517" name="Rectangle 128"/>
            <p:cNvSpPr>
              <a:spLocks noChangeArrowheads="1"/>
            </p:cNvSpPr>
            <p:nvPr/>
          </p:nvSpPr>
          <p:spPr bwMode="auto">
            <a:xfrm>
              <a:off x="4918" y="763"/>
              <a:ext cx="368"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PSW.0</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grpSp>
      <p:sp>
        <p:nvSpPr>
          <p:cNvPr id="2" name="TextBox 1"/>
          <p:cNvSpPr txBox="1"/>
          <p:nvPr/>
        </p:nvSpPr>
        <p:spPr>
          <a:xfrm>
            <a:off x="833438" y="3789363"/>
            <a:ext cx="6107112" cy="2677656"/>
          </a:xfrm>
          <a:prstGeom prst="rect">
            <a:avLst/>
          </a:prstGeom>
          <a:noFill/>
        </p:spPr>
        <p:txBody>
          <a:bodyPr>
            <a:spAutoFit/>
          </a:bodyPr>
          <a:lstStyle/>
          <a:p>
            <a:pPr eaLnBrk="1" hangingPunct="1">
              <a:defRPr/>
            </a:pPr>
            <a:r>
              <a:rPr lang="en-US" altLang="zh-CN" sz="24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RS1 RS0  </a:t>
            </a:r>
            <a:r>
              <a:rPr lang="zh-CN" altLang="en-US" sz="24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组号</a:t>
            </a:r>
            <a:endParaRPr lang="en-US" altLang="zh-CN" sz="2400" b="1" dirty="0">
              <a:solidFill>
                <a:srgbClr val="0000FF"/>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eaLnBrk="1" hangingPunct="1">
              <a:defRPr/>
            </a:pPr>
            <a:r>
              <a:rPr lang="en-US" altLang="zh-CN" sz="2800" b="1" dirty="0">
                <a:solidFill>
                  <a:srgbClr val="9900CC"/>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0  0---0</a:t>
            </a:r>
            <a:r>
              <a:rPr lang="zh-CN" altLang="en-US" sz="2800" b="1" dirty="0">
                <a:solidFill>
                  <a:srgbClr val="9900CC"/>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组</a:t>
            </a:r>
            <a:endParaRPr lang="en-US" altLang="zh-CN" sz="2800" b="1" dirty="0">
              <a:solidFill>
                <a:srgbClr val="9900CC"/>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eaLnBrk="1" hangingPunct="1">
              <a:defRPr/>
            </a:pPr>
            <a:r>
              <a:rPr lang="en-US" altLang="zh-CN" sz="2800" b="1" dirty="0">
                <a:solidFill>
                  <a:srgbClr val="9900CC"/>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0  1---1</a:t>
            </a:r>
            <a:r>
              <a:rPr lang="zh-CN" altLang="en-US" sz="2800" b="1" dirty="0">
                <a:solidFill>
                  <a:srgbClr val="9900CC"/>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组</a:t>
            </a:r>
            <a:endParaRPr lang="en-US" altLang="zh-CN" sz="2800" b="1" dirty="0">
              <a:solidFill>
                <a:srgbClr val="9900CC"/>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eaLnBrk="1" hangingPunct="1">
              <a:defRPr/>
            </a:pPr>
            <a:r>
              <a:rPr lang="en-US" altLang="zh-CN" sz="2800" b="1" dirty="0">
                <a:solidFill>
                  <a:srgbClr val="9900CC"/>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1  0---2</a:t>
            </a:r>
            <a:r>
              <a:rPr lang="zh-CN" altLang="en-US" sz="2800" b="1" dirty="0">
                <a:solidFill>
                  <a:srgbClr val="9900CC"/>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组</a:t>
            </a:r>
            <a:endParaRPr lang="en-US" altLang="zh-CN" sz="2800" b="1" dirty="0">
              <a:solidFill>
                <a:srgbClr val="9900CC"/>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eaLnBrk="1" hangingPunct="1">
              <a:defRPr/>
            </a:pPr>
            <a:r>
              <a:rPr lang="en-US" altLang="zh-CN" sz="2800" b="1" dirty="0">
                <a:solidFill>
                  <a:srgbClr val="9900CC"/>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1  1---3</a:t>
            </a:r>
            <a:r>
              <a:rPr lang="zh-CN" altLang="en-US" sz="2800" b="1" dirty="0">
                <a:solidFill>
                  <a:srgbClr val="9900CC"/>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组</a:t>
            </a:r>
            <a:endParaRPr lang="en-US" altLang="zh-CN" sz="2800" b="1" dirty="0">
              <a:solidFill>
                <a:srgbClr val="9900CC"/>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eaLnBrk="1" hangingPunct="1">
              <a:defRPr/>
            </a:pPr>
            <a:r>
              <a:rPr lang="zh-CN" altLang="en-US"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默认为</a:t>
            </a:r>
            <a:r>
              <a:rPr lang="en-US" altLang="zh-CN"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0</a:t>
            </a:r>
            <a:r>
              <a:rPr lang="zh-CN" altLang="en-US"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组。</a:t>
            </a:r>
          </a:p>
        </p:txBody>
      </p:sp>
      <p:sp>
        <p:nvSpPr>
          <p:cNvPr id="110" name="Rectangle 2"/>
          <p:cNvSpPr>
            <a:spLocks noChangeArrowheads="1"/>
          </p:cNvSpPr>
          <p:nvPr/>
        </p:nvSpPr>
        <p:spPr bwMode="auto">
          <a:xfrm>
            <a:off x="5364163" y="331788"/>
            <a:ext cx="3509962" cy="338137"/>
          </a:xfrm>
          <a:prstGeom prst="rect">
            <a:avLst/>
          </a:prstGeom>
          <a:noFill/>
          <a:ln>
            <a:noFill/>
          </a:ln>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defRPr/>
            </a:pPr>
            <a:r>
              <a:rPr kumimoji="1" lang="en-US" altLang="zh-CN"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2.1</a:t>
            </a: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单片机的基本结构</a:t>
            </a:r>
            <a:endParaRPr kumimoji="1" lang="zh-CN" altLang="en-US" sz="24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p:cNvSpPr>
            <a:spLocks noChangeArrowheads="1"/>
          </p:cNvSpPr>
          <p:nvPr/>
        </p:nvSpPr>
        <p:spPr bwMode="auto">
          <a:xfrm>
            <a:off x="708025" y="2370138"/>
            <a:ext cx="8154988" cy="1328737"/>
          </a:xfrm>
          <a:prstGeom prst="rect">
            <a:avLst/>
          </a:prstGeom>
          <a:noFill/>
          <a:ln>
            <a:noFill/>
          </a:ln>
        </p:spPr>
        <p:txBody>
          <a:bodyPr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35000"/>
              </a:spcBef>
              <a:buFontTx/>
              <a:buNone/>
              <a:defRPr/>
            </a:pPr>
            <a:r>
              <a:rPr kumimoji="1" lang="en-US" altLang="zh-CN" sz="2400" b="1">
                <a:solidFill>
                  <a:srgbClr val="CC0000"/>
                </a:solidFill>
                <a:effectLst>
                  <a:outerShdw blurRad="38100" dist="38100" dir="2700000" algn="tl">
                    <a:srgbClr val="000000">
                      <a:alpha val="43137"/>
                    </a:srgbClr>
                  </a:outerShdw>
                </a:effectLst>
                <a:latin typeface="Times New Roman" panose="02020603050405020304" pitchFamily="18" charset="0"/>
              </a:rPr>
              <a:t>OV</a:t>
            </a:r>
            <a:r>
              <a:rPr kumimoji="1" lang="zh-CN" altLang="en-US" sz="2400" b="1">
                <a:solidFill>
                  <a:srgbClr val="CC0000"/>
                </a:solidFill>
                <a:effectLst>
                  <a:outerShdw blurRad="38100" dist="38100" dir="2700000" algn="tl">
                    <a:srgbClr val="000000">
                      <a:alpha val="43137"/>
                    </a:srgbClr>
                  </a:outerShdw>
                </a:effectLst>
                <a:latin typeface="Times New Roman" panose="02020603050405020304" pitchFamily="18" charset="0"/>
              </a:rPr>
              <a:t>（</a:t>
            </a:r>
            <a:r>
              <a:rPr kumimoji="1" lang="en-US" altLang="zh-CN" sz="2400" b="1">
                <a:solidFill>
                  <a:srgbClr val="CC0000"/>
                </a:solidFill>
                <a:effectLst>
                  <a:outerShdw blurRad="38100" dist="38100" dir="2700000" algn="tl">
                    <a:srgbClr val="000000">
                      <a:alpha val="43137"/>
                    </a:srgbClr>
                  </a:outerShdw>
                </a:effectLst>
                <a:latin typeface="Times New Roman" panose="02020603050405020304" pitchFamily="18" charset="0"/>
              </a:rPr>
              <a:t>PSW.2</a:t>
            </a:r>
            <a:r>
              <a:rPr kumimoji="1" lang="zh-CN" altLang="en-US" sz="2400" b="1">
                <a:solidFill>
                  <a:srgbClr val="CC0000"/>
                </a:solidFill>
                <a:effectLst>
                  <a:outerShdw blurRad="38100" dist="38100" dir="2700000" algn="tl">
                    <a:srgbClr val="000000">
                      <a:alpha val="43137"/>
                    </a:srgbClr>
                  </a:outerShdw>
                </a:effectLst>
                <a:latin typeface="Times New Roman" panose="02020603050405020304" pitchFamily="18" charset="0"/>
              </a:rPr>
              <a:t>） </a:t>
            </a:r>
            <a:r>
              <a:rPr kumimoji="1" lang="en-US" altLang="zh-CN" sz="2400" b="1">
                <a:effectLst>
                  <a:outerShdw blurRad="38100" dist="38100" dir="2700000" algn="tl">
                    <a:srgbClr val="000000">
                      <a:alpha val="43137"/>
                    </a:srgbClr>
                  </a:outerShdw>
                </a:effectLst>
                <a:latin typeface="Times New Roman" panose="02020603050405020304" pitchFamily="18" charset="0"/>
              </a:rPr>
              <a:t>——</a:t>
            </a:r>
            <a:r>
              <a:rPr kumimoji="1" lang="zh-CN" altLang="en-US" sz="2400" b="1">
                <a:effectLst>
                  <a:outerShdw blurRad="38100" dist="38100" dir="2700000" algn="tl">
                    <a:srgbClr val="000000">
                      <a:alpha val="43137"/>
                    </a:srgbClr>
                  </a:outerShdw>
                </a:effectLst>
                <a:latin typeface="Times New Roman" panose="02020603050405020304" pitchFamily="18" charset="0"/>
              </a:rPr>
              <a:t>溢出标志</a:t>
            </a:r>
          </a:p>
          <a:p>
            <a:pPr eaLnBrk="1" hangingPunct="1">
              <a:spcBef>
                <a:spcPct val="35000"/>
              </a:spcBef>
              <a:buFontTx/>
              <a:buNone/>
              <a:defRPr/>
            </a:pPr>
            <a:r>
              <a:rPr kumimoji="1" lang="zh-CN" altLang="en-US" sz="2400" b="1">
                <a:effectLst>
                  <a:outerShdw blurRad="38100" dist="38100" dir="2700000" algn="tl">
                    <a:srgbClr val="000000">
                      <a:alpha val="43137"/>
                    </a:srgbClr>
                  </a:outerShdw>
                </a:effectLst>
                <a:latin typeface="Times New Roman" panose="02020603050405020304" pitchFamily="18" charset="0"/>
              </a:rPr>
              <a:t>在</a:t>
            </a:r>
            <a:r>
              <a:rPr kumimoji="1" lang="zh-CN" altLang="en-US" sz="2400" b="1">
                <a:solidFill>
                  <a:srgbClr val="FF3300"/>
                </a:solidFill>
                <a:effectLst>
                  <a:outerShdw blurRad="38100" dist="38100" dir="2700000" algn="tl">
                    <a:srgbClr val="000000">
                      <a:alpha val="43137"/>
                    </a:srgbClr>
                  </a:outerShdw>
                </a:effectLst>
                <a:latin typeface="Times New Roman" panose="02020603050405020304" pitchFamily="18" charset="0"/>
              </a:rPr>
              <a:t>有符号数加减运算</a:t>
            </a:r>
            <a:r>
              <a:rPr kumimoji="1" lang="zh-CN" altLang="en-US" sz="2400" b="1">
                <a:effectLst>
                  <a:outerShdw blurRad="38100" dist="38100" dir="2700000" algn="tl">
                    <a:srgbClr val="000000">
                      <a:alpha val="43137"/>
                    </a:srgbClr>
                  </a:outerShdw>
                </a:effectLst>
                <a:latin typeface="Times New Roman" panose="02020603050405020304" pitchFamily="18" charset="0"/>
              </a:rPr>
              <a:t>或</a:t>
            </a:r>
            <a:r>
              <a:rPr kumimoji="1" lang="zh-CN" altLang="en-US" sz="2400" b="1">
                <a:solidFill>
                  <a:srgbClr val="FF3300"/>
                </a:solidFill>
                <a:effectLst>
                  <a:outerShdw blurRad="38100" dist="38100" dir="2700000" algn="tl">
                    <a:srgbClr val="000000">
                      <a:alpha val="43137"/>
                    </a:srgbClr>
                  </a:outerShdw>
                </a:effectLst>
                <a:latin typeface="Times New Roman" panose="02020603050405020304" pitchFamily="18" charset="0"/>
              </a:rPr>
              <a:t>无符号数乘除运算</a:t>
            </a:r>
            <a:r>
              <a:rPr kumimoji="1" lang="zh-CN" altLang="en-US" sz="2400" b="1">
                <a:effectLst>
                  <a:outerShdw blurRad="38100" dist="38100" dir="2700000" algn="tl">
                    <a:srgbClr val="000000">
                      <a:alpha val="43137"/>
                    </a:srgbClr>
                  </a:outerShdw>
                </a:effectLst>
                <a:latin typeface="Times New Roman" panose="02020603050405020304" pitchFamily="18" charset="0"/>
              </a:rPr>
              <a:t>中若有异常结果，</a:t>
            </a:r>
            <a:r>
              <a:rPr kumimoji="1" lang="en-US" altLang="zh-CN" sz="2400" b="1">
                <a:effectLst>
                  <a:outerShdw blurRad="38100" dist="38100" dir="2700000" algn="tl">
                    <a:srgbClr val="000000">
                      <a:alpha val="43137"/>
                    </a:srgbClr>
                  </a:outerShdw>
                </a:effectLst>
                <a:latin typeface="Times New Roman" panose="02020603050405020304" pitchFamily="18" charset="0"/>
              </a:rPr>
              <a:t>OV</a:t>
            </a:r>
            <a:r>
              <a:rPr kumimoji="1" lang="zh-CN" altLang="en-US" sz="2400" b="1">
                <a:effectLst>
                  <a:outerShdw blurRad="38100" dist="38100" dir="2700000" algn="tl">
                    <a:srgbClr val="000000">
                      <a:alpha val="43137"/>
                    </a:srgbClr>
                  </a:outerShdw>
                </a:effectLst>
                <a:latin typeface="Times New Roman" panose="02020603050405020304" pitchFamily="18" charset="0"/>
              </a:rPr>
              <a:t>硬件置</a:t>
            </a:r>
            <a:r>
              <a:rPr kumimoji="1" lang="en-US" altLang="zh-CN" sz="2400" b="1">
                <a:effectLst>
                  <a:outerShdw blurRad="38100" dist="38100" dir="2700000" algn="tl">
                    <a:srgbClr val="000000">
                      <a:alpha val="43137"/>
                    </a:srgbClr>
                  </a:outerShdw>
                </a:effectLst>
                <a:latin typeface="Times New Roman" panose="02020603050405020304" pitchFamily="18" charset="0"/>
              </a:rPr>
              <a:t>1</a:t>
            </a:r>
            <a:r>
              <a:rPr kumimoji="1" lang="zh-CN" altLang="en-US" sz="2400" b="1">
                <a:effectLst>
                  <a:outerShdw blurRad="38100" dist="38100" dir="2700000" algn="tl">
                    <a:srgbClr val="000000">
                      <a:alpha val="43137"/>
                    </a:srgbClr>
                  </a:outerShdw>
                </a:effectLst>
                <a:latin typeface="Times New Roman" panose="02020603050405020304" pitchFamily="18" charset="0"/>
              </a:rPr>
              <a:t>，否则硬件清</a:t>
            </a:r>
            <a:r>
              <a:rPr kumimoji="1" lang="en-US" altLang="zh-CN" sz="2400" b="1">
                <a:effectLst>
                  <a:outerShdw blurRad="38100" dist="38100" dir="2700000" algn="tl">
                    <a:srgbClr val="000000">
                      <a:alpha val="43137"/>
                    </a:srgbClr>
                  </a:outerShdw>
                </a:effectLst>
                <a:latin typeface="Times New Roman" panose="02020603050405020304" pitchFamily="18" charset="0"/>
              </a:rPr>
              <a:t>0</a:t>
            </a:r>
            <a:r>
              <a:rPr kumimoji="1" lang="zh-CN" altLang="en-US" sz="2400" b="1">
                <a:effectLst>
                  <a:outerShdw blurRad="38100" dist="38100" dir="2700000" algn="tl">
                    <a:srgbClr val="000000">
                      <a:alpha val="43137"/>
                    </a:srgbClr>
                  </a:outerShdw>
                </a:effectLst>
                <a:latin typeface="Times New Roman" panose="02020603050405020304" pitchFamily="18" charset="0"/>
              </a:rPr>
              <a:t>。</a:t>
            </a:r>
          </a:p>
        </p:txBody>
      </p:sp>
      <p:sp>
        <p:nvSpPr>
          <p:cNvPr id="18435" name="Rectangle 141"/>
          <p:cNvSpPr>
            <a:spLocks noChangeArrowheads="1"/>
          </p:cNvSpPr>
          <p:nvPr/>
        </p:nvSpPr>
        <p:spPr bwMode="auto">
          <a:xfrm>
            <a:off x="709613" y="3883025"/>
            <a:ext cx="7602537" cy="457200"/>
          </a:xfrm>
          <a:prstGeom prst="rect">
            <a:avLst/>
          </a:prstGeom>
          <a:noFill/>
          <a:ln>
            <a:noFill/>
          </a:ln>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zh-CN" altLang="en-US" sz="2400" b="1">
                <a:solidFill>
                  <a:srgbClr val="CC0000"/>
                </a:solidFill>
                <a:effectLst>
                  <a:outerShdw blurRad="38100" dist="38100" dir="2700000" algn="tl">
                    <a:srgbClr val="000000">
                      <a:alpha val="43137"/>
                    </a:srgbClr>
                  </a:outerShdw>
                </a:effectLst>
                <a:latin typeface="Times New Roman" panose="02020603050405020304" pitchFamily="18" charset="0"/>
              </a:rPr>
              <a:t>用途</a:t>
            </a:r>
            <a:r>
              <a:rPr kumimoji="1" lang="zh-CN" altLang="en-US" sz="2400" b="1">
                <a:effectLst>
                  <a:outerShdw blurRad="38100" dist="38100" dir="2700000" algn="tl">
                    <a:srgbClr val="000000">
                      <a:alpha val="43137"/>
                    </a:srgbClr>
                  </a:outerShdw>
                </a:effectLst>
                <a:latin typeface="Times New Roman" panose="02020603050405020304" pitchFamily="18" charset="0"/>
              </a:rPr>
              <a:t>：</a:t>
            </a:r>
            <a:r>
              <a:rPr kumimoji="1" lang="zh-CN" altLang="en-US" sz="2400" b="1">
                <a:solidFill>
                  <a:srgbClr val="0066FF"/>
                </a:solidFill>
                <a:effectLst>
                  <a:outerShdw blurRad="38100" dist="38100" dir="2700000" algn="tl">
                    <a:srgbClr val="000000">
                      <a:alpha val="43137"/>
                    </a:srgbClr>
                  </a:outerShdw>
                </a:effectLst>
                <a:latin typeface="Times New Roman" panose="02020603050405020304" pitchFamily="18" charset="0"/>
              </a:rPr>
              <a:t>判断运算的结果是否正确</a:t>
            </a:r>
            <a:r>
              <a:rPr kumimoji="1" lang="zh-CN" altLang="en-US" sz="2400" b="1">
                <a:effectLst>
                  <a:outerShdw blurRad="38100" dist="38100" dir="2700000" algn="tl">
                    <a:srgbClr val="000000">
                      <a:alpha val="43137"/>
                    </a:srgbClr>
                  </a:outerShdw>
                </a:effectLst>
                <a:latin typeface="Times New Roman" panose="02020603050405020304" pitchFamily="18" charset="0"/>
              </a:rPr>
              <a:t>，正确 </a:t>
            </a:r>
            <a:r>
              <a:rPr kumimoji="1" lang="en-US" altLang="zh-CN" sz="2400" b="1">
                <a:effectLst>
                  <a:outerShdw blurRad="38100" dist="38100" dir="2700000" algn="tl">
                    <a:srgbClr val="000000">
                      <a:alpha val="43137"/>
                    </a:srgbClr>
                  </a:outerShdw>
                </a:effectLst>
                <a:latin typeface="Times New Roman" panose="02020603050405020304" pitchFamily="18" charset="0"/>
              </a:rPr>
              <a:t>= 0</a:t>
            </a:r>
            <a:r>
              <a:rPr kumimoji="1" lang="zh-CN" altLang="en-US" sz="2400" b="1">
                <a:effectLst>
                  <a:outerShdw blurRad="38100" dist="38100" dir="2700000" algn="tl">
                    <a:srgbClr val="000000">
                      <a:alpha val="43137"/>
                    </a:srgbClr>
                  </a:outerShdw>
                </a:effectLst>
                <a:latin typeface="Times New Roman" panose="02020603050405020304" pitchFamily="18" charset="0"/>
              </a:rPr>
              <a:t>；出错 </a:t>
            </a:r>
            <a:r>
              <a:rPr kumimoji="1" lang="en-US" altLang="zh-CN" sz="2400" b="1">
                <a:effectLst>
                  <a:outerShdw blurRad="38100" dist="38100" dir="2700000" algn="tl">
                    <a:srgbClr val="000000">
                      <a:alpha val="43137"/>
                    </a:srgbClr>
                  </a:outerShdw>
                </a:effectLst>
                <a:latin typeface="Times New Roman" panose="02020603050405020304" pitchFamily="18" charset="0"/>
              </a:rPr>
              <a:t>= 1</a:t>
            </a: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grpSp>
        <p:nvGrpSpPr>
          <p:cNvPr id="19460" name="Group 157"/>
          <p:cNvGrpSpPr/>
          <p:nvPr/>
        </p:nvGrpSpPr>
        <p:grpSpPr bwMode="auto">
          <a:xfrm>
            <a:off x="633413" y="1185863"/>
            <a:ext cx="7902575" cy="866775"/>
            <a:chOff x="399" y="747"/>
            <a:chExt cx="4978" cy="546"/>
          </a:xfrm>
        </p:grpSpPr>
        <p:sp>
          <p:nvSpPr>
            <p:cNvPr id="18438" name="Rectangle 9"/>
            <p:cNvSpPr>
              <a:spLocks noChangeArrowheads="1"/>
            </p:cNvSpPr>
            <p:nvPr/>
          </p:nvSpPr>
          <p:spPr bwMode="auto">
            <a:xfrm>
              <a:off x="399"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39" name="Rectangle 10"/>
            <p:cNvSpPr>
              <a:spLocks noChangeArrowheads="1"/>
            </p:cNvSpPr>
            <p:nvPr/>
          </p:nvSpPr>
          <p:spPr bwMode="auto">
            <a:xfrm>
              <a:off x="399"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40" name="Rectangle 11"/>
            <p:cNvSpPr>
              <a:spLocks noChangeArrowheads="1"/>
            </p:cNvSpPr>
            <p:nvPr/>
          </p:nvSpPr>
          <p:spPr bwMode="auto">
            <a:xfrm>
              <a:off x="65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CY</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8441" name="Rectangle 12"/>
            <p:cNvSpPr>
              <a:spLocks noChangeArrowheads="1"/>
            </p:cNvSpPr>
            <p:nvPr/>
          </p:nvSpPr>
          <p:spPr bwMode="auto">
            <a:xfrm>
              <a:off x="1022"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42" name="Rectangle 13"/>
            <p:cNvSpPr>
              <a:spLocks noChangeArrowheads="1"/>
            </p:cNvSpPr>
            <p:nvPr/>
          </p:nvSpPr>
          <p:spPr bwMode="auto">
            <a:xfrm>
              <a:off x="1022"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43" name="Rectangle 14"/>
            <p:cNvSpPr>
              <a:spLocks noChangeArrowheads="1"/>
            </p:cNvSpPr>
            <p:nvPr/>
          </p:nvSpPr>
          <p:spPr bwMode="auto">
            <a:xfrm>
              <a:off x="127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AC</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8444" name="Rectangle 15"/>
            <p:cNvSpPr>
              <a:spLocks noChangeArrowheads="1"/>
            </p:cNvSpPr>
            <p:nvPr/>
          </p:nvSpPr>
          <p:spPr bwMode="auto">
            <a:xfrm>
              <a:off x="1644"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45" name="Rectangle 16"/>
            <p:cNvSpPr>
              <a:spLocks noChangeArrowheads="1"/>
            </p:cNvSpPr>
            <p:nvPr/>
          </p:nvSpPr>
          <p:spPr bwMode="auto">
            <a:xfrm>
              <a:off x="1644"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46" name="Rectangle 17"/>
            <p:cNvSpPr>
              <a:spLocks noChangeArrowheads="1"/>
            </p:cNvSpPr>
            <p:nvPr/>
          </p:nvSpPr>
          <p:spPr bwMode="auto">
            <a:xfrm>
              <a:off x="1897"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8447" name="Rectangle 18"/>
            <p:cNvSpPr>
              <a:spLocks noChangeArrowheads="1"/>
            </p:cNvSpPr>
            <p:nvPr/>
          </p:nvSpPr>
          <p:spPr bwMode="auto">
            <a:xfrm>
              <a:off x="2266" y="984"/>
              <a:ext cx="621"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48" name="Rectangle 19"/>
            <p:cNvSpPr>
              <a:spLocks noChangeArrowheads="1"/>
            </p:cNvSpPr>
            <p:nvPr/>
          </p:nvSpPr>
          <p:spPr bwMode="auto">
            <a:xfrm>
              <a:off x="2266" y="984"/>
              <a:ext cx="621"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49" name="Rectangle 20"/>
            <p:cNvSpPr>
              <a:spLocks noChangeArrowheads="1"/>
            </p:cNvSpPr>
            <p:nvPr/>
          </p:nvSpPr>
          <p:spPr bwMode="auto">
            <a:xfrm>
              <a:off x="2488"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8450" name="Rectangle 21"/>
            <p:cNvSpPr>
              <a:spLocks noChangeArrowheads="1"/>
            </p:cNvSpPr>
            <p:nvPr/>
          </p:nvSpPr>
          <p:spPr bwMode="auto">
            <a:xfrm>
              <a:off x="2887"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51" name="Rectangle 22"/>
            <p:cNvSpPr>
              <a:spLocks noChangeArrowheads="1"/>
            </p:cNvSpPr>
            <p:nvPr/>
          </p:nvSpPr>
          <p:spPr bwMode="auto">
            <a:xfrm>
              <a:off x="2887"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52" name="Rectangle 23"/>
            <p:cNvSpPr>
              <a:spLocks noChangeArrowheads="1"/>
            </p:cNvSpPr>
            <p:nvPr/>
          </p:nvSpPr>
          <p:spPr bwMode="auto">
            <a:xfrm>
              <a:off x="3111"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8453" name="Rectangle 24"/>
            <p:cNvSpPr>
              <a:spLocks noChangeArrowheads="1"/>
            </p:cNvSpPr>
            <p:nvPr/>
          </p:nvSpPr>
          <p:spPr bwMode="auto">
            <a:xfrm>
              <a:off x="3510"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54" name="Rectangle 25"/>
            <p:cNvSpPr>
              <a:spLocks noChangeArrowheads="1"/>
            </p:cNvSpPr>
            <p:nvPr/>
          </p:nvSpPr>
          <p:spPr bwMode="auto">
            <a:xfrm>
              <a:off x="3510"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55" name="Rectangle 26"/>
            <p:cNvSpPr>
              <a:spLocks noChangeArrowheads="1"/>
            </p:cNvSpPr>
            <p:nvPr/>
          </p:nvSpPr>
          <p:spPr bwMode="auto">
            <a:xfrm>
              <a:off x="376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OV</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8456" name="Rectangle 27"/>
            <p:cNvSpPr>
              <a:spLocks noChangeArrowheads="1"/>
            </p:cNvSpPr>
            <p:nvPr/>
          </p:nvSpPr>
          <p:spPr bwMode="auto">
            <a:xfrm>
              <a:off x="4132" y="984"/>
              <a:ext cx="622"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57" name="Rectangle 28"/>
            <p:cNvSpPr>
              <a:spLocks noChangeArrowheads="1"/>
            </p:cNvSpPr>
            <p:nvPr/>
          </p:nvSpPr>
          <p:spPr bwMode="auto">
            <a:xfrm>
              <a:off x="4132" y="984"/>
              <a:ext cx="622"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58" name="Rectangle 29"/>
            <p:cNvSpPr>
              <a:spLocks noChangeArrowheads="1"/>
            </p:cNvSpPr>
            <p:nvPr/>
          </p:nvSpPr>
          <p:spPr bwMode="auto">
            <a:xfrm>
              <a:off x="441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8459" name="Rectangle 30"/>
            <p:cNvSpPr>
              <a:spLocks noChangeArrowheads="1"/>
            </p:cNvSpPr>
            <p:nvPr/>
          </p:nvSpPr>
          <p:spPr bwMode="auto">
            <a:xfrm>
              <a:off x="4754" y="984"/>
              <a:ext cx="623"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60" name="Rectangle 31"/>
            <p:cNvSpPr>
              <a:spLocks noChangeArrowheads="1"/>
            </p:cNvSpPr>
            <p:nvPr/>
          </p:nvSpPr>
          <p:spPr bwMode="auto">
            <a:xfrm>
              <a:off x="4754" y="984"/>
              <a:ext cx="623"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61" name="Rectangle 32"/>
            <p:cNvSpPr>
              <a:spLocks noChangeArrowheads="1"/>
            </p:cNvSpPr>
            <p:nvPr/>
          </p:nvSpPr>
          <p:spPr bwMode="auto">
            <a:xfrm>
              <a:off x="5038" y="1117"/>
              <a:ext cx="57"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P</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8462" name="Rectangle 33"/>
            <p:cNvSpPr>
              <a:spLocks noChangeArrowheads="1"/>
            </p:cNvSpPr>
            <p:nvPr/>
          </p:nvSpPr>
          <p:spPr bwMode="auto">
            <a:xfrm>
              <a:off x="399"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63" name="Rectangle 34"/>
            <p:cNvSpPr>
              <a:spLocks noChangeArrowheads="1"/>
            </p:cNvSpPr>
            <p:nvPr/>
          </p:nvSpPr>
          <p:spPr bwMode="auto">
            <a:xfrm>
              <a:off x="399"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64" name="Rectangle 35"/>
            <p:cNvSpPr>
              <a:spLocks noChangeArrowheads="1"/>
            </p:cNvSpPr>
            <p:nvPr/>
          </p:nvSpPr>
          <p:spPr bwMode="auto">
            <a:xfrm>
              <a:off x="65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CY</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8465" name="Rectangle 36"/>
            <p:cNvSpPr>
              <a:spLocks noChangeArrowheads="1"/>
            </p:cNvSpPr>
            <p:nvPr/>
          </p:nvSpPr>
          <p:spPr bwMode="auto">
            <a:xfrm>
              <a:off x="1022"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66" name="Rectangle 37"/>
            <p:cNvSpPr>
              <a:spLocks noChangeArrowheads="1"/>
            </p:cNvSpPr>
            <p:nvPr/>
          </p:nvSpPr>
          <p:spPr bwMode="auto">
            <a:xfrm>
              <a:off x="1022"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67" name="Rectangle 38"/>
            <p:cNvSpPr>
              <a:spLocks noChangeArrowheads="1"/>
            </p:cNvSpPr>
            <p:nvPr/>
          </p:nvSpPr>
          <p:spPr bwMode="auto">
            <a:xfrm>
              <a:off x="127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AC</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8468" name="Rectangle 39"/>
            <p:cNvSpPr>
              <a:spLocks noChangeArrowheads="1"/>
            </p:cNvSpPr>
            <p:nvPr/>
          </p:nvSpPr>
          <p:spPr bwMode="auto">
            <a:xfrm>
              <a:off x="1644"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69" name="Rectangle 40"/>
            <p:cNvSpPr>
              <a:spLocks noChangeArrowheads="1"/>
            </p:cNvSpPr>
            <p:nvPr/>
          </p:nvSpPr>
          <p:spPr bwMode="auto">
            <a:xfrm>
              <a:off x="1644"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70" name="Rectangle 41"/>
            <p:cNvSpPr>
              <a:spLocks noChangeArrowheads="1"/>
            </p:cNvSpPr>
            <p:nvPr/>
          </p:nvSpPr>
          <p:spPr bwMode="auto">
            <a:xfrm>
              <a:off x="1897"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8471" name="Rectangle 42"/>
            <p:cNvSpPr>
              <a:spLocks noChangeArrowheads="1"/>
            </p:cNvSpPr>
            <p:nvPr/>
          </p:nvSpPr>
          <p:spPr bwMode="auto">
            <a:xfrm>
              <a:off x="2266" y="984"/>
              <a:ext cx="621"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72" name="Rectangle 43"/>
            <p:cNvSpPr>
              <a:spLocks noChangeArrowheads="1"/>
            </p:cNvSpPr>
            <p:nvPr/>
          </p:nvSpPr>
          <p:spPr bwMode="auto">
            <a:xfrm>
              <a:off x="2266" y="984"/>
              <a:ext cx="621"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73" name="Rectangle 44"/>
            <p:cNvSpPr>
              <a:spLocks noChangeArrowheads="1"/>
            </p:cNvSpPr>
            <p:nvPr/>
          </p:nvSpPr>
          <p:spPr bwMode="auto">
            <a:xfrm>
              <a:off x="2488"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8474" name="Rectangle 45"/>
            <p:cNvSpPr>
              <a:spLocks noChangeArrowheads="1"/>
            </p:cNvSpPr>
            <p:nvPr/>
          </p:nvSpPr>
          <p:spPr bwMode="auto">
            <a:xfrm>
              <a:off x="2887"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75" name="Rectangle 46"/>
            <p:cNvSpPr>
              <a:spLocks noChangeArrowheads="1"/>
            </p:cNvSpPr>
            <p:nvPr/>
          </p:nvSpPr>
          <p:spPr bwMode="auto">
            <a:xfrm>
              <a:off x="2887"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76" name="Rectangle 47"/>
            <p:cNvSpPr>
              <a:spLocks noChangeArrowheads="1"/>
            </p:cNvSpPr>
            <p:nvPr/>
          </p:nvSpPr>
          <p:spPr bwMode="auto">
            <a:xfrm>
              <a:off x="3111"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8477" name="Rectangle 48"/>
            <p:cNvSpPr>
              <a:spLocks noChangeArrowheads="1"/>
            </p:cNvSpPr>
            <p:nvPr/>
          </p:nvSpPr>
          <p:spPr bwMode="auto">
            <a:xfrm>
              <a:off x="3510"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78" name="Rectangle 49"/>
            <p:cNvSpPr>
              <a:spLocks noChangeArrowheads="1"/>
            </p:cNvSpPr>
            <p:nvPr/>
          </p:nvSpPr>
          <p:spPr bwMode="auto">
            <a:xfrm>
              <a:off x="3510"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79" name="Rectangle 50"/>
            <p:cNvSpPr>
              <a:spLocks noChangeArrowheads="1"/>
            </p:cNvSpPr>
            <p:nvPr/>
          </p:nvSpPr>
          <p:spPr bwMode="auto">
            <a:xfrm>
              <a:off x="376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OV</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8480" name="Rectangle 51"/>
            <p:cNvSpPr>
              <a:spLocks noChangeArrowheads="1"/>
            </p:cNvSpPr>
            <p:nvPr/>
          </p:nvSpPr>
          <p:spPr bwMode="auto">
            <a:xfrm>
              <a:off x="4132" y="984"/>
              <a:ext cx="622"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81" name="Rectangle 52"/>
            <p:cNvSpPr>
              <a:spLocks noChangeArrowheads="1"/>
            </p:cNvSpPr>
            <p:nvPr/>
          </p:nvSpPr>
          <p:spPr bwMode="auto">
            <a:xfrm>
              <a:off x="4132" y="984"/>
              <a:ext cx="622"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82" name="Rectangle 53"/>
            <p:cNvSpPr>
              <a:spLocks noChangeArrowheads="1"/>
            </p:cNvSpPr>
            <p:nvPr/>
          </p:nvSpPr>
          <p:spPr bwMode="auto">
            <a:xfrm>
              <a:off x="441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8483" name="Rectangle 54"/>
            <p:cNvSpPr>
              <a:spLocks noChangeArrowheads="1"/>
            </p:cNvSpPr>
            <p:nvPr/>
          </p:nvSpPr>
          <p:spPr bwMode="auto">
            <a:xfrm>
              <a:off x="4754" y="984"/>
              <a:ext cx="623"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84" name="Rectangle 55"/>
            <p:cNvSpPr>
              <a:spLocks noChangeArrowheads="1"/>
            </p:cNvSpPr>
            <p:nvPr/>
          </p:nvSpPr>
          <p:spPr bwMode="auto">
            <a:xfrm>
              <a:off x="4754" y="984"/>
              <a:ext cx="623"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85" name="Rectangle 56"/>
            <p:cNvSpPr>
              <a:spLocks noChangeArrowheads="1"/>
            </p:cNvSpPr>
            <p:nvPr/>
          </p:nvSpPr>
          <p:spPr bwMode="auto">
            <a:xfrm>
              <a:off x="5038" y="1117"/>
              <a:ext cx="57"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P</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8486" name="Rectangle 73"/>
            <p:cNvSpPr>
              <a:spLocks noChangeArrowheads="1"/>
            </p:cNvSpPr>
            <p:nvPr/>
          </p:nvSpPr>
          <p:spPr bwMode="auto">
            <a:xfrm>
              <a:off x="399"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87" name="Rectangle 74"/>
            <p:cNvSpPr>
              <a:spLocks noChangeArrowheads="1"/>
            </p:cNvSpPr>
            <p:nvPr/>
          </p:nvSpPr>
          <p:spPr bwMode="auto">
            <a:xfrm>
              <a:off x="399"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88" name="Rectangle 75"/>
            <p:cNvSpPr>
              <a:spLocks noChangeArrowheads="1"/>
            </p:cNvSpPr>
            <p:nvPr/>
          </p:nvSpPr>
          <p:spPr bwMode="auto">
            <a:xfrm>
              <a:off x="65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CY</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8489" name="Rectangle 76"/>
            <p:cNvSpPr>
              <a:spLocks noChangeArrowheads="1"/>
            </p:cNvSpPr>
            <p:nvPr/>
          </p:nvSpPr>
          <p:spPr bwMode="auto">
            <a:xfrm>
              <a:off x="1022"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90" name="Rectangle 77"/>
            <p:cNvSpPr>
              <a:spLocks noChangeArrowheads="1"/>
            </p:cNvSpPr>
            <p:nvPr/>
          </p:nvSpPr>
          <p:spPr bwMode="auto">
            <a:xfrm>
              <a:off x="1022"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91" name="Rectangle 78"/>
            <p:cNvSpPr>
              <a:spLocks noChangeArrowheads="1"/>
            </p:cNvSpPr>
            <p:nvPr/>
          </p:nvSpPr>
          <p:spPr bwMode="auto">
            <a:xfrm>
              <a:off x="127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AC</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8492" name="Rectangle 79"/>
            <p:cNvSpPr>
              <a:spLocks noChangeArrowheads="1"/>
            </p:cNvSpPr>
            <p:nvPr/>
          </p:nvSpPr>
          <p:spPr bwMode="auto">
            <a:xfrm>
              <a:off x="1644"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93" name="Rectangle 80"/>
            <p:cNvSpPr>
              <a:spLocks noChangeArrowheads="1"/>
            </p:cNvSpPr>
            <p:nvPr/>
          </p:nvSpPr>
          <p:spPr bwMode="auto">
            <a:xfrm>
              <a:off x="1644"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94" name="Rectangle 81"/>
            <p:cNvSpPr>
              <a:spLocks noChangeArrowheads="1"/>
            </p:cNvSpPr>
            <p:nvPr/>
          </p:nvSpPr>
          <p:spPr bwMode="auto">
            <a:xfrm>
              <a:off x="1897"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8495" name="Rectangle 82"/>
            <p:cNvSpPr>
              <a:spLocks noChangeArrowheads="1"/>
            </p:cNvSpPr>
            <p:nvPr/>
          </p:nvSpPr>
          <p:spPr bwMode="auto">
            <a:xfrm>
              <a:off x="2266" y="984"/>
              <a:ext cx="621"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96" name="Rectangle 83"/>
            <p:cNvSpPr>
              <a:spLocks noChangeArrowheads="1"/>
            </p:cNvSpPr>
            <p:nvPr/>
          </p:nvSpPr>
          <p:spPr bwMode="auto">
            <a:xfrm>
              <a:off x="2266" y="984"/>
              <a:ext cx="621"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97" name="Rectangle 84"/>
            <p:cNvSpPr>
              <a:spLocks noChangeArrowheads="1"/>
            </p:cNvSpPr>
            <p:nvPr/>
          </p:nvSpPr>
          <p:spPr bwMode="auto">
            <a:xfrm>
              <a:off x="2488"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8498" name="Rectangle 85"/>
            <p:cNvSpPr>
              <a:spLocks noChangeArrowheads="1"/>
            </p:cNvSpPr>
            <p:nvPr/>
          </p:nvSpPr>
          <p:spPr bwMode="auto">
            <a:xfrm>
              <a:off x="2887"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499" name="Rectangle 86"/>
            <p:cNvSpPr>
              <a:spLocks noChangeArrowheads="1"/>
            </p:cNvSpPr>
            <p:nvPr/>
          </p:nvSpPr>
          <p:spPr bwMode="auto">
            <a:xfrm>
              <a:off x="2887"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500" name="Rectangle 87"/>
            <p:cNvSpPr>
              <a:spLocks noChangeArrowheads="1"/>
            </p:cNvSpPr>
            <p:nvPr/>
          </p:nvSpPr>
          <p:spPr bwMode="auto">
            <a:xfrm>
              <a:off x="3111"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8501" name="Rectangle 88"/>
            <p:cNvSpPr>
              <a:spLocks noChangeArrowheads="1"/>
            </p:cNvSpPr>
            <p:nvPr/>
          </p:nvSpPr>
          <p:spPr bwMode="auto">
            <a:xfrm>
              <a:off x="3510"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502" name="Rectangle 89"/>
            <p:cNvSpPr>
              <a:spLocks noChangeArrowheads="1"/>
            </p:cNvSpPr>
            <p:nvPr/>
          </p:nvSpPr>
          <p:spPr bwMode="auto">
            <a:xfrm>
              <a:off x="3510"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503" name="Rectangle 90"/>
            <p:cNvSpPr>
              <a:spLocks noChangeArrowheads="1"/>
            </p:cNvSpPr>
            <p:nvPr/>
          </p:nvSpPr>
          <p:spPr bwMode="auto">
            <a:xfrm>
              <a:off x="376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OV</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8504" name="Rectangle 91"/>
            <p:cNvSpPr>
              <a:spLocks noChangeArrowheads="1"/>
            </p:cNvSpPr>
            <p:nvPr/>
          </p:nvSpPr>
          <p:spPr bwMode="auto">
            <a:xfrm>
              <a:off x="4132" y="984"/>
              <a:ext cx="622"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505" name="Rectangle 92"/>
            <p:cNvSpPr>
              <a:spLocks noChangeArrowheads="1"/>
            </p:cNvSpPr>
            <p:nvPr/>
          </p:nvSpPr>
          <p:spPr bwMode="auto">
            <a:xfrm>
              <a:off x="4132" y="984"/>
              <a:ext cx="622"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506" name="Rectangle 93"/>
            <p:cNvSpPr>
              <a:spLocks noChangeArrowheads="1"/>
            </p:cNvSpPr>
            <p:nvPr/>
          </p:nvSpPr>
          <p:spPr bwMode="auto">
            <a:xfrm>
              <a:off x="441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8507" name="Rectangle 94"/>
            <p:cNvSpPr>
              <a:spLocks noChangeArrowheads="1"/>
            </p:cNvSpPr>
            <p:nvPr/>
          </p:nvSpPr>
          <p:spPr bwMode="auto">
            <a:xfrm>
              <a:off x="4754" y="984"/>
              <a:ext cx="623"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508" name="Rectangle 95"/>
            <p:cNvSpPr>
              <a:spLocks noChangeArrowheads="1"/>
            </p:cNvSpPr>
            <p:nvPr/>
          </p:nvSpPr>
          <p:spPr bwMode="auto">
            <a:xfrm>
              <a:off x="4754" y="984"/>
              <a:ext cx="623"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509" name="Rectangle 96"/>
            <p:cNvSpPr>
              <a:spLocks noChangeArrowheads="1"/>
            </p:cNvSpPr>
            <p:nvPr/>
          </p:nvSpPr>
          <p:spPr bwMode="auto">
            <a:xfrm>
              <a:off x="5038" y="1117"/>
              <a:ext cx="57"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P</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18510" name="Rectangle 97"/>
            <p:cNvSpPr>
              <a:spLocks noChangeArrowheads="1"/>
            </p:cNvSpPr>
            <p:nvPr/>
          </p:nvSpPr>
          <p:spPr bwMode="auto">
            <a:xfrm>
              <a:off x="399"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511" name="Rectangle 98"/>
            <p:cNvSpPr>
              <a:spLocks noChangeArrowheads="1"/>
            </p:cNvSpPr>
            <p:nvPr/>
          </p:nvSpPr>
          <p:spPr bwMode="auto">
            <a:xfrm>
              <a:off x="399" y="984"/>
              <a:ext cx="623" cy="308"/>
            </a:xfrm>
            <a:prstGeom prst="rect">
              <a:avLst/>
            </a:prstGeom>
            <a:solidFill>
              <a:schemeClr val="bg1"/>
            </a:solid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512" name="Rectangle 99"/>
            <p:cNvSpPr>
              <a:spLocks noChangeArrowheads="1"/>
            </p:cNvSpPr>
            <p:nvPr/>
          </p:nvSpPr>
          <p:spPr bwMode="auto">
            <a:xfrm>
              <a:off x="637" y="1043"/>
              <a:ext cx="238" cy="173"/>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effectLst>
                    <a:outerShdw blurRad="38100" dist="38100" dir="2700000" algn="tl">
                      <a:srgbClr val="000000">
                        <a:alpha val="43137"/>
                      </a:srgbClr>
                    </a:outerShdw>
                  </a:effectLst>
                  <a:latin typeface="宋体" panose="02010600030101010101" pitchFamily="2" charset="-122"/>
                </a:rPr>
                <a:t>CY</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8513" name="Rectangle 100"/>
            <p:cNvSpPr>
              <a:spLocks noChangeArrowheads="1"/>
            </p:cNvSpPr>
            <p:nvPr/>
          </p:nvSpPr>
          <p:spPr bwMode="auto">
            <a:xfrm>
              <a:off x="1022"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514" name="Rectangle 101"/>
            <p:cNvSpPr>
              <a:spLocks noChangeArrowheads="1"/>
            </p:cNvSpPr>
            <p:nvPr/>
          </p:nvSpPr>
          <p:spPr bwMode="auto">
            <a:xfrm>
              <a:off x="1022"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515" name="Rectangle 102"/>
            <p:cNvSpPr>
              <a:spLocks noChangeArrowheads="1"/>
            </p:cNvSpPr>
            <p:nvPr/>
          </p:nvSpPr>
          <p:spPr bwMode="auto">
            <a:xfrm>
              <a:off x="1276" y="1043"/>
              <a:ext cx="219" cy="173"/>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AC</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8516" name="Rectangle 103"/>
            <p:cNvSpPr>
              <a:spLocks noChangeArrowheads="1"/>
            </p:cNvSpPr>
            <p:nvPr/>
          </p:nvSpPr>
          <p:spPr bwMode="auto">
            <a:xfrm>
              <a:off x="1644"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517" name="Rectangle 104"/>
            <p:cNvSpPr>
              <a:spLocks noChangeArrowheads="1"/>
            </p:cNvSpPr>
            <p:nvPr/>
          </p:nvSpPr>
          <p:spPr bwMode="auto">
            <a:xfrm>
              <a:off x="1644"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518" name="Rectangle 105"/>
            <p:cNvSpPr>
              <a:spLocks noChangeArrowheads="1"/>
            </p:cNvSpPr>
            <p:nvPr/>
          </p:nvSpPr>
          <p:spPr bwMode="auto">
            <a:xfrm>
              <a:off x="1882" y="1044"/>
              <a:ext cx="146" cy="173"/>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F0</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8519" name="Rectangle 106"/>
            <p:cNvSpPr>
              <a:spLocks noChangeArrowheads="1"/>
            </p:cNvSpPr>
            <p:nvPr/>
          </p:nvSpPr>
          <p:spPr bwMode="auto">
            <a:xfrm>
              <a:off x="2266" y="984"/>
              <a:ext cx="621"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520" name="Rectangle 107"/>
            <p:cNvSpPr>
              <a:spLocks noChangeArrowheads="1"/>
            </p:cNvSpPr>
            <p:nvPr/>
          </p:nvSpPr>
          <p:spPr bwMode="auto">
            <a:xfrm>
              <a:off x="2266" y="984"/>
              <a:ext cx="621"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521" name="Rectangle 108"/>
            <p:cNvSpPr>
              <a:spLocks noChangeArrowheads="1"/>
            </p:cNvSpPr>
            <p:nvPr/>
          </p:nvSpPr>
          <p:spPr bwMode="auto">
            <a:xfrm>
              <a:off x="2505" y="1044"/>
              <a:ext cx="219" cy="173"/>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RS1</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8522" name="Rectangle 109"/>
            <p:cNvSpPr>
              <a:spLocks noChangeArrowheads="1"/>
            </p:cNvSpPr>
            <p:nvPr/>
          </p:nvSpPr>
          <p:spPr bwMode="auto">
            <a:xfrm>
              <a:off x="2887"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523" name="Rectangle 110"/>
            <p:cNvSpPr>
              <a:spLocks noChangeArrowheads="1"/>
            </p:cNvSpPr>
            <p:nvPr/>
          </p:nvSpPr>
          <p:spPr bwMode="auto">
            <a:xfrm>
              <a:off x="2887"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524" name="Rectangle 111"/>
            <p:cNvSpPr>
              <a:spLocks noChangeArrowheads="1"/>
            </p:cNvSpPr>
            <p:nvPr/>
          </p:nvSpPr>
          <p:spPr bwMode="auto">
            <a:xfrm>
              <a:off x="3111" y="1051"/>
              <a:ext cx="219" cy="173"/>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RS0</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8525" name="Rectangle 112"/>
            <p:cNvSpPr>
              <a:spLocks noChangeArrowheads="1"/>
            </p:cNvSpPr>
            <p:nvPr/>
          </p:nvSpPr>
          <p:spPr bwMode="auto">
            <a:xfrm>
              <a:off x="3510"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526" name="Rectangle 113"/>
            <p:cNvSpPr>
              <a:spLocks noChangeArrowheads="1"/>
            </p:cNvSpPr>
            <p:nvPr/>
          </p:nvSpPr>
          <p:spPr bwMode="auto">
            <a:xfrm>
              <a:off x="3510" y="984"/>
              <a:ext cx="622" cy="308"/>
            </a:xfrm>
            <a:prstGeom prst="rect">
              <a:avLst/>
            </a:prstGeom>
            <a:solidFill>
              <a:srgbClr val="CCFFFF"/>
            </a:solid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527" name="Rectangle 114"/>
            <p:cNvSpPr>
              <a:spLocks noChangeArrowheads="1"/>
            </p:cNvSpPr>
            <p:nvPr/>
          </p:nvSpPr>
          <p:spPr bwMode="auto">
            <a:xfrm>
              <a:off x="3754" y="1035"/>
              <a:ext cx="146" cy="173"/>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FF3300"/>
                  </a:solidFill>
                  <a:effectLst>
                    <a:outerShdw blurRad="38100" dist="38100" dir="2700000" algn="tl">
                      <a:srgbClr val="000000">
                        <a:alpha val="43137"/>
                      </a:srgbClr>
                    </a:outerShdw>
                  </a:effectLst>
                  <a:latin typeface="宋体" panose="02010600030101010101" pitchFamily="2" charset="-122"/>
                </a:rPr>
                <a:t>OV</a:t>
              </a:r>
              <a:endParaRPr kumimoji="1" lang="en-US" altLang="zh-CN" b="1">
                <a:solidFill>
                  <a:srgbClr val="FF3300"/>
                </a:solidFill>
                <a:effectLst>
                  <a:outerShdw blurRad="38100" dist="38100" dir="2700000" algn="tl">
                    <a:srgbClr val="000000">
                      <a:alpha val="43137"/>
                    </a:srgbClr>
                  </a:outerShdw>
                </a:effectLst>
                <a:latin typeface="Times New Roman" panose="02020603050405020304" pitchFamily="18" charset="0"/>
              </a:endParaRPr>
            </a:p>
          </p:txBody>
        </p:sp>
        <p:sp>
          <p:nvSpPr>
            <p:cNvPr id="18528" name="Rectangle 115"/>
            <p:cNvSpPr>
              <a:spLocks noChangeArrowheads="1"/>
            </p:cNvSpPr>
            <p:nvPr/>
          </p:nvSpPr>
          <p:spPr bwMode="auto">
            <a:xfrm>
              <a:off x="4132" y="984"/>
              <a:ext cx="622"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529" name="Rectangle 116"/>
            <p:cNvSpPr>
              <a:spLocks noChangeArrowheads="1"/>
            </p:cNvSpPr>
            <p:nvPr/>
          </p:nvSpPr>
          <p:spPr bwMode="auto">
            <a:xfrm>
              <a:off x="4132" y="984"/>
              <a:ext cx="622"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530" name="Rectangle 117"/>
            <p:cNvSpPr>
              <a:spLocks noChangeArrowheads="1"/>
            </p:cNvSpPr>
            <p:nvPr/>
          </p:nvSpPr>
          <p:spPr bwMode="auto">
            <a:xfrm>
              <a:off x="4400" y="1034"/>
              <a:ext cx="146" cy="173"/>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F1</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8531" name="Rectangle 118"/>
            <p:cNvSpPr>
              <a:spLocks noChangeArrowheads="1"/>
            </p:cNvSpPr>
            <p:nvPr/>
          </p:nvSpPr>
          <p:spPr bwMode="auto">
            <a:xfrm>
              <a:off x="4754" y="984"/>
              <a:ext cx="623"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532" name="Rectangle 119"/>
            <p:cNvSpPr>
              <a:spLocks noChangeArrowheads="1"/>
            </p:cNvSpPr>
            <p:nvPr/>
          </p:nvSpPr>
          <p:spPr bwMode="auto">
            <a:xfrm>
              <a:off x="4754" y="984"/>
              <a:ext cx="623"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18533" name="Rectangle 120"/>
            <p:cNvSpPr>
              <a:spLocks noChangeArrowheads="1"/>
            </p:cNvSpPr>
            <p:nvPr/>
          </p:nvSpPr>
          <p:spPr bwMode="auto">
            <a:xfrm>
              <a:off x="5047" y="1034"/>
              <a:ext cx="74" cy="174"/>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P</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18534" name="Rectangle 121"/>
            <p:cNvSpPr>
              <a:spLocks noChangeArrowheads="1"/>
            </p:cNvSpPr>
            <p:nvPr/>
          </p:nvSpPr>
          <p:spPr bwMode="auto">
            <a:xfrm>
              <a:off x="569" y="773"/>
              <a:ext cx="380"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effectLst>
                    <a:outerShdw blurRad="38100" dist="38100" dir="2700000" algn="tl">
                      <a:srgbClr val="000000">
                        <a:alpha val="43137"/>
                      </a:srgbClr>
                    </a:outerShdw>
                  </a:effectLst>
                  <a:latin typeface="宋体" panose="02010600030101010101" pitchFamily="2" charset="-122"/>
                </a:rPr>
                <a:t>PSW.7</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18535" name="Rectangle 122"/>
            <p:cNvSpPr>
              <a:spLocks noChangeArrowheads="1"/>
            </p:cNvSpPr>
            <p:nvPr/>
          </p:nvSpPr>
          <p:spPr bwMode="auto">
            <a:xfrm>
              <a:off x="1197" y="763"/>
              <a:ext cx="374"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PSW.6</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18536" name="Rectangle 123"/>
            <p:cNvSpPr>
              <a:spLocks noChangeArrowheads="1"/>
            </p:cNvSpPr>
            <p:nvPr/>
          </p:nvSpPr>
          <p:spPr bwMode="auto">
            <a:xfrm>
              <a:off x="1810" y="764"/>
              <a:ext cx="368"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PSW.5</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18537" name="Rectangle 124"/>
            <p:cNvSpPr>
              <a:spLocks noChangeArrowheads="1"/>
            </p:cNvSpPr>
            <p:nvPr/>
          </p:nvSpPr>
          <p:spPr bwMode="auto">
            <a:xfrm>
              <a:off x="2448" y="772"/>
              <a:ext cx="364"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PSW.4</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18538" name="Rectangle 125"/>
            <p:cNvSpPr>
              <a:spLocks noChangeArrowheads="1"/>
            </p:cNvSpPr>
            <p:nvPr/>
          </p:nvSpPr>
          <p:spPr bwMode="auto">
            <a:xfrm>
              <a:off x="3054" y="763"/>
              <a:ext cx="363"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PSW.3</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18539" name="Rectangle 126"/>
            <p:cNvSpPr>
              <a:spLocks noChangeArrowheads="1"/>
            </p:cNvSpPr>
            <p:nvPr/>
          </p:nvSpPr>
          <p:spPr bwMode="auto">
            <a:xfrm>
              <a:off x="3675" y="756"/>
              <a:ext cx="379"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FF3300"/>
                  </a:solidFill>
                  <a:effectLst>
                    <a:outerShdw blurRad="38100" dist="38100" dir="2700000" algn="tl">
                      <a:srgbClr val="000000">
                        <a:alpha val="43137"/>
                      </a:srgbClr>
                    </a:outerShdw>
                  </a:effectLst>
                  <a:latin typeface="宋体" panose="02010600030101010101" pitchFamily="2" charset="-122"/>
                </a:rPr>
                <a:t>PSW.2</a:t>
              </a:r>
              <a:endParaRPr kumimoji="1" lang="en-US" altLang="zh-CN" sz="2800" b="1">
                <a:solidFill>
                  <a:srgbClr val="FF3300"/>
                </a:solidFill>
                <a:effectLst>
                  <a:outerShdw blurRad="38100" dist="38100" dir="2700000" algn="tl">
                    <a:srgbClr val="000000">
                      <a:alpha val="43137"/>
                    </a:srgbClr>
                  </a:outerShdw>
                </a:effectLst>
                <a:latin typeface="Times New Roman" panose="02020603050405020304" pitchFamily="18" charset="0"/>
              </a:endParaRPr>
            </a:p>
          </p:txBody>
        </p:sp>
        <p:sp>
          <p:nvSpPr>
            <p:cNvPr id="18540" name="Rectangle 127"/>
            <p:cNvSpPr>
              <a:spLocks noChangeArrowheads="1"/>
            </p:cNvSpPr>
            <p:nvPr/>
          </p:nvSpPr>
          <p:spPr bwMode="auto">
            <a:xfrm>
              <a:off x="4298" y="747"/>
              <a:ext cx="374"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PSW.1</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18541" name="Rectangle 128"/>
            <p:cNvSpPr>
              <a:spLocks noChangeArrowheads="1"/>
            </p:cNvSpPr>
            <p:nvPr/>
          </p:nvSpPr>
          <p:spPr bwMode="auto">
            <a:xfrm>
              <a:off x="4918" y="763"/>
              <a:ext cx="368"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PSW.0</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grpSp>
      <p:sp>
        <p:nvSpPr>
          <p:cNvPr id="111" name="Rectangle 2"/>
          <p:cNvSpPr>
            <a:spLocks noChangeArrowheads="1"/>
          </p:cNvSpPr>
          <p:nvPr/>
        </p:nvSpPr>
        <p:spPr bwMode="auto">
          <a:xfrm>
            <a:off x="5364163" y="331788"/>
            <a:ext cx="3509962" cy="338137"/>
          </a:xfrm>
          <a:prstGeom prst="rect">
            <a:avLst/>
          </a:prstGeom>
          <a:noFill/>
          <a:ln>
            <a:noFill/>
          </a:ln>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defRPr/>
            </a:pPr>
            <a:r>
              <a:rPr kumimoji="1" lang="en-US" altLang="zh-CN"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2.1</a:t>
            </a: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单片机的基本结构</a:t>
            </a:r>
            <a:endParaRPr kumimoji="1" lang="zh-CN" altLang="en-US" sz="24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3"/>
          <p:cNvSpPr>
            <a:spLocks noChangeArrowheads="1"/>
          </p:cNvSpPr>
          <p:nvPr/>
        </p:nvSpPr>
        <p:spPr bwMode="auto">
          <a:xfrm>
            <a:off x="798513" y="2386013"/>
            <a:ext cx="7245350" cy="1457325"/>
          </a:xfrm>
          <a:prstGeom prst="rect">
            <a:avLst/>
          </a:prstGeom>
          <a:noFill/>
          <a:ln>
            <a:noFill/>
          </a:ln>
        </p:spPr>
        <p:txBody>
          <a:bodyPr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35000"/>
              </a:spcBef>
              <a:buFontTx/>
              <a:buNone/>
              <a:defRPr/>
            </a:pPr>
            <a:r>
              <a:rPr kumimoji="1" lang="en-US" altLang="zh-CN" sz="2400" b="1" dirty="0">
                <a:solidFill>
                  <a:srgbClr val="CC0000"/>
                </a:solidFill>
                <a:effectLst>
                  <a:outerShdw blurRad="38100" dist="38100" dir="2700000" algn="tl">
                    <a:srgbClr val="000000">
                      <a:alpha val="43137"/>
                    </a:srgbClr>
                  </a:outerShdw>
                </a:effectLst>
                <a:latin typeface="Times New Roman" panose="02020603050405020304" pitchFamily="18" charset="0"/>
              </a:rPr>
              <a:t>P</a:t>
            </a:r>
            <a:r>
              <a:rPr kumimoji="1" lang="zh-CN" altLang="en-US" sz="2400" b="1" dirty="0">
                <a:solidFill>
                  <a:srgbClr val="CC0000"/>
                </a:solidFill>
                <a:effectLst>
                  <a:outerShdw blurRad="38100" dist="38100" dir="2700000" algn="tl">
                    <a:srgbClr val="000000">
                      <a:alpha val="43137"/>
                    </a:srgbClr>
                  </a:outerShdw>
                </a:effectLst>
                <a:latin typeface="Times New Roman" panose="02020603050405020304" pitchFamily="18" charset="0"/>
              </a:rPr>
              <a:t>（</a:t>
            </a:r>
            <a:r>
              <a:rPr kumimoji="1" lang="en-US" altLang="zh-CN" sz="2400" b="1" dirty="0">
                <a:solidFill>
                  <a:srgbClr val="CC0000"/>
                </a:solidFill>
                <a:effectLst>
                  <a:outerShdw blurRad="38100" dist="38100" dir="2700000" algn="tl">
                    <a:srgbClr val="000000">
                      <a:alpha val="43137"/>
                    </a:srgbClr>
                  </a:outerShdw>
                </a:effectLst>
                <a:latin typeface="Times New Roman" panose="02020603050405020304" pitchFamily="18" charset="0"/>
              </a:rPr>
              <a:t>PSW.0</a:t>
            </a:r>
            <a:r>
              <a:rPr kumimoji="1" lang="zh-CN" altLang="en-US" sz="2400" b="1" dirty="0">
                <a:solidFill>
                  <a:srgbClr val="CC0000"/>
                </a:solidFill>
                <a:effectLst>
                  <a:outerShdw blurRad="38100" dist="38100" dir="2700000" algn="tl">
                    <a:srgbClr val="000000">
                      <a:alpha val="43137"/>
                    </a:srgbClr>
                  </a:outerShdw>
                </a:effectLst>
                <a:latin typeface="Times New Roman" panose="02020603050405020304" pitchFamily="18" charset="0"/>
              </a:rPr>
              <a:t>） </a:t>
            </a:r>
            <a:r>
              <a:rPr kumimoji="1" lang="en-US" altLang="zh-CN" sz="2400" b="1" dirty="0">
                <a:effectLst>
                  <a:outerShdw blurRad="38100" dist="38100" dir="2700000" algn="tl">
                    <a:srgbClr val="000000">
                      <a:alpha val="43137"/>
                    </a:srgbClr>
                  </a:outerShdw>
                </a:effectLst>
                <a:latin typeface="Times New Roman" panose="02020603050405020304" pitchFamily="18" charset="0"/>
              </a:rPr>
              <a:t>——</a:t>
            </a:r>
            <a:r>
              <a:rPr kumimoji="1" lang="zh-CN" altLang="en-US" sz="2400" b="1" dirty="0">
                <a:effectLst>
                  <a:outerShdw blurRad="38100" dist="38100" dir="2700000" algn="tl">
                    <a:srgbClr val="000000">
                      <a:alpha val="43137"/>
                    </a:srgbClr>
                  </a:outerShdw>
                </a:effectLst>
                <a:latin typeface="Times New Roman" panose="02020603050405020304" pitchFamily="18" charset="0"/>
              </a:rPr>
              <a:t>奇偶标志位</a:t>
            </a:r>
          </a:p>
          <a:p>
            <a:pPr eaLnBrk="1" hangingPunct="1">
              <a:spcBef>
                <a:spcPct val="35000"/>
              </a:spcBef>
              <a:buFontTx/>
              <a:buNone/>
              <a:defRPr/>
            </a:pPr>
            <a:r>
              <a:rPr kumimoji="1" lang="zh-CN" altLang="en-US" sz="2400" b="1" dirty="0">
                <a:effectLst>
                  <a:outerShdw blurRad="38100" dist="38100" dir="2700000" algn="tl">
                    <a:srgbClr val="000000">
                      <a:alpha val="43137"/>
                    </a:srgbClr>
                  </a:outerShdw>
                </a:effectLst>
                <a:latin typeface="Times New Roman" panose="02020603050405020304" pitchFamily="18" charset="0"/>
              </a:rPr>
              <a:t>该位始终跟踪累加器</a:t>
            </a:r>
            <a:r>
              <a:rPr kumimoji="1" lang="en-US" altLang="zh-CN" sz="2400" b="1" dirty="0">
                <a:solidFill>
                  <a:srgbClr val="CC0000"/>
                </a:solidFill>
                <a:effectLst>
                  <a:outerShdw blurRad="38100" dist="38100" dir="2700000" algn="tl">
                    <a:srgbClr val="000000">
                      <a:alpha val="43137"/>
                    </a:srgbClr>
                  </a:outerShdw>
                </a:effectLst>
                <a:latin typeface="Times New Roman" panose="02020603050405020304" pitchFamily="18" charset="0"/>
              </a:rPr>
              <a:t>ACC</a:t>
            </a:r>
            <a:r>
              <a:rPr kumimoji="1" lang="zh-CN" altLang="en-US" sz="2400" b="1" dirty="0">
                <a:solidFill>
                  <a:srgbClr val="CC0000"/>
                </a:solidFill>
                <a:effectLst>
                  <a:outerShdw blurRad="38100" dist="38100" dir="2700000" algn="tl">
                    <a:srgbClr val="000000">
                      <a:alpha val="43137"/>
                    </a:srgbClr>
                  </a:outerShdw>
                </a:effectLst>
                <a:latin typeface="Times New Roman" panose="02020603050405020304" pitchFamily="18" charset="0"/>
              </a:rPr>
              <a:t>中含“</a:t>
            </a:r>
            <a:r>
              <a:rPr kumimoji="1" lang="en-US" altLang="zh-CN" sz="2400" b="1" dirty="0">
                <a:solidFill>
                  <a:srgbClr val="CC0000"/>
                </a:solidFill>
                <a:effectLst>
                  <a:outerShdw blurRad="38100" dist="38100" dir="2700000" algn="tl">
                    <a:srgbClr val="000000">
                      <a:alpha val="43137"/>
                    </a:srgbClr>
                  </a:outerShdw>
                </a:effectLst>
                <a:latin typeface="Times New Roman" panose="02020603050405020304" pitchFamily="18" charset="0"/>
              </a:rPr>
              <a:t>1”</a:t>
            </a:r>
            <a:r>
              <a:rPr kumimoji="1" lang="zh-CN" altLang="en-US" sz="2400" b="1" dirty="0">
                <a:solidFill>
                  <a:srgbClr val="CC0000"/>
                </a:solidFill>
                <a:effectLst>
                  <a:outerShdw blurRad="38100" dist="38100" dir="2700000" algn="tl">
                    <a:srgbClr val="000000">
                      <a:alpha val="43137"/>
                    </a:srgbClr>
                  </a:outerShdw>
                </a:effectLst>
                <a:latin typeface="Times New Roman" panose="02020603050405020304" pitchFamily="18" charset="0"/>
              </a:rPr>
              <a:t>个数的奇偶性</a:t>
            </a:r>
          </a:p>
          <a:p>
            <a:pPr eaLnBrk="1" hangingPunct="1">
              <a:spcBef>
                <a:spcPct val="35000"/>
              </a:spcBef>
              <a:buFontTx/>
              <a:buNone/>
              <a:defRPr/>
            </a:pPr>
            <a:r>
              <a:rPr kumimoji="1" lang="zh-CN" altLang="en-US" sz="2400" b="1" dirty="0">
                <a:effectLst>
                  <a:outerShdw blurRad="38100" dist="38100" dir="2700000" algn="tl">
                    <a:srgbClr val="000000">
                      <a:alpha val="43137"/>
                    </a:srgbClr>
                  </a:outerShdw>
                </a:effectLst>
                <a:latin typeface="Times New Roman" panose="02020603050405020304" pitchFamily="18" charset="0"/>
              </a:rPr>
              <a:t>如果</a:t>
            </a:r>
            <a:r>
              <a:rPr kumimoji="1" lang="en-US" altLang="zh-CN" sz="2400" b="1" dirty="0">
                <a:effectLst>
                  <a:outerShdw blurRad="38100" dist="38100" dir="2700000" algn="tl">
                    <a:srgbClr val="000000">
                      <a:alpha val="43137"/>
                    </a:srgbClr>
                  </a:outerShdw>
                </a:effectLst>
                <a:latin typeface="Times New Roman" panose="02020603050405020304" pitchFamily="18" charset="0"/>
              </a:rPr>
              <a:t>ACC</a:t>
            </a:r>
            <a:r>
              <a:rPr kumimoji="1" lang="zh-CN" altLang="en-US" sz="2400" b="1" dirty="0">
                <a:effectLst>
                  <a:outerShdw blurRad="38100" dist="38100" dir="2700000" algn="tl">
                    <a:srgbClr val="000000">
                      <a:alpha val="43137"/>
                    </a:srgbClr>
                  </a:outerShdw>
                </a:effectLst>
                <a:latin typeface="Times New Roman" panose="02020603050405020304" pitchFamily="18" charset="0"/>
              </a:rPr>
              <a:t>中有奇数个“</a:t>
            </a:r>
            <a:r>
              <a:rPr kumimoji="1" lang="en-US" altLang="zh-CN" sz="2400" b="1" dirty="0">
                <a:effectLst>
                  <a:outerShdw blurRad="38100" dist="38100" dir="2700000" algn="tl">
                    <a:srgbClr val="000000">
                      <a:alpha val="43137"/>
                    </a:srgbClr>
                  </a:outerShdw>
                </a:effectLst>
                <a:latin typeface="Times New Roman" panose="02020603050405020304" pitchFamily="18" charset="0"/>
              </a:rPr>
              <a:t>1”</a:t>
            </a:r>
            <a:r>
              <a:rPr kumimoji="1" lang="zh-CN" altLang="en-US" sz="2400" b="1" dirty="0">
                <a:effectLst>
                  <a:outerShdw blurRad="38100" dist="38100" dir="2700000" algn="tl">
                    <a:srgbClr val="000000">
                      <a:alpha val="43137"/>
                    </a:srgbClr>
                  </a:outerShdw>
                </a:effectLst>
                <a:latin typeface="Times New Roman" panose="02020603050405020304" pitchFamily="18" charset="0"/>
              </a:rPr>
              <a:t>，则</a:t>
            </a:r>
            <a:r>
              <a:rPr kumimoji="1" lang="en-US" altLang="zh-CN" sz="2400" b="1" dirty="0">
                <a:effectLst>
                  <a:outerShdw blurRad="38100" dist="38100" dir="2700000" algn="tl">
                    <a:srgbClr val="000000">
                      <a:alpha val="43137"/>
                    </a:srgbClr>
                  </a:outerShdw>
                </a:effectLst>
                <a:latin typeface="Times New Roman" panose="02020603050405020304" pitchFamily="18" charset="0"/>
              </a:rPr>
              <a:t>P</a:t>
            </a:r>
            <a:r>
              <a:rPr kumimoji="1" lang="zh-CN" altLang="en-US" sz="2400" b="1" dirty="0">
                <a:effectLst>
                  <a:outerShdw blurRad="38100" dist="38100" dir="2700000" algn="tl">
                    <a:srgbClr val="000000">
                      <a:alpha val="43137"/>
                    </a:srgbClr>
                  </a:outerShdw>
                </a:effectLst>
                <a:latin typeface="Times New Roman" panose="02020603050405020304" pitchFamily="18" charset="0"/>
              </a:rPr>
              <a:t>置“</a:t>
            </a:r>
            <a:r>
              <a:rPr kumimoji="1" lang="en-US" altLang="zh-CN" sz="2400" b="1" dirty="0">
                <a:effectLst>
                  <a:outerShdw blurRad="38100" dist="38100" dir="2700000" algn="tl">
                    <a:srgbClr val="000000">
                      <a:alpha val="43137"/>
                    </a:srgbClr>
                  </a:outerShdw>
                </a:effectLst>
                <a:latin typeface="Times New Roman" panose="02020603050405020304" pitchFamily="18" charset="0"/>
              </a:rPr>
              <a:t>1”</a:t>
            </a:r>
            <a:r>
              <a:rPr kumimoji="1" lang="zh-CN" altLang="en-US" sz="2400" b="1" dirty="0">
                <a:effectLst>
                  <a:outerShdw blurRad="38100" dist="38100" dir="2700000" algn="tl">
                    <a:srgbClr val="000000">
                      <a:alpha val="43137"/>
                    </a:srgbClr>
                  </a:outerShdw>
                </a:effectLst>
                <a:latin typeface="Times New Roman" panose="02020603050405020304" pitchFamily="18" charset="0"/>
              </a:rPr>
              <a:t>，否则置“</a:t>
            </a:r>
            <a:r>
              <a:rPr kumimoji="1" lang="en-US" altLang="zh-CN" sz="2400" b="1" dirty="0">
                <a:effectLst>
                  <a:outerShdw blurRad="38100" dist="38100" dir="2700000" algn="tl">
                    <a:srgbClr val="000000">
                      <a:alpha val="43137"/>
                    </a:srgbClr>
                  </a:outerShdw>
                </a:effectLst>
                <a:latin typeface="Times New Roman" panose="02020603050405020304" pitchFamily="18" charset="0"/>
              </a:rPr>
              <a:t>0”</a:t>
            </a:r>
          </a:p>
        </p:txBody>
      </p:sp>
      <p:sp>
        <p:nvSpPr>
          <p:cNvPr id="117763" name="Rectangle 4"/>
          <p:cNvSpPr>
            <a:spLocks noChangeArrowheads="1"/>
          </p:cNvSpPr>
          <p:nvPr/>
        </p:nvSpPr>
        <p:spPr bwMode="auto">
          <a:xfrm>
            <a:off x="312738" y="4008438"/>
            <a:ext cx="5975350" cy="830262"/>
          </a:xfrm>
          <a:prstGeom prst="rect">
            <a:avLst/>
          </a:prstGeom>
          <a:noFill/>
          <a:ln>
            <a:noFill/>
          </a:ln>
        </p:spPr>
        <p:txBody>
          <a:bodyPr>
            <a:spAutoFit/>
          </a:bodyPr>
          <a:lstStyle>
            <a:lvl1pPr marL="342900" indent="-3429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lvl="1" eaLnBrk="1" hangingPunct="1">
              <a:spcBef>
                <a:spcPct val="0"/>
              </a:spcBef>
              <a:buFontTx/>
              <a:buNone/>
              <a:defRPr/>
            </a:pPr>
            <a:r>
              <a:rPr lang="zh-CN" altLang="en-US" sz="2400" b="1" dirty="0">
                <a:solidFill>
                  <a:srgbClr val="CC0000"/>
                </a:solidFill>
                <a:effectLst>
                  <a:outerShdw blurRad="38100" dist="38100" dir="2700000" algn="tl">
                    <a:srgbClr val="000000">
                      <a:alpha val="43137"/>
                    </a:srgbClr>
                  </a:outerShdw>
                </a:effectLst>
                <a:latin typeface="Times New Roman" panose="02020603050405020304" pitchFamily="18" charset="0"/>
              </a:rPr>
              <a:t>举例</a:t>
            </a:r>
            <a:r>
              <a:rPr lang="zh-CN" altLang="en-US" sz="2400" b="1" dirty="0">
                <a:effectLst>
                  <a:outerShdw blurRad="38100" dist="38100" dir="2700000" algn="tl">
                    <a:srgbClr val="000000">
                      <a:alpha val="43137"/>
                    </a:srgbClr>
                  </a:outerShdw>
                </a:effectLst>
                <a:latin typeface="Times New Roman" panose="02020603050405020304" pitchFamily="18" charset="0"/>
              </a:rPr>
              <a:t>    若</a:t>
            </a:r>
            <a:r>
              <a:rPr lang="en-US" altLang="zh-CN" sz="2400" b="1" dirty="0">
                <a:effectLst>
                  <a:outerShdw blurRad="38100" dist="38100" dir="2700000" algn="tl">
                    <a:srgbClr val="000000">
                      <a:alpha val="43137"/>
                    </a:srgbClr>
                  </a:outerShdw>
                </a:effectLst>
                <a:latin typeface="Times New Roman" panose="02020603050405020304" pitchFamily="18" charset="0"/>
              </a:rPr>
              <a:t>ACC =1001 1111</a:t>
            </a:r>
            <a:r>
              <a:rPr lang="zh-CN" altLang="en-US" sz="2400" b="1" dirty="0">
                <a:effectLst>
                  <a:outerShdw blurRad="38100" dist="38100" dir="2700000" algn="tl">
                    <a:srgbClr val="000000">
                      <a:alpha val="43137"/>
                    </a:srgbClr>
                  </a:outerShdw>
                </a:effectLst>
                <a:latin typeface="Times New Roman" panose="02020603050405020304" pitchFamily="18" charset="0"/>
              </a:rPr>
              <a:t>，则</a:t>
            </a:r>
            <a:r>
              <a:rPr lang="en-US" altLang="zh-CN" sz="2400" b="1" dirty="0">
                <a:effectLst>
                  <a:outerShdw blurRad="38100" dist="38100" dir="2700000" algn="tl">
                    <a:srgbClr val="000000">
                      <a:alpha val="43137"/>
                    </a:srgbClr>
                  </a:outerShdw>
                </a:effectLst>
                <a:latin typeface="Times New Roman" panose="02020603050405020304" pitchFamily="18" charset="0"/>
              </a:rPr>
              <a:t>P=0</a:t>
            </a:r>
          </a:p>
          <a:p>
            <a:pPr lvl="1" eaLnBrk="1" hangingPunct="1">
              <a:spcBef>
                <a:spcPct val="0"/>
              </a:spcBef>
              <a:buFontTx/>
              <a:buNone/>
              <a:defRPr/>
            </a:pPr>
            <a:r>
              <a:rPr lang="en-US" altLang="zh-CN" sz="2400" b="1" dirty="0">
                <a:effectLst>
                  <a:outerShdw blurRad="38100" dist="38100" dir="2700000" algn="tl">
                    <a:srgbClr val="000000">
                      <a:alpha val="43137"/>
                    </a:srgbClr>
                  </a:outerShdw>
                </a:effectLst>
                <a:latin typeface="Times New Roman" panose="02020603050405020304" pitchFamily="18" charset="0"/>
              </a:rPr>
              <a:t>            </a:t>
            </a:r>
            <a:r>
              <a:rPr lang="zh-CN" altLang="en-US" sz="2400" b="1" dirty="0">
                <a:effectLst>
                  <a:outerShdw blurRad="38100" dist="38100" dir="2700000" algn="tl">
                    <a:srgbClr val="000000">
                      <a:alpha val="43137"/>
                    </a:srgbClr>
                  </a:outerShdw>
                </a:effectLst>
                <a:latin typeface="Times New Roman" panose="02020603050405020304" pitchFamily="18" charset="0"/>
              </a:rPr>
              <a:t>若</a:t>
            </a:r>
            <a:r>
              <a:rPr lang="en-US" altLang="zh-CN" sz="2400" b="1" dirty="0">
                <a:effectLst>
                  <a:outerShdw blurRad="38100" dist="38100" dir="2700000" algn="tl">
                    <a:srgbClr val="000000">
                      <a:alpha val="43137"/>
                    </a:srgbClr>
                  </a:outerShdw>
                </a:effectLst>
                <a:latin typeface="Times New Roman" panose="02020603050405020304" pitchFamily="18" charset="0"/>
              </a:rPr>
              <a:t>ACC =1100 0001</a:t>
            </a:r>
            <a:r>
              <a:rPr lang="zh-CN" altLang="en-US" sz="2400" b="1" dirty="0">
                <a:effectLst>
                  <a:outerShdw blurRad="38100" dist="38100" dir="2700000" algn="tl">
                    <a:srgbClr val="000000">
                      <a:alpha val="43137"/>
                    </a:srgbClr>
                  </a:outerShdw>
                </a:effectLst>
                <a:latin typeface="Times New Roman" panose="02020603050405020304" pitchFamily="18" charset="0"/>
              </a:rPr>
              <a:t>，则</a:t>
            </a:r>
            <a:r>
              <a:rPr lang="en-US" altLang="zh-CN" sz="2400" b="1" dirty="0">
                <a:effectLst>
                  <a:outerShdw blurRad="38100" dist="38100" dir="2700000" algn="tl">
                    <a:srgbClr val="000000">
                      <a:alpha val="43137"/>
                    </a:srgbClr>
                  </a:outerShdw>
                </a:effectLst>
                <a:latin typeface="Times New Roman" panose="02020603050405020304" pitchFamily="18" charset="0"/>
              </a:rPr>
              <a:t>P=1</a:t>
            </a:r>
          </a:p>
        </p:txBody>
      </p:sp>
      <p:sp>
        <p:nvSpPr>
          <p:cNvPr id="117765" name="Rectangle 142"/>
          <p:cNvSpPr>
            <a:spLocks noChangeArrowheads="1"/>
          </p:cNvSpPr>
          <p:nvPr/>
        </p:nvSpPr>
        <p:spPr bwMode="auto">
          <a:xfrm>
            <a:off x="798513" y="4976813"/>
            <a:ext cx="7918450" cy="461962"/>
          </a:xfrm>
          <a:prstGeom prst="rect">
            <a:avLst/>
          </a:prstGeom>
          <a:noFill/>
          <a:ln>
            <a:noFill/>
          </a:ln>
        </p:spPr>
        <p:txBody>
          <a:bodyPr wrap="none">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35000"/>
              </a:spcBef>
              <a:buFontTx/>
              <a:buNone/>
              <a:defRPr/>
            </a:pPr>
            <a:r>
              <a:rPr kumimoji="1" lang="zh-CN" altLang="en-US" sz="2400" b="1">
                <a:solidFill>
                  <a:srgbClr val="CC0000"/>
                </a:solidFill>
                <a:effectLst>
                  <a:outerShdw blurRad="38100" dist="38100" dir="2700000" algn="tl">
                    <a:srgbClr val="000000">
                      <a:alpha val="43137"/>
                    </a:srgbClr>
                  </a:outerShdw>
                </a:effectLst>
                <a:latin typeface="Times New Roman" panose="02020603050405020304" pitchFamily="18" charset="0"/>
              </a:rPr>
              <a:t>用途</a:t>
            </a:r>
            <a:r>
              <a:rPr kumimoji="1" lang="zh-CN" altLang="en-US" sz="2400" b="1">
                <a:effectLst>
                  <a:outerShdw blurRad="38100" dist="38100" dir="2700000" algn="tl">
                    <a:srgbClr val="000000">
                      <a:alpha val="43137"/>
                    </a:srgbClr>
                  </a:outerShdw>
                </a:effectLst>
                <a:latin typeface="Times New Roman" panose="02020603050405020304" pitchFamily="18" charset="0"/>
              </a:rPr>
              <a:t>：</a:t>
            </a:r>
            <a:r>
              <a:rPr lang="zh-CN" altLang="en-US" sz="2400" b="1">
                <a:effectLst>
                  <a:outerShdw blurRad="38100" dist="38100" dir="2700000" algn="tl">
                    <a:srgbClr val="000000">
                      <a:alpha val="43137"/>
                    </a:srgbClr>
                  </a:outerShdw>
                </a:effectLst>
                <a:latin typeface="Times New Roman" panose="02020603050405020304" pitchFamily="18" charset="0"/>
              </a:rPr>
              <a:t>串行通讯中的数据校验，</a:t>
            </a:r>
            <a:r>
              <a:rPr lang="zh-CN" altLang="en-US" sz="2400" b="1">
                <a:solidFill>
                  <a:srgbClr val="0066FF"/>
                </a:solidFill>
                <a:effectLst>
                  <a:outerShdw blurRad="38100" dist="38100" dir="2700000" algn="tl">
                    <a:srgbClr val="000000">
                      <a:alpha val="43137"/>
                    </a:srgbClr>
                  </a:outerShdw>
                </a:effectLst>
                <a:latin typeface="Times New Roman" panose="02020603050405020304" pitchFamily="18" charset="0"/>
              </a:rPr>
              <a:t>判断是否存在传输错误</a:t>
            </a:r>
            <a:r>
              <a:rPr lang="zh-CN" altLang="en-US" sz="2400" b="1">
                <a:effectLst>
                  <a:outerShdw blurRad="38100" dist="38100" dir="2700000" algn="tl">
                    <a:srgbClr val="000000">
                      <a:alpha val="43137"/>
                    </a:srgbClr>
                  </a:outerShdw>
                </a:effectLst>
                <a:latin typeface="Times New Roman" panose="02020603050405020304" pitchFamily="18" charset="0"/>
              </a:rPr>
              <a:t>。</a:t>
            </a:r>
          </a:p>
        </p:txBody>
      </p:sp>
      <p:grpSp>
        <p:nvGrpSpPr>
          <p:cNvPr id="20485" name="Group 158"/>
          <p:cNvGrpSpPr/>
          <p:nvPr/>
        </p:nvGrpSpPr>
        <p:grpSpPr bwMode="auto">
          <a:xfrm>
            <a:off x="633413" y="1185863"/>
            <a:ext cx="7902575" cy="866775"/>
            <a:chOff x="399" y="747"/>
            <a:chExt cx="4978" cy="546"/>
          </a:xfrm>
        </p:grpSpPr>
        <p:sp>
          <p:nvSpPr>
            <p:cNvPr id="20487" name="Rectangle 9"/>
            <p:cNvSpPr>
              <a:spLocks noChangeArrowheads="1"/>
            </p:cNvSpPr>
            <p:nvPr/>
          </p:nvSpPr>
          <p:spPr bwMode="auto">
            <a:xfrm>
              <a:off x="399"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488" name="Rectangle 10"/>
            <p:cNvSpPr>
              <a:spLocks noChangeArrowheads="1"/>
            </p:cNvSpPr>
            <p:nvPr/>
          </p:nvSpPr>
          <p:spPr bwMode="auto">
            <a:xfrm>
              <a:off x="399"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489" name="Rectangle 11"/>
            <p:cNvSpPr>
              <a:spLocks noChangeArrowheads="1"/>
            </p:cNvSpPr>
            <p:nvPr/>
          </p:nvSpPr>
          <p:spPr bwMode="auto">
            <a:xfrm>
              <a:off x="65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CY</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20490" name="Rectangle 12"/>
            <p:cNvSpPr>
              <a:spLocks noChangeArrowheads="1"/>
            </p:cNvSpPr>
            <p:nvPr/>
          </p:nvSpPr>
          <p:spPr bwMode="auto">
            <a:xfrm>
              <a:off x="1022"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491" name="Rectangle 13"/>
            <p:cNvSpPr>
              <a:spLocks noChangeArrowheads="1"/>
            </p:cNvSpPr>
            <p:nvPr/>
          </p:nvSpPr>
          <p:spPr bwMode="auto">
            <a:xfrm>
              <a:off x="1022"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492" name="Rectangle 14"/>
            <p:cNvSpPr>
              <a:spLocks noChangeArrowheads="1"/>
            </p:cNvSpPr>
            <p:nvPr/>
          </p:nvSpPr>
          <p:spPr bwMode="auto">
            <a:xfrm>
              <a:off x="127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AC</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20493" name="Rectangle 15"/>
            <p:cNvSpPr>
              <a:spLocks noChangeArrowheads="1"/>
            </p:cNvSpPr>
            <p:nvPr/>
          </p:nvSpPr>
          <p:spPr bwMode="auto">
            <a:xfrm>
              <a:off x="1644"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494" name="Rectangle 16"/>
            <p:cNvSpPr>
              <a:spLocks noChangeArrowheads="1"/>
            </p:cNvSpPr>
            <p:nvPr/>
          </p:nvSpPr>
          <p:spPr bwMode="auto">
            <a:xfrm>
              <a:off x="1644"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495" name="Rectangle 17"/>
            <p:cNvSpPr>
              <a:spLocks noChangeArrowheads="1"/>
            </p:cNvSpPr>
            <p:nvPr/>
          </p:nvSpPr>
          <p:spPr bwMode="auto">
            <a:xfrm>
              <a:off x="1897"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20496" name="Rectangle 18"/>
            <p:cNvSpPr>
              <a:spLocks noChangeArrowheads="1"/>
            </p:cNvSpPr>
            <p:nvPr/>
          </p:nvSpPr>
          <p:spPr bwMode="auto">
            <a:xfrm>
              <a:off x="2266" y="984"/>
              <a:ext cx="621"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497" name="Rectangle 19"/>
            <p:cNvSpPr>
              <a:spLocks noChangeArrowheads="1"/>
            </p:cNvSpPr>
            <p:nvPr/>
          </p:nvSpPr>
          <p:spPr bwMode="auto">
            <a:xfrm>
              <a:off x="2266" y="984"/>
              <a:ext cx="621"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498" name="Rectangle 20"/>
            <p:cNvSpPr>
              <a:spLocks noChangeArrowheads="1"/>
            </p:cNvSpPr>
            <p:nvPr/>
          </p:nvSpPr>
          <p:spPr bwMode="auto">
            <a:xfrm>
              <a:off x="2488"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20499" name="Rectangle 21"/>
            <p:cNvSpPr>
              <a:spLocks noChangeArrowheads="1"/>
            </p:cNvSpPr>
            <p:nvPr/>
          </p:nvSpPr>
          <p:spPr bwMode="auto">
            <a:xfrm>
              <a:off x="2887"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00" name="Rectangle 22"/>
            <p:cNvSpPr>
              <a:spLocks noChangeArrowheads="1"/>
            </p:cNvSpPr>
            <p:nvPr/>
          </p:nvSpPr>
          <p:spPr bwMode="auto">
            <a:xfrm>
              <a:off x="2887"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01" name="Rectangle 23"/>
            <p:cNvSpPr>
              <a:spLocks noChangeArrowheads="1"/>
            </p:cNvSpPr>
            <p:nvPr/>
          </p:nvSpPr>
          <p:spPr bwMode="auto">
            <a:xfrm>
              <a:off x="3111"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20502" name="Rectangle 24"/>
            <p:cNvSpPr>
              <a:spLocks noChangeArrowheads="1"/>
            </p:cNvSpPr>
            <p:nvPr/>
          </p:nvSpPr>
          <p:spPr bwMode="auto">
            <a:xfrm>
              <a:off x="3510"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03" name="Rectangle 25"/>
            <p:cNvSpPr>
              <a:spLocks noChangeArrowheads="1"/>
            </p:cNvSpPr>
            <p:nvPr/>
          </p:nvSpPr>
          <p:spPr bwMode="auto">
            <a:xfrm>
              <a:off x="3510"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04" name="Rectangle 26"/>
            <p:cNvSpPr>
              <a:spLocks noChangeArrowheads="1"/>
            </p:cNvSpPr>
            <p:nvPr/>
          </p:nvSpPr>
          <p:spPr bwMode="auto">
            <a:xfrm>
              <a:off x="376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OV</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20505" name="Rectangle 27"/>
            <p:cNvSpPr>
              <a:spLocks noChangeArrowheads="1"/>
            </p:cNvSpPr>
            <p:nvPr/>
          </p:nvSpPr>
          <p:spPr bwMode="auto">
            <a:xfrm>
              <a:off x="4132" y="984"/>
              <a:ext cx="622"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06" name="Rectangle 28"/>
            <p:cNvSpPr>
              <a:spLocks noChangeArrowheads="1"/>
            </p:cNvSpPr>
            <p:nvPr/>
          </p:nvSpPr>
          <p:spPr bwMode="auto">
            <a:xfrm>
              <a:off x="4132" y="984"/>
              <a:ext cx="622"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07" name="Rectangle 29"/>
            <p:cNvSpPr>
              <a:spLocks noChangeArrowheads="1"/>
            </p:cNvSpPr>
            <p:nvPr/>
          </p:nvSpPr>
          <p:spPr bwMode="auto">
            <a:xfrm>
              <a:off x="441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20508" name="Rectangle 30"/>
            <p:cNvSpPr>
              <a:spLocks noChangeArrowheads="1"/>
            </p:cNvSpPr>
            <p:nvPr/>
          </p:nvSpPr>
          <p:spPr bwMode="auto">
            <a:xfrm>
              <a:off x="4754" y="984"/>
              <a:ext cx="623"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09" name="Rectangle 31"/>
            <p:cNvSpPr>
              <a:spLocks noChangeArrowheads="1"/>
            </p:cNvSpPr>
            <p:nvPr/>
          </p:nvSpPr>
          <p:spPr bwMode="auto">
            <a:xfrm>
              <a:off x="4754" y="984"/>
              <a:ext cx="623"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10" name="Rectangle 32"/>
            <p:cNvSpPr>
              <a:spLocks noChangeArrowheads="1"/>
            </p:cNvSpPr>
            <p:nvPr/>
          </p:nvSpPr>
          <p:spPr bwMode="auto">
            <a:xfrm>
              <a:off x="5038" y="1117"/>
              <a:ext cx="57"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P</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20511" name="Rectangle 33"/>
            <p:cNvSpPr>
              <a:spLocks noChangeArrowheads="1"/>
            </p:cNvSpPr>
            <p:nvPr/>
          </p:nvSpPr>
          <p:spPr bwMode="auto">
            <a:xfrm>
              <a:off x="399"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12" name="Rectangle 34"/>
            <p:cNvSpPr>
              <a:spLocks noChangeArrowheads="1"/>
            </p:cNvSpPr>
            <p:nvPr/>
          </p:nvSpPr>
          <p:spPr bwMode="auto">
            <a:xfrm>
              <a:off x="399"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13" name="Rectangle 35"/>
            <p:cNvSpPr>
              <a:spLocks noChangeArrowheads="1"/>
            </p:cNvSpPr>
            <p:nvPr/>
          </p:nvSpPr>
          <p:spPr bwMode="auto">
            <a:xfrm>
              <a:off x="65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CY</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20514" name="Rectangle 36"/>
            <p:cNvSpPr>
              <a:spLocks noChangeArrowheads="1"/>
            </p:cNvSpPr>
            <p:nvPr/>
          </p:nvSpPr>
          <p:spPr bwMode="auto">
            <a:xfrm>
              <a:off x="1022"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15" name="Rectangle 37"/>
            <p:cNvSpPr>
              <a:spLocks noChangeArrowheads="1"/>
            </p:cNvSpPr>
            <p:nvPr/>
          </p:nvSpPr>
          <p:spPr bwMode="auto">
            <a:xfrm>
              <a:off x="1022"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16" name="Rectangle 38"/>
            <p:cNvSpPr>
              <a:spLocks noChangeArrowheads="1"/>
            </p:cNvSpPr>
            <p:nvPr/>
          </p:nvSpPr>
          <p:spPr bwMode="auto">
            <a:xfrm>
              <a:off x="127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AC</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20517" name="Rectangle 39"/>
            <p:cNvSpPr>
              <a:spLocks noChangeArrowheads="1"/>
            </p:cNvSpPr>
            <p:nvPr/>
          </p:nvSpPr>
          <p:spPr bwMode="auto">
            <a:xfrm>
              <a:off x="1644"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18" name="Rectangle 40"/>
            <p:cNvSpPr>
              <a:spLocks noChangeArrowheads="1"/>
            </p:cNvSpPr>
            <p:nvPr/>
          </p:nvSpPr>
          <p:spPr bwMode="auto">
            <a:xfrm>
              <a:off x="1644"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19" name="Rectangle 41"/>
            <p:cNvSpPr>
              <a:spLocks noChangeArrowheads="1"/>
            </p:cNvSpPr>
            <p:nvPr/>
          </p:nvSpPr>
          <p:spPr bwMode="auto">
            <a:xfrm>
              <a:off x="1897"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20520" name="Rectangle 42"/>
            <p:cNvSpPr>
              <a:spLocks noChangeArrowheads="1"/>
            </p:cNvSpPr>
            <p:nvPr/>
          </p:nvSpPr>
          <p:spPr bwMode="auto">
            <a:xfrm>
              <a:off x="2266" y="984"/>
              <a:ext cx="621"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21" name="Rectangle 43"/>
            <p:cNvSpPr>
              <a:spLocks noChangeArrowheads="1"/>
            </p:cNvSpPr>
            <p:nvPr/>
          </p:nvSpPr>
          <p:spPr bwMode="auto">
            <a:xfrm>
              <a:off x="2266" y="984"/>
              <a:ext cx="621"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22" name="Rectangle 44"/>
            <p:cNvSpPr>
              <a:spLocks noChangeArrowheads="1"/>
            </p:cNvSpPr>
            <p:nvPr/>
          </p:nvSpPr>
          <p:spPr bwMode="auto">
            <a:xfrm>
              <a:off x="2488"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20523" name="Rectangle 45"/>
            <p:cNvSpPr>
              <a:spLocks noChangeArrowheads="1"/>
            </p:cNvSpPr>
            <p:nvPr/>
          </p:nvSpPr>
          <p:spPr bwMode="auto">
            <a:xfrm>
              <a:off x="2887"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24" name="Rectangle 46"/>
            <p:cNvSpPr>
              <a:spLocks noChangeArrowheads="1"/>
            </p:cNvSpPr>
            <p:nvPr/>
          </p:nvSpPr>
          <p:spPr bwMode="auto">
            <a:xfrm>
              <a:off x="2887"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25" name="Rectangle 47"/>
            <p:cNvSpPr>
              <a:spLocks noChangeArrowheads="1"/>
            </p:cNvSpPr>
            <p:nvPr/>
          </p:nvSpPr>
          <p:spPr bwMode="auto">
            <a:xfrm>
              <a:off x="3111"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20526" name="Rectangle 48"/>
            <p:cNvSpPr>
              <a:spLocks noChangeArrowheads="1"/>
            </p:cNvSpPr>
            <p:nvPr/>
          </p:nvSpPr>
          <p:spPr bwMode="auto">
            <a:xfrm>
              <a:off x="3510"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27" name="Rectangle 49"/>
            <p:cNvSpPr>
              <a:spLocks noChangeArrowheads="1"/>
            </p:cNvSpPr>
            <p:nvPr/>
          </p:nvSpPr>
          <p:spPr bwMode="auto">
            <a:xfrm>
              <a:off x="3510"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28" name="Rectangle 50"/>
            <p:cNvSpPr>
              <a:spLocks noChangeArrowheads="1"/>
            </p:cNvSpPr>
            <p:nvPr/>
          </p:nvSpPr>
          <p:spPr bwMode="auto">
            <a:xfrm>
              <a:off x="376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OV</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20529" name="Rectangle 51"/>
            <p:cNvSpPr>
              <a:spLocks noChangeArrowheads="1"/>
            </p:cNvSpPr>
            <p:nvPr/>
          </p:nvSpPr>
          <p:spPr bwMode="auto">
            <a:xfrm>
              <a:off x="4132" y="984"/>
              <a:ext cx="622"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30" name="Rectangle 52"/>
            <p:cNvSpPr>
              <a:spLocks noChangeArrowheads="1"/>
            </p:cNvSpPr>
            <p:nvPr/>
          </p:nvSpPr>
          <p:spPr bwMode="auto">
            <a:xfrm>
              <a:off x="4132" y="984"/>
              <a:ext cx="622"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31" name="Rectangle 53"/>
            <p:cNvSpPr>
              <a:spLocks noChangeArrowheads="1"/>
            </p:cNvSpPr>
            <p:nvPr/>
          </p:nvSpPr>
          <p:spPr bwMode="auto">
            <a:xfrm>
              <a:off x="441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20532" name="Rectangle 54"/>
            <p:cNvSpPr>
              <a:spLocks noChangeArrowheads="1"/>
            </p:cNvSpPr>
            <p:nvPr/>
          </p:nvSpPr>
          <p:spPr bwMode="auto">
            <a:xfrm>
              <a:off x="4754" y="984"/>
              <a:ext cx="623"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33" name="Rectangle 55"/>
            <p:cNvSpPr>
              <a:spLocks noChangeArrowheads="1"/>
            </p:cNvSpPr>
            <p:nvPr/>
          </p:nvSpPr>
          <p:spPr bwMode="auto">
            <a:xfrm>
              <a:off x="4754" y="984"/>
              <a:ext cx="623"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34" name="Rectangle 56"/>
            <p:cNvSpPr>
              <a:spLocks noChangeArrowheads="1"/>
            </p:cNvSpPr>
            <p:nvPr/>
          </p:nvSpPr>
          <p:spPr bwMode="auto">
            <a:xfrm>
              <a:off x="5038" y="1117"/>
              <a:ext cx="57"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P</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20535" name="Rectangle 73"/>
            <p:cNvSpPr>
              <a:spLocks noChangeArrowheads="1"/>
            </p:cNvSpPr>
            <p:nvPr/>
          </p:nvSpPr>
          <p:spPr bwMode="auto">
            <a:xfrm>
              <a:off x="399"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36" name="Rectangle 74"/>
            <p:cNvSpPr>
              <a:spLocks noChangeArrowheads="1"/>
            </p:cNvSpPr>
            <p:nvPr/>
          </p:nvSpPr>
          <p:spPr bwMode="auto">
            <a:xfrm>
              <a:off x="399"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37" name="Rectangle 75"/>
            <p:cNvSpPr>
              <a:spLocks noChangeArrowheads="1"/>
            </p:cNvSpPr>
            <p:nvPr/>
          </p:nvSpPr>
          <p:spPr bwMode="auto">
            <a:xfrm>
              <a:off x="65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CY</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20538" name="Rectangle 76"/>
            <p:cNvSpPr>
              <a:spLocks noChangeArrowheads="1"/>
            </p:cNvSpPr>
            <p:nvPr/>
          </p:nvSpPr>
          <p:spPr bwMode="auto">
            <a:xfrm>
              <a:off x="1022"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39" name="Rectangle 77"/>
            <p:cNvSpPr>
              <a:spLocks noChangeArrowheads="1"/>
            </p:cNvSpPr>
            <p:nvPr/>
          </p:nvSpPr>
          <p:spPr bwMode="auto">
            <a:xfrm>
              <a:off x="1022"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40" name="Rectangle 78"/>
            <p:cNvSpPr>
              <a:spLocks noChangeArrowheads="1"/>
            </p:cNvSpPr>
            <p:nvPr/>
          </p:nvSpPr>
          <p:spPr bwMode="auto">
            <a:xfrm>
              <a:off x="127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AC</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20541" name="Rectangle 79"/>
            <p:cNvSpPr>
              <a:spLocks noChangeArrowheads="1"/>
            </p:cNvSpPr>
            <p:nvPr/>
          </p:nvSpPr>
          <p:spPr bwMode="auto">
            <a:xfrm>
              <a:off x="1644"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42" name="Rectangle 80"/>
            <p:cNvSpPr>
              <a:spLocks noChangeArrowheads="1"/>
            </p:cNvSpPr>
            <p:nvPr/>
          </p:nvSpPr>
          <p:spPr bwMode="auto">
            <a:xfrm>
              <a:off x="1644"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43" name="Rectangle 81"/>
            <p:cNvSpPr>
              <a:spLocks noChangeArrowheads="1"/>
            </p:cNvSpPr>
            <p:nvPr/>
          </p:nvSpPr>
          <p:spPr bwMode="auto">
            <a:xfrm>
              <a:off x="1897"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20544" name="Rectangle 82"/>
            <p:cNvSpPr>
              <a:spLocks noChangeArrowheads="1"/>
            </p:cNvSpPr>
            <p:nvPr/>
          </p:nvSpPr>
          <p:spPr bwMode="auto">
            <a:xfrm>
              <a:off x="2266" y="984"/>
              <a:ext cx="621"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45" name="Rectangle 83"/>
            <p:cNvSpPr>
              <a:spLocks noChangeArrowheads="1"/>
            </p:cNvSpPr>
            <p:nvPr/>
          </p:nvSpPr>
          <p:spPr bwMode="auto">
            <a:xfrm>
              <a:off x="2266" y="984"/>
              <a:ext cx="621"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46" name="Rectangle 84"/>
            <p:cNvSpPr>
              <a:spLocks noChangeArrowheads="1"/>
            </p:cNvSpPr>
            <p:nvPr/>
          </p:nvSpPr>
          <p:spPr bwMode="auto">
            <a:xfrm>
              <a:off x="2488"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20547" name="Rectangle 85"/>
            <p:cNvSpPr>
              <a:spLocks noChangeArrowheads="1"/>
            </p:cNvSpPr>
            <p:nvPr/>
          </p:nvSpPr>
          <p:spPr bwMode="auto">
            <a:xfrm>
              <a:off x="2887"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48" name="Rectangle 86"/>
            <p:cNvSpPr>
              <a:spLocks noChangeArrowheads="1"/>
            </p:cNvSpPr>
            <p:nvPr/>
          </p:nvSpPr>
          <p:spPr bwMode="auto">
            <a:xfrm>
              <a:off x="2887"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49" name="Rectangle 87"/>
            <p:cNvSpPr>
              <a:spLocks noChangeArrowheads="1"/>
            </p:cNvSpPr>
            <p:nvPr/>
          </p:nvSpPr>
          <p:spPr bwMode="auto">
            <a:xfrm>
              <a:off x="3111" y="1117"/>
              <a:ext cx="170"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RS0</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20550" name="Rectangle 88"/>
            <p:cNvSpPr>
              <a:spLocks noChangeArrowheads="1"/>
            </p:cNvSpPr>
            <p:nvPr/>
          </p:nvSpPr>
          <p:spPr bwMode="auto">
            <a:xfrm>
              <a:off x="3510"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51" name="Rectangle 89"/>
            <p:cNvSpPr>
              <a:spLocks noChangeArrowheads="1"/>
            </p:cNvSpPr>
            <p:nvPr/>
          </p:nvSpPr>
          <p:spPr bwMode="auto">
            <a:xfrm>
              <a:off x="3510"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52" name="Rectangle 90"/>
            <p:cNvSpPr>
              <a:spLocks noChangeArrowheads="1"/>
            </p:cNvSpPr>
            <p:nvPr/>
          </p:nvSpPr>
          <p:spPr bwMode="auto">
            <a:xfrm>
              <a:off x="3763"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OV</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20553" name="Rectangle 91"/>
            <p:cNvSpPr>
              <a:spLocks noChangeArrowheads="1"/>
            </p:cNvSpPr>
            <p:nvPr/>
          </p:nvSpPr>
          <p:spPr bwMode="auto">
            <a:xfrm>
              <a:off x="4132" y="984"/>
              <a:ext cx="622"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54" name="Rectangle 92"/>
            <p:cNvSpPr>
              <a:spLocks noChangeArrowheads="1"/>
            </p:cNvSpPr>
            <p:nvPr/>
          </p:nvSpPr>
          <p:spPr bwMode="auto">
            <a:xfrm>
              <a:off x="4132" y="984"/>
              <a:ext cx="622"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55" name="Rectangle 93"/>
            <p:cNvSpPr>
              <a:spLocks noChangeArrowheads="1"/>
            </p:cNvSpPr>
            <p:nvPr/>
          </p:nvSpPr>
          <p:spPr bwMode="auto">
            <a:xfrm>
              <a:off x="4416" y="1117"/>
              <a:ext cx="113"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F1</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20556" name="Rectangle 94"/>
            <p:cNvSpPr>
              <a:spLocks noChangeArrowheads="1"/>
            </p:cNvSpPr>
            <p:nvPr/>
          </p:nvSpPr>
          <p:spPr bwMode="auto">
            <a:xfrm>
              <a:off x="4754" y="984"/>
              <a:ext cx="623"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57" name="Rectangle 95"/>
            <p:cNvSpPr>
              <a:spLocks noChangeArrowheads="1"/>
            </p:cNvSpPr>
            <p:nvPr/>
          </p:nvSpPr>
          <p:spPr bwMode="auto">
            <a:xfrm>
              <a:off x="4754" y="984"/>
              <a:ext cx="623"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58" name="Rectangle 96"/>
            <p:cNvSpPr>
              <a:spLocks noChangeArrowheads="1"/>
            </p:cNvSpPr>
            <p:nvPr/>
          </p:nvSpPr>
          <p:spPr bwMode="auto">
            <a:xfrm>
              <a:off x="5038" y="1117"/>
              <a:ext cx="57" cy="136"/>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400" b="1">
                  <a:solidFill>
                    <a:srgbClr val="000000"/>
                  </a:solidFill>
                  <a:effectLst>
                    <a:outerShdw blurRad="38100" dist="38100" dir="2700000" algn="tl">
                      <a:srgbClr val="000000">
                        <a:alpha val="43137"/>
                      </a:srgbClr>
                    </a:outerShdw>
                  </a:effectLst>
                  <a:latin typeface="宋体" panose="02010600030101010101" pitchFamily="2" charset="-122"/>
                </a:rPr>
                <a:t>P</a:t>
              </a:r>
              <a:endParaRPr kumimoji="1" lang="en-US" altLang="zh-CN" sz="2400" b="1">
                <a:effectLst>
                  <a:outerShdw blurRad="38100" dist="38100" dir="2700000" algn="tl">
                    <a:srgbClr val="000000">
                      <a:alpha val="43137"/>
                    </a:srgbClr>
                  </a:outerShdw>
                </a:effectLst>
                <a:latin typeface="Times New Roman" panose="02020603050405020304" pitchFamily="18" charset="0"/>
              </a:endParaRPr>
            </a:p>
          </p:txBody>
        </p:sp>
        <p:sp>
          <p:nvSpPr>
            <p:cNvPr id="20559" name="Rectangle 97"/>
            <p:cNvSpPr>
              <a:spLocks noChangeArrowheads="1"/>
            </p:cNvSpPr>
            <p:nvPr/>
          </p:nvSpPr>
          <p:spPr bwMode="auto">
            <a:xfrm>
              <a:off x="399"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60" name="Rectangle 98"/>
            <p:cNvSpPr>
              <a:spLocks noChangeArrowheads="1"/>
            </p:cNvSpPr>
            <p:nvPr/>
          </p:nvSpPr>
          <p:spPr bwMode="auto">
            <a:xfrm>
              <a:off x="399" y="984"/>
              <a:ext cx="623" cy="308"/>
            </a:xfrm>
            <a:prstGeom prst="rect">
              <a:avLst/>
            </a:prstGeom>
            <a:solidFill>
              <a:schemeClr val="bg1"/>
            </a:solid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61" name="Rectangle 99"/>
            <p:cNvSpPr>
              <a:spLocks noChangeArrowheads="1"/>
            </p:cNvSpPr>
            <p:nvPr/>
          </p:nvSpPr>
          <p:spPr bwMode="auto">
            <a:xfrm>
              <a:off x="637" y="1043"/>
              <a:ext cx="238" cy="173"/>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effectLst>
                    <a:outerShdw blurRad="38100" dist="38100" dir="2700000" algn="tl">
                      <a:srgbClr val="000000">
                        <a:alpha val="43137"/>
                      </a:srgbClr>
                    </a:outerShdw>
                  </a:effectLst>
                  <a:latin typeface="宋体" panose="02010600030101010101" pitchFamily="2" charset="-122"/>
                </a:rPr>
                <a:t>CY</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20562" name="Rectangle 100"/>
            <p:cNvSpPr>
              <a:spLocks noChangeArrowheads="1"/>
            </p:cNvSpPr>
            <p:nvPr/>
          </p:nvSpPr>
          <p:spPr bwMode="auto">
            <a:xfrm>
              <a:off x="1022"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63" name="Rectangle 101"/>
            <p:cNvSpPr>
              <a:spLocks noChangeArrowheads="1"/>
            </p:cNvSpPr>
            <p:nvPr/>
          </p:nvSpPr>
          <p:spPr bwMode="auto">
            <a:xfrm>
              <a:off x="1022"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64" name="Rectangle 102"/>
            <p:cNvSpPr>
              <a:spLocks noChangeArrowheads="1"/>
            </p:cNvSpPr>
            <p:nvPr/>
          </p:nvSpPr>
          <p:spPr bwMode="auto">
            <a:xfrm>
              <a:off x="1276" y="1043"/>
              <a:ext cx="219" cy="173"/>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AC</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20565" name="Rectangle 103"/>
            <p:cNvSpPr>
              <a:spLocks noChangeArrowheads="1"/>
            </p:cNvSpPr>
            <p:nvPr/>
          </p:nvSpPr>
          <p:spPr bwMode="auto">
            <a:xfrm>
              <a:off x="1644"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66" name="Rectangle 104"/>
            <p:cNvSpPr>
              <a:spLocks noChangeArrowheads="1"/>
            </p:cNvSpPr>
            <p:nvPr/>
          </p:nvSpPr>
          <p:spPr bwMode="auto">
            <a:xfrm>
              <a:off x="1644"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67" name="Rectangle 105"/>
            <p:cNvSpPr>
              <a:spLocks noChangeArrowheads="1"/>
            </p:cNvSpPr>
            <p:nvPr/>
          </p:nvSpPr>
          <p:spPr bwMode="auto">
            <a:xfrm>
              <a:off x="1882" y="1044"/>
              <a:ext cx="146" cy="173"/>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F0</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20568" name="Rectangle 106"/>
            <p:cNvSpPr>
              <a:spLocks noChangeArrowheads="1"/>
            </p:cNvSpPr>
            <p:nvPr/>
          </p:nvSpPr>
          <p:spPr bwMode="auto">
            <a:xfrm>
              <a:off x="2266" y="984"/>
              <a:ext cx="621"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69" name="Rectangle 107"/>
            <p:cNvSpPr>
              <a:spLocks noChangeArrowheads="1"/>
            </p:cNvSpPr>
            <p:nvPr/>
          </p:nvSpPr>
          <p:spPr bwMode="auto">
            <a:xfrm>
              <a:off x="2266" y="984"/>
              <a:ext cx="621"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70" name="Rectangle 108"/>
            <p:cNvSpPr>
              <a:spLocks noChangeArrowheads="1"/>
            </p:cNvSpPr>
            <p:nvPr/>
          </p:nvSpPr>
          <p:spPr bwMode="auto">
            <a:xfrm>
              <a:off x="2505" y="1044"/>
              <a:ext cx="219" cy="173"/>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RS1</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20571" name="Rectangle 109"/>
            <p:cNvSpPr>
              <a:spLocks noChangeArrowheads="1"/>
            </p:cNvSpPr>
            <p:nvPr/>
          </p:nvSpPr>
          <p:spPr bwMode="auto">
            <a:xfrm>
              <a:off x="2887" y="984"/>
              <a:ext cx="623"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72" name="Rectangle 110"/>
            <p:cNvSpPr>
              <a:spLocks noChangeArrowheads="1"/>
            </p:cNvSpPr>
            <p:nvPr/>
          </p:nvSpPr>
          <p:spPr bwMode="auto">
            <a:xfrm>
              <a:off x="2887" y="984"/>
              <a:ext cx="623"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73" name="Rectangle 111"/>
            <p:cNvSpPr>
              <a:spLocks noChangeArrowheads="1"/>
            </p:cNvSpPr>
            <p:nvPr/>
          </p:nvSpPr>
          <p:spPr bwMode="auto">
            <a:xfrm>
              <a:off x="3111" y="1051"/>
              <a:ext cx="219" cy="173"/>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RS0</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20574" name="Rectangle 112"/>
            <p:cNvSpPr>
              <a:spLocks noChangeArrowheads="1"/>
            </p:cNvSpPr>
            <p:nvPr/>
          </p:nvSpPr>
          <p:spPr bwMode="auto">
            <a:xfrm>
              <a:off x="3510" y="984"/>
              <a:ext cx="622" cy="308"/>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75" name="Rectangle 113"/>
            <p:cNvSpPr>
              <a:spLocks noChangeArrowheads="1"/>
            </p:cNvSpPr>
            <p:nvPr/>
          </p:nvSpPr>
          <p:spPr bwMode="auto">
            <a:xfrm>
              <a:off x="3510" y="984"/>
              <a:ext cx="622" cy="308"/>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76" name="Rectangle 114"/>
            <p:cNvSpPr>
              <a:spLocks noChangeArrowheads="1"/>
            </p:cNvSpPr>
            <p:nvPr/>
          </p:nvSpPr>
          <p:spPr bwMode="auto">
            <a:xfrm>
              <a:off x="3754" y="1035"/>
              <a:ext cx="146" cy="173"/>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OV</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20577" name="Rectangle 115"/>
            <p:cNvSpPr>
              <a:spLocks noChangeArrowheads="1"/>
            </p:cNvSpPr>
            <p:nvPr/>
          </p:nvSpPr>
          <p:spPr bwMode="auto">
            <a:xfrm>
              <a:off x="4132" y="984"/>
              <a:ext cx="622"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78" name="Rectangle 116"/>
            <p:cNvSpPr>
              <a:spLocks noChangeArrowheads="1"/>
            </p:cNvSpPr>
            <p:nvPr/>
          </p:nvSpPr>
          <p:spPr bwMode="auto">
            <a:xfrm>
              <a:off x="4132" y="984"/>
              <a:ext cx="622" cy="309"/>
            </a:xfrm>
            <a:prstGeom prst="rect">
              <a:avLst/>
            </a:prstGeom>
            <a:no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79" name="Rectangle 117"/>
            <p:cNvSpPr>
              <a:spLocks noChangeArrowheads="1"/>
            </p:cNvSpPr>
            <p:nvPr/>
          </p:nvSpPr>
          <p:spPr bwMode="auto">
            <a:xfrm>
              <a:off x="4400" y="1034"/>
              <a:ext cx="146" cy="173"/>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000000"/>
                  </a:solidFill>
                  <a:effectLst>
                    <a:outerShdw blurRad="38100" dist="38100" dir="2700000" algn="tl">
                      <a:srgbClr val="000000">
                        <a:alpha val="43137"/>
                      </a:srgbClr>
                    </a:outerShdw>
                  </a:effectLst>
                  <a:latin typeface="宋体" panose="02010600030101010101" pitchFamily="2" charset="-122"/>
                </a:rPr>
                <a:t>F1</a:t>
              </a:r>
              <a:endParaRPr kumimoji="1" lang="en-US" altLang="zh-CN" b="1">
                <a:effectLst>
                  <a:outerShdw blurRad="38100" dist="38100" dir="2700000" algn="tl">
                    <a:srgbClr val="000000">
                      <a:alpha val="43137"/>
                    </a:srgbClr>
                  </a:outerShdw>
                </a:effectLst>
                <a:latin typeface="Times New Roman" panose="02020603050405020304" pitchFamily="18" charset="0"/>
              </a:endParaRPr>
            </a:p>
          </p:txBody>
        </p:sp>
        <p:sp>
          <p:nvSpPr>
            <p:cNvPr id="20580" name="Rectangle 118"/>
            <p:cNvSpPr>
              <a:spLocks noChangeArrowheads="1"/>
            </p:cNvSpPr>
            <p:nvPr/>
          </p:nvSpPr>
          <p:spPr bwMode="auto">
            <a:xfrm>
              <a:off x="4754" y="984"/>
              <a:ext cx="623" cy="309"/>
            </a:xfrm>
            <a:prstGeom prst="rect">
              <a:avLst/>
            </a:prstGeom>
            <a:solidFill>
              <a:srgbClr val="FFFFFF"/>
            </a:solidFill>
            <a:ln>
              <a:noFill/>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81" name="Rectangle 119"/>
            <p:cNvSpPr>
              <a:spLocks noChangeArrowheads="1"/>
            </p:cNvSpPr>
            <p:nvPr/>
          </p:nvSpPr>
          <p:spPr bwMode="auto">
            <a:xfrm>
              <a:off x="4754" y="984"/>
              <a:ext cx="623" cy="309"/>
            </a:xfrm>
            <a:prstGeom prst="rect">
              <a:avLst/>
            </a:prstGeom>
            <a:solidFill>
              <a:srgbClr val="CCFFFF"/>
            </a:solidFill>
            <a:ln w="6350" cap="rnd">
              <a:solidFill>
                <a:srgbClr val="000000"/>
              </a:solidFill>
              <a:miter lim="800000"/>
            </a:ln>
          </p:spPr>
          <p:txBody>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endParaRPr kumimoji="1"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20582" name="Rectangle 120"/>
            <p:cNvSpPr>
              <a:spLocks noChangeArrowheads="1"/>
            </p:cNvSpPr>
            <p:nvPr/>
          </p:nvSpPr>
          <p:spPr bwMode="auto">
            <a:xfrm>
              <a:off x="5047" y="1034"/>
              <a:ext cx="74" cy="174"/>
            </a:xfrm>
            <a:prstGeom prst="rect">
              <a:avLst/>
            </a:prstGeom>
            <a:noFill/>
            <a:ln>
              <a:noFill/>
            </a:ln>
          </p:spPr>
          <p:txBody>
            <a:bodyPr wrap="none"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800" b="1">
                  <a:solidFill>
                    <a:srgbClr val="FF3300"/>
                  </a:solidFill>
                  <a:effectLst>
                    <a:outerShdw blurRad="38100" dist="38100" dir="2700000" algn="tl">
                      <a:srgbClr val="000000">
                        <a:alpha val="43137"/>
                      </a:srgbClr>
                    </a:outerShdw>
                  </a:effectLst>
                  <a:latin typeface="宋体" panose="02010600030101010101" pitchFamily="2" charset="-122"/>
                </a:rPr>
                <a:t>P</a:t>
              </a:r>
              <a:endParaRPr kumimoji="1" lang="en-US" altLang="zh-CN" b="1">
                <a:solidFill>
                  <a:srgbClr val="FF3300"/>
                </a:solidFill>
                <a:effectLst>
                  <a:outerShdw blurRad="38100" dist="38100" dir="2700000" algn="tl">
                    <a:srgbClr val="000000">
                      <a:alpha val="43137"/>
                    </a:srgbClr>
                  </a:outerShdw>
                </a:effectLst>
                <a:latin typeface="Times New Roman" panose="02020603050405020304" pitchFamily="18" charset="0"/>
              </a:endParaRPr>
            </a:p>
          </p:txBody>
        </p:sp>
        <p:sp>
          <p:nvSpPr>
            <p:cNvPr id="20583" name="Rectangle 121"/>
            <p:cNvSpPr>
              <a:spLocks noChangeArrowheads="1"/>
            </p:cNvSpPr>
            <p:nvPr/>
          </p:nvSpPr>
          <p:spPr bwMode="auto">
            <a:xfrm>
              <a:off x="569" y="773"/>
              <a:ext cx="380"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effectLst>
                    <a:outerShdw blurRad="38100" dist="38100" dir="2700000" algn="tl">
                      <a:srgbClr val="000000">
                        <a:alpha val="43137"/>
                      </a:srgbClr>
                    </a:outerShdw>
                  </a:effectLst>
                  <a:latin typeface="宋体" panose="02010600030101010101" pitchFamily="2" charset="-122"/>
                </a:rPr>
                <a:t>PSW.7</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20584" name="Rectangle 122"/>
            <p:cNvSpPr>
              <a:spLocks noChangeArrowheads="1"/>
            </p:cNvSpPr>
            <p:nvPr/>
          </p:nvSpPr>
          <p:spPr bwMode="auto">
            <a:xfrm>
              <a:off x="1197" y="763"/>
              <a:ext cx="374"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PSW.6</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20585" name="Rectangle 123"/>
            <p:cNvSpPr>
              <a:spLocks noChangeArrowheads="1"/>
            </p:cNvSpPr>
            <p:nvPr/>
          </p:nvSpPr>
          <p:spPr bwMode="auto">
            <a:xfrm>
              <a:off x="1810" y="764"/>
              <a:ext cx="368"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PSW.5</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20586" name="Rectangle 124"/>
            <p:cNvSpPr>
              <a:spLocks noChangeArrowheads="1"/>
            </p:cNvSpPr>
            <p:nvPr/>
          </p:nvSpPr>
          <p:spPr bwMode="auto">
            <a:xfrm>
              <a:off x="2448" y="772"/>
              <a:ext cx="364"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PSW.4</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20587" name="Rectangle 125"/>
            <p:cNvSpPr>
              <a:spLocks noChangeArrowheads="1"/>
            </p:cNvSpPr>
            <p:nvPr/>
          </p:nvSpPr>
          <p:spPr bwMode="auto">
            <a:xfrm>
              <a:off x="3054" y="763"/>
              <a:ext cx="363"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PSW.3</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20588" name="Rectangle 126"/>
            <p:cNvSpPr>
              <a:spLocks noChangeArrowheads="1"/>
            </p:cNvSpPr>
            <p:nvPr/>
          </p:nvSpPr>
          <p:spPr bwMode="auto">
            <a:xfrm>
              <a:off x="3675" y="756"/>
              <a:ext cx="379"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PSW.2</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20589" name="Rectangle 127"/>
            <p:cNvSpPr>
              <a:spLocks noChangeArrowheads="1"/>
            </p:cNvSpPr>
            <p:nvPr/>
          </p:nvSpPr>
          <p:spPr bwMode="auto">
            <a:xfrm>
              <a:off x="4298" y="747"/>
              <a:ext cx="374"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000000"/>
                  </a:solidFill>
                  <a:effectLst>
                    <a:outerShdw blurRad="38100" dist="38100" dir="2700000" algn="tl">
                      <a:srgbClr val="000000">
                        <a:alpha val="43137"/>
                      </a:srgbClr>
                    </a:outerShdw>
                  </a:effectLst>
                  <a:latin typeface="宋体" panose="02010600030101010101" pitchFamily="2" charset="-122"/>
                </a:rPr>
                <a:t>PSW.1</a:t>
              </a:r>
              <a:endParaRPr kumimoji="1" lang="en-US" altLang="zh-CN" sz="2800" b="1">
                <a:effectLst>
                  <a:outerShdw blurRad="38100" dist="38100" dir="2700000" algn="tl">
                    <a:srgbClr val="000000">
                      <a:alpha val="43137"/>
                    </a:srgbClr>
                  </a:outerShdw>
                </a:effectLst>
                <a:latin typeface="Times New Roman" panose="02020603050405020304" pitchFamily="18" charset="0"/>
              </a:endParaRPr>
            </a:p>
          </p:txBody>
        </p:sp>
        <p:sp>
          <p:nvSpPr>
            <p:cNvPr id="20590" name="Rectangle 128"/>
            <p:cNvSpPr>
              <a:spLocks noChangeArrowheads="1"/>
            </p:cNvSpPr>
            <p:nvPr/>
          </p:nvSpPr>
          <p:spPr bwMode="auto">
            <a:xfrm>
              <a:off x="4918" y="763"/>
              <a:ext cx="368" cy="154"/>
            </a:xfrm>
            <a:prstGeom prst="rect">
              <a:avLst/>
            </a:prstGeom>
            <a:noFill/>
            <a:ln>
              <a:noFill/>
            </a:ln>
          </p:spPr>
          <p:txBody>
            <a:bodyPr lIns="0" tIns="0" rIns="0" bIns="0">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defRPr/>
              </a:pPr>
              <a:r>
                <a:rPr kumimoji="1" lang="en-US" altLang="zh-CN" sz="1600" b="1">
                  <a:solidFill>
                    <a:srgbClr val="FF3300"/>
                  </a:solidFill>
                  <a:effectLst>
                    <a:outerShdw blurRad="38100" dist="38100" dir="2700000" algn="tl">
                      <a:srgbClr val="000000">
                        <a:alpha val="43137"/>
                      </a:srgbClr>
                    </a:outerShdw>
                  </a:effectLst>
                  <a:latin typeface="宋体" panose="02010600030101010101" pitchFamily="2" charset="-122"/>
                </a:rPr>
                <a:t>PSW.0</a:t>
              </a:r>
              <a:endParaRPr kumimoji="1" lang="en-US" altLang="zh-CN" sz="2800" b="1">
                <a:solidFill>
                  <a:srgbClr val="FF3300"/>
                </a:solidFill>
                <a:effectLst>
                  <a:outerShdw blurRad="38100" dist="38100" dir="2700000" algn="tl">
                    <a:srgbClr val="000000">
                      <a:alpha val="43137"/>
                    </a:srgbClr>
                  </a:outerShdw>
                </a:effectLst>
                <a:latin typeface="Times New Roman" panose="02020603050405020304" pitchFamily="18" charset="0"/>
              </a:endParaRPr>
            </a:p>
          </p:txBody>
        </p:sp>
      </p:grpSp>
      <p:sp>
        <p:nvSpPr>
          <p:cNvPr id="112" name="Rectangle 2"/>
          <p:cNvSpPr>
            <a:spLocks noChangeArrowheads="1"/>
          </p:cNvSpPr>
          <p:nvPr/>
        </p:nvSpPr>
        <p:spPr bwMode="auto">
          <a:xfrm>
            <a:off x="5364163" y="331788"/>
            <a:ext cx="3509962" cy="338137"/>
          </a:xfrm>
          <a:prstGeom prst="rect">
            <a:avLst/>
          </a:prstGeom>
          <a:noFill/>
          <a:ln>
            <a:noFill/>
          </a:ln>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defRPr/>
            </a:pPr>
            <a:r>
              <a:rPr kumimoji="1" lang="en-US" altLang="zh-CN"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2.1</a:t>
            </a: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单片机的基本结构</a:t>
            </a:r>
            <a:endParaRPr kumimoji="1" lang="zh-CN" altLang="en-US" sz="24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7762"/>
                                        </p:tgtEl>
                                        <p:attrNameLst>
                                          <p:attrName>style.visibility</p:attrName>
                                        </p:attrNameLst>
                                      </p:cBhvr>
                                      <p:to>
                                        <p:strVal val="visible"/>
                                      </p:to>
                                    </p:set>
                                    <p:animEffect transition="in" filter="blinds(horizontal)">
                                      <p:cBhvr>
                                        <p:cTn id="7" dur="500"/>
                                        <p:tgtEl>
                                          <p:spTgt spid="11776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7763"/>
                                        </p:tgtEl>
                                        <p:attrNameLst>
                                          <p:attrName>style.visibility</p:attrName>
                                        </p:attrNameLst>
                                      </p:cBhvr>
                                      <p:to>
                                        <p:strVal val="visible"/>
                                      </p:to>
                                    </p:set>
                                    <p:animEffect transition="in" filter="blinds(horizontal)">
                                      <p:cBhvr>
                                        <p:cTn id="12" dur="500"/>
                                        <p:tgtEl>
                                          <p:spTgt spid="11776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7765"/>
                                        </p:tgtEl>
                                        <p:attrNameLst>
                                          <p:attrName>style.visibility</p:attrName>
                                        </p:attrNameLst>
                                      </p:cBhvr>
                                      <p:to>
                                        <p:strVal val="visible"/>
                                      </p:to>
                                    </p:set>
                                    <p:animEffect transition="in" filter="blinds(horizontal)">
                                      <p:cBhvr>
                                        <p:cTn id="17" dur="500"/>
                                        <p:tgtEl>
                                          <p:spTgt spid="1177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2" grpId="0"/>
      <p:bldP spid="117763" grpId="0"/>
      <p:bldP spid="11776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684213" y="1196975"/>
            <a:ext cx="7999412" cy="433388"/>
          </a:xfrm>
          <a:prstGeom prst="rect">
            <a:avLst/>
          </a:prstGeom>
          <a:noFill/>
          <a:ln>
            <a:noFill/>
          </a:ln>
          <a:effectLst/>
        </p:spPr>
        <p:txBody>
          <a:bodyPr>
            <a:spAutoFit/>
          </a:bodyPr>
          <a:lstStyle/>
          <a:p>
            <a:pPr eaLnBrk="1" hangingPunct="1">
              <a:lnSpc>
                <a:spcPct val="80000"/>
              </a:lnSpc>
              <a:spcBef>
                <a:spcPct val="50000"/>
              </a:spcBef>
              <a:defRPr/>
            </a:pPr>
            <a:r>
              <a:rPr lang="en-US" altLang="zh-CN" sz="2800" b="1" dirty="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rPr>
              <a:t>1</a:t>
            </a:r>
            <a:r>
              <a:rPr lang="zh-CN" altLang="en-US" sz="2800" b="1" dirty="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rPr>
              <a:t>．程序计数器（</a:t>
            </a:r>
            <a:r>
              <a:rPr lang="en-US" altLang="zh-CN" sz="2800" b="1" dirty="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rPr>
              <a:t>PC</a:t>
            </a:r>
            <a:r>
              <a:rPr lang="zh-CN" altLang="en-US" sz="2800" b="1" dirty="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rPr>
              <a:t>）</a:t>
            </a:r>
            <a:r>
              <a:rPr lang="en-US" altLang="zh-CN" sz="2800" b="1" dirty="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rPr>
              <a:t>16</a:t>
            </a:r>
            <a:r>
              <a:rPr lang="zh-CN" altLang="en-US" sz="2800" b="1" dirty="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rPr>
              <a:t>位计数器</a:t>
            </a:r>
            <a:r>
              <a:rPr lang="zh-CN" altLang="en-US" sz="2800" b="1"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（重要）     </a:t>
            </a:r>
            <a:endParaRPr lang="zh-CN" altLang="en-US" sz="2800" b="1" dirty="0">
              <a:effectLst>
                <a:outerShdw blurRad="38100" dist="38100" dir="2700000" algn="tl">
                  <a:srgbClr val="C0C0C0"/>
                </a:outerShdw>
              </a:effectLst>
              <a:latin typeface="Times New Roman" panose="02020603050405020304" pitchFamily="18" charset="0"/>
              <a:ea typeface="黑体" panose="02010609060101010101" pitchFamily="49" charset="-122"/>
            </a:endParaRPr>
          </a:p>
        </p:txBody>
      </p:sp>
      <p:sp>
        <p:nvSpPr>
          <p:cNvPr id="13315" name="Rectangle 3"/>
          <p:cNvSpPr>
            <a:spLocks noChangeArrowheads="1"/>
          </p:cNvSpPr>
          <p:nvPr/>
        </p:nvSpPr>
        <p:spPr bwMode="auto">
          <a:xfrm>
            <a:off x="684213" y="476250"/>
            <a:ext cx="2244525" cy="486287"/>
          </a:xfrm>
          <a:prstGeom prst="rect">
            <a:avLst/>
          </a:prstGeom>
          <a:noFill/>
          <a:ln>
            <a:noFill/>
          </a:ln>
          <a:effectLst/>
        </p:spPr>
        <p:txBody>
          <a:bodyPr wrap="none">
            <a:spAutoFit/>
          </a:bodyPr>
          <a:lstStyle/>
          <a:p>
            <a:pPr eaLnBrk="1" hangingPunct="1">
              <a:lnSpc>
                <a:spcPct val="80000"/>
              </a:lnSpc>
              <a:spcBef>
                <a:spcPct val="50000"/>
              </a:spcBef>
              <a:defRPr/>
            </a:pPr>
            <a:r>
              <a:rPr lang="zh-CN" altLang="en-US" sz="3200" b="1" dirty="0">
                <a:solidFill>
                  <a:srgbClr val="C00000"/>
                </a:solidFill>
                <a:effectLst>
                  <a:outerShdw blurRad="38100" dist="38100" dir="2700000" algn="tl">
                    <a:srgbClr val="C0C0C0"/>
                  </a:outerShdw>
                </a:effectLst>
                <a:latin typeface="Times New Roman" panose="02020603050405020304" pitchFamily="18" charset="0"/>
                <a:ea typeface="黑体" panose="02010609060101010101" pitchFamily="49" charset="-122"/>
              </a:rPr>
              <a:t>二、控制器</a:t>
            </a:r>
          </a:p>
        </p:txBody>
      </p:sp>
      <p:sp>
        <p:nvSpPr>
          <p:cNvPr id="13316" name="Text Box 4"/>
          <p:cNvSpPr txBox="1">
            <a:spLocks noChangeArrowheads="1"/>
          </p:cNvSpPr>
          <p:nvPr/>
        </p:nvSpPr>
        <p:spPr bwMode="auto">
          <a:xfrm>
            <a:off x="578644" y="3501008"/>
            <a:ext cx="7986712" cy="1501775"/>
          </a:xfrm>
          <a:prstGeom prst="rect">
            <a:avLst/>
          </a:prstGeom>
          <a:noFill/>
          <a:ln>
            <a:noFill/>
          </a:ln>
          <a:effectLst/>
        </p:spPr>
        <p:txBody>
          <a:bodyPr>
            <a:spAutoFit/>
          </a:bodyPr>
          <a:lstStyle/>
          <a:p>
            <a:pPr eaLnBrk="1" hangingPunct="1">
              <a:lnSpc>
                <a:spcPct val="110000"/>
              </a:lnSpc>
              <a:spcBef>
                <a:spcPct val="40000"/>
              </a:spcBef>
              <a:defRPr/>
            </a:pP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PC </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有</a:t>
            </a:r>
            <a:r>
              <a:rPr lang="zh-CN" altLang="en-US"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自动加</a:t>
            </a:r>
            <a:r>
              <a:rPr lang="en-US" altLang="zh-CN"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1</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功能，从而实现程序的顺序执行。可以通过转移、调用、返回等指令</a:t>
            </a:r>
            <a:r>
              <a:rPr lang="zh-CN" altLang="en-US"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改变</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其内容，以实现程序的转移。</a:t>
            </a:r>
            <a:endParaRPr lang="zh-CN" altLang="en-US"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13317" name="Text Box 5"/>
          <p:cNvSpPr txBox="1">
            <a:spLocks noChangeArrowheads="1"/>
          </p:cNvSpPr>
          <p:nvPr/>
        </p:nvSpPr>
        <p:spPr bwMode="auto">
          <a:xfrm>
            <a:off x="578644" y="1715959"/>
            <a:ext cx="7999412" cy="1538883"/>
          </a:xfrm>
          <a:prstGeom prst="rect">
            <a:avLst/>
          </a:prstGeom>
          <a:noFill/>
          <a:ln>
            <a:noFill/>
          </a:ln>
          <a:effectLst/>
        </p:spPr>
        <p:txBody>
          <a:bodyPr wrap="square">
            <a:spAutoFit/>
          </a:bodyPr>
          <a:lstStyle/>
          <a:p>
            <a:pPr eaLnBrk="1" hangingPunct="1">
              <a:spcBef>
                <a:spcPts val="600"/>
              </a:spcBef>
              <a:defRPr/>
            </a:pP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PC</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，指向</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ROM</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存储单元的地址指针，引导程序运行。</a:t>
            </a:r>
            <a:endPar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eaLnBrk="1" hangingPunct="1">
              <a:spcBef>
                <a:spcPts val="600"/>
              </a:spcBef>
              <a:defRPr/>
            </a:pP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16</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位的程序计数器，可寻址范围</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2</a:t>
            </a:r>
            <a:r>
              <a:rPr lang="en-US" altLang="zh-CN" sz="2800" b="1" baseline="300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16</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64KB</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endPar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eaLnBrk="1" hangingPunct="1">
              <a:spcBef>
                <a:spcPts val="600"/>
              </a:spcBef>
              <a:defRPr/>
            </a:pPr>
            <a:r>
              <a:rPr lang="zh-CN" altLang="en-US" sz="2800" b="1" dirty="0">
                <a:solidFill>
                  <a:srgbClr val="FF33CC"/>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存储将要执行的下一条指令的首地址</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p>
        </p:txBody>
      </p:sp>
      <p:sp>
        <p:nvSpPr>
          <p:cNvPr id="7" name="Rectangle 2"/>
          <p:cNvSpPr>
            <a:spLocks noChangeArrowheads="1"/>
          </p:cNvSpPr>
          <p:nvPr/>
        </p:nvSpPr>
        <p:spPr bwMode="auto">
          <a:xfrm>
            <a:off x="5364163" y="331788"/>
            <a:ext cx="3509962" cy="338137"/>
          </a:xfrm>
          <a:prstGeom prst="rect">
            <a:avLst/>
          </a:prstGeom>
          <a:noFill/>
          <a:ln>
            <a:noFill/>
          </a:ln>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defRPr/>
            </a:pPr>
            <a:r>
              <a:rPr kumimoji="1" lang="en-US" altLang="zh-CN"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2.1</a:t>
            </a: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单片机的基本结构</a:t>
            </a:r>
            <a:endParaRPr kumimoji="1" lang="zh-CN" altLang="en-US" sz="24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
        <p:nvSpPr>
          <p:cNvPr id="8" name="Text Box 4">
            <a:extLst>
              <a:ext uri="{FF2B5EF4-FFF2-40B4-BE49-F238E27FC236}">
                <a16:creationId xmlns:a16="http://schemas.microsoft.com/office/drawing/2014/main" id="{17B9CBF0-0886-44C4-8BEC-ADE53243CA34}"/>
              </a:ext>
            </a:extLst>
          </p:cNvPr>
          <p:cNvSpPr txBox="1">
            <a:spLocks noChangeArrowheads="1"/>
          </p:cNvSpPr>
          <p:nvPr/>
        </p:nvSpPr>
        <p:spPr bwMode="auto">
          <a:xfrm>
            <a:off x="578644" y="5142011"/>
            <a:ext cx="7986712" cy="982385"/>
          </a:xfrm>
          <a:prstGeom prst="rect">
            <a:avLst/>
          </a:prstGeom>
          <a:noFill/>
          <a:ln>
            <a:noFill/>
          </a:ln>
          <a:effectLst/>
        </p:spPr>
        <p:txBody>
          <a:bodyPr>
            <a:spAutoFit/>
          </a:bodyPr>
          <a:lstStyle/>
          <a:p>
            <a:pPr eaLnBrk="1" hangingPunct="1">
              <a:lnSpc>
                <a:spcPct val="110000"/>
              </a:lnSpc>
              <a:spcBef>
                <a:spcPct val="40000"/>
              </a:spcBef>
              <a:defRPr/>
            </a:pP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复位时</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PC</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初值为</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0</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，即复位后程序从地址为</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0000</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处开始运行。</a:t>
            </a:r>
            <a:endParaRPr lang="zh-CN" altLang="en-US" sz="2800"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317"/>
                                        </p:tgtEl>
                                        <p:attrNameLst>
                                          <p:attrName>style.visibility</p:attrName>
                                        </p:attrNameLst>
                                      </p:cBhvr>
                                      <p:to>
                                        <p:strVal val="visible"/>
                                      </p:to>
                                    </p:set>
                                    <p:animEffect transition="in" filter="box(in)">
                                      <p:cBhvr>
                                        <p:cTn id="7" dur="500"/>
                                        <p:tgtEl>
                                          <p:spTgt spid="133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316"/>
                                        </p:tgtEl>
                                        <p:attrNameLst>
                                          <p:attrName>style.visibility</p:attrName>
                                        </p:attrNameLst>
                                      </p:cBhvr>
                                      <p:to>
                                        <p:strVal val="visible"/>
                                      </p:to>
                                    </p:set>
                                    <p:animEffect transition="in" filter="dissolve">
                                      <p:cBhvr>
                                        <p:cTn id="12" dur="500"/>
                                        <p:tgtEl>
                                          <p:spTgt spid="1331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autoUpdateAnimBg="0"/>
      <p:bldP spid="13317" grpId="0" autoUpdateAnimBg="0"/>
      <p:bldP spid="8"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53">
            <a:extLst>
              <a:ext uri="{FF2B5EF4-FFF2-40B4-BE49-F238E27FC236}">
                <a16:creationId xmlns:a16="http://schemas.microsoft.com/office/drawing/2014/main" id="{4CD3BA0D-9D81-44B3-BCC7-0F9874F6FE50}"/>
              </a:ext>
            </a:extLst>
          </p:cNvPr>
          <p:cNvGrpSpPr/>
          <p:nvPr/>
        </p:nvGrpSpPr>
        <p:grpSpPr bwMode="auto">
          <a:xfrm>
            <a:off x="3563888" y="520700"/>
            <a:ext cx="2448272" cy="3478436"/>
            <a:chOff x="1525" y="1553"/>
            <a:chExt cx="1174" cy="1856"/>
          </a:xfrm>
        </p:grpSpPr>
        <p:sp>
          <p:nvSpPr>
            <p:cNvPr id="4" name="Rectangle 10">
              <a:extLst>
                <a:ext uri="{FF2B5EF4-FFF2-40B4-BE49-F238E27FC236}">
                  <a16:creationId xmlns:a16="http://schemas.microsoft.com/office/drawing/2014/main" id="{A53C2428-C40B-4335-8C14-885756AA8010}"/>
                </a:ext>
              </a:extLst>
            </p:cNvPr>
            <p:cNvSpPr>
              <a:spLocks noChangeArrowheads="1"/>
            </p:cNvSpPr>
            <p:nvPr/>
          </p:nvSpPr>
          <p:spPr bwMode="auto">
            <a:xfrm>
              <a:off x="2018" y="1589"/>
              <a:ext cx="567" cy="14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5" name="Rectangle 11">
              <a:extLst>
                <a:ext uri="{FF2B5EF4-FFF2-40B4-BE49-F238E27FC236}">
                  <a16:creationId xmlns:a16="http://schemas.microsoft.com/office/drawing/2014/main" id="{84310D65-AE16-4E7C-B3E8-30B41EAA1D77}"/>
                </a:ext>
              </a:extLst>
            </p:cNvPr>
            <p:cNvSpPr>
              <a:spLocks noChangeArrowheads="1"/>
            </p:cNvSpPr>
            <p:nvPr/>
          </p:nvSpPr>
          <p:spPr bwMode="auto">
            <a:xfrm>
              <a:off x="2018" y="1731"/>
              <a:ext cx="567" cy="14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6" name="Rectangle 12">
              <a:extLst>
                <a:ext uri="{FF2B5EF4-FFF2-40B4-BE49-F238E27FC236}">
                  <a16:creationId xmlns:a16="http://schemas.microsoft.com/office/drawing/2014/main" id="{8115345D-17EA-4E50-9186-47699AF9B0A9}"/>
                </a:ext>
              </a:extLst>
            </p:cNvPr>
            <p:cNvSpPr>
              <a:spLocks noChangeArrowheads="1"/>
            </p:cNvSpPr>
            <p:nvPr/>
          </p:nvSpPr>
          <p:spPr bwMode="auto">
            <a:xfrm>
              <a:off x="2018" y="1873"/>
              <a:ext cx="567" cy="14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7" name="Rectangle 13">
              <a:extLst>
                <a:ext uri="{FF2B5EF4-FFF2-40B4-BE49-F238E27FC236}">
                  <a16:creationId xmlns:a16="http://schemas.microsoft.com/office/drawing/2014/main" id="{2F728108-3B12-4340-9EE1-E8DC5DB876B0}"/>
                </a:ext>
              </a:extLst>
            </p:cNvPr>
            <p:cNvSpPr>
              <a:spLocks noChangeArrowheads="1"/>
            </p:cNvSpPr>
            <p:nvPr/>
          </p:nvSpPr>
          <p:spPr bwMode="auto">
            <a:xfrm>
              <a:off x="2018" y="2014"/>
              <a:ext cx="567" cy="14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8" name="Rectangle 14">
              <a:extLst>
                <a:ext uri="{FF2B5EF4-FFF2-40B4-BE49-F238E27FC236}">
                  <a16:creationId xmlns:a16="http://schemas.microsoft.com/office/drawing/2014/main" id="{46EC43AD-934F-4137-A810-BD59788F0460}"/>
                </a:ext>
              </a:extLst>
            </p:cNvPr>
            <p:cNvSpPr>
              <a:spLocks noChangeArrowheads="1"/>
            </p:cNvSpPr>
            <p:nvPr/>
          </p:nvSpPr>
          <p:spPr bwMode="auto">
            <a:xfrm>
              <a:off x="2018" y="2156"/>
              <a:ext cx="567" cy="14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9" name="Rectangle 15">
              <a:extLst>
                <a:ext uri="{FF2B5EF4-FFF2-40B4-BE49-F238E27FC236}">
                  <a16:creationId xmlns:a16="http://schemas.microsoft.com/office/drawing/2014/main" id="{C9AC1A7B-5DBC-4894-B64B-3B90370E92AD}"/>
                </a:ext>
              </a:extLst>
            </p:cNvPr>
            <p:cNvSpPr>
              <a:spLocks noChangeArrowheads="1"/>
            </p:cNvSpPr>
            <p:nvPr/>
          </p:nvSpPr>
          <p:spPr bwMode="auto">
            <a:xfrm>
              <a:off x="2018" y="2298"/>
              <a:ext cx="567" cy="14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0" name="Rectangle 16">
              <a:extLst>
                <a:ext uri="{FF2B5EF4-FFF2-40B4-BE49-F238E27FC236}">
                  <a16:creationId xmlns:a16="http://schemas.microsoft.com/office/drawing/2014/main" id="{D285D37D-6540-440A-880A-A37B3AF52B22}"/>
                </a:ext>
              </a:extLst>
            </p:cNvPr>
            <p:cNvSpPr>
              <a:spLocks noChangeArrowheads="1"/>
            </p:cNvSpPr>
            <p:nvPr/>
          </p:nvSpPr>
          <p:spPr bwMode="auto">
            <a:xfrm>
              <a:off x="2018" y="2440"/>
              <a:ext cx="567" cy="14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1" name="Rectangle 17">
              <a:extLst>
                <a:ext uri="{FF2B5EF4-FFF2-40B4-BE49-F238E27FC236}">
                  <a16:creationId xmlns:a16="http://schemas.microsoft.com/office/drawing/2014/main" id="{D2B514AB-498D-4198-90A7-21895060620E}"/>
                </a:ext>
              </a:extLst>
            </p:cNvPr>
            <p:cNvSpPr>
              <a:spLocks noChangeArrowheads="1"/>
            </p:cNvSpPr>
            <p:nvPr/>
          </p:nvSpPr>
          <p:spPr bwMode="auto">
            <a:xfrm>
              <a:off x="2018" y="2581"/>
              <a:ext cx="567" cy="14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2" name="Rectangle 18">
              <a:extLst>
                <a:ext uri="{FF2B5EF4-FFF2-40B4-BE49-F238E27FC236}">
                  <a16:creationId xmlns:a16="http://schemas.microsoft.com/office/drawing/2014/main" id="{D6F04C0B-EFC2-4B8F-AA5A-29F0EC37A40C}"/>
                </a:ext>
              </a:extLst>
            </p:cNvPr>
            <p:cNvSpPr>
              <a:spLocks noChangeArrowheads="1"/>
            </p:cNvSpPr>
            <p:nvPr/>
          </p:nvSpPr>
          <p:spPr bwMode="auto">
            <a:xfrm>
              <a:off x="2018" y="2724"/>
              <a:ext cx="567" cy="14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3" name="Rectangle 19">
              <a:extLst>
                <a:ext uri="{FF2B5EF4-FFF2-40B4-BE49-F238E27FC236}">
                  <a16:creationId xmlns:a16="http://schemas.microsoft.com/office/drawing/2014/main" id="{D844C198-1982-449C-BCCC-9B6A8D360624}"/>
                </a:ext>
              </a:extLst>
            </p:cNvPr>
            <p:cNvSpPr>
              <a:spLocks noChangeArrowheads="1"/>
            </p:cNvSpPr>
            <p:nvPr/>
          </p:nvSpPr>
          <p:spPr bwMode="auto">
            <a:xfrm>
              <a:off x="2018" y="2866"/>
              <a:ext cx="567" cy="14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 name="Rectangle 20">
              <a:extLst>
                <a:ext uri="{FF2B5EF4-FFF2-40B4-BE49-F238E27FC236}">
                  <a16:creationId xmlns:a16="http://schemas.microsoft.com/office/drawing/2014/main" id="{757DF866-733F-4B1F-9B83-7B1BB78AB6A8}"/>
                </a:ext>
              </a:extLst>
            </p:cNvPr>
            <p:cNvSpPr>
              <a:spLocks noChangeArrowheads="1"/>
            </p:cNvSpPr>
            <p:nvPr/>
          </p:nvSpPr>
          <p:spPr bwMode="auto">
            <a:xfrm>
              <a:off x="2018" y="3007"/>
              <a:ext cx="567" cy="14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5" name="Text Box 21">
              <a:extLst>
                <a:ext uri="{FF2B5EF4-FFF2-40B4-BE49-F238E27FC236}">
                  <a16:creationId xmlns:a16="http://schemas.microsoft.com/office/drawing/2014/main" id="{2DC7BD80-227F-40F0-8C0F-44132462FBD6}"/>
                </a:ext>
              </a:extLst>
            </p:cNvPr>
            <p:cNvSpPr txBox="1">
              <a:spLocks noChangeArrowheads="1"/>
            </p:cNvSpPr>
            <p:nvPr/>
          </p:nvSpPr>
          <p:spPr bwMode="auto">
            <a:xfrm>
              <a:off x="1706" y="2213"/>
              <a:ext cx="51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a:latin typeface="Arial" panose="020B0604020202020204" pitchFamily="34" charset="0"/>
                </a:rPr>
                <a:t>…</a:t>
              </a:r>
              <a:endParaRPr kumimoji="0" lang="en-US" altLang="zh-CN" sz="1800">
                <a:latin typeface="Verdana" panose="020B0604030504040204" pitchFamily="34" charset="0"/>
              </a:endParaRPr>
            </a:p>
          </p:txBody>
        </p:sp>
        <p:sp>
          <p:nvSpPr>
            <p:cNvPr id="16" name="Text Box 22">
              <a:extLst>
                <a:ext uri="{FF2B5EF4-FFF2-40B4-BE49-F238E27FC236}">
                  <a16:creationId xmlns:a16="http://schemas.microsoft.com/office/drawing/2014/main" id="{130682BB-D671-450B-BAC1-AFBCAF882802}"/>
                </a:ext>
              </a:extLst>
            </p:cNvPr>
            <p:cNvSpPr txBox="1">
              <a:spLocks noChangeArrowheads="1"/>
            </p:cNvSpPr>
            <p:nvPr/>
          </p:nvSpPr>
          <p:spPr bwMode="auto">
            <a:xfrm>
              <a:off x="2132" y="2213"/>
              <a:ext cx="56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a:latin typeface="Arial" panose="020B0604020202020204" pitchFamily="34" charset="0"/>
                </a:rPr>
                <a:t>…</a:t>
              </a:r>
              <a:endParaRPr kumimoji="0" lang="en-US" altLang="zh-CN" sz="1800">
                <a:latin typeface="Verdana" panose="020B0604030504040204" pitchFamily="34" charset="0"/>
              </a:endParaRPr>
            </a:p>
          </p:txBody>
        </p:sp>
        <p:sp>
          <p:nvSpPr>
            <p:cNvPr id="17" name="Text Box 23">
              <a:extLst>
                <a:ext uri="{FF2B5EF4-FFF2-40B4-BE49-F238E27FC236}">
                  <a16:creationId xmlns:a16="http://schemas.microsoft.com/office/drawing/2014/main" id="{E0624EBB-B12B-4A7B-8254-9139F74D3307}"/>
                </a:ext>
              </a:extLst>
            </p:cNvPr>
            <p:cNvSpPr txBox="1">
              <a:spLocks noChangeArrowheads="1"/>
            </p:cNvSpPr>
            <p:nvPr/>
          </p:nvSpPr>
          <p:spPr bwMode="auto">
            <a:xfrm>
              <a:off x="2018" y="3007"/>
              <a:ext cx="56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000">
                  <a:latin typeface="Verdana" panose="020B0604030504040204" pitchFamily="34" charset="0"/>
                </a:rPr>
                <a:t>Xxxx xxxx</a:t>
              </a:r>
            </a:p>
          </p:txBody>
        </p:sp>
        <p:sp>
          <p:nvSpPr>
            <p:cNvPr id="18" name="Text Box 24">
              <a:extLst>
                <a:ext uri="{FF2B5EF4-FFF2-40B4-BE49-F238E27FC236}">
                  <a16:creationId xmlns:a16="http://schemas.microsoft.com/office/drawing/2014/main" id="{BD323649-FE8B-41EF-804E-6B3B1ED6C586}"/>
                </a:ext>
              </a:extLst>
            </p:cNvPr>
            <p:cNvSpPr txBox="1">
              <a:spLocks noChangeArrowheads="1"/>
            </p:cNvSpPr>
            <p:nvPr/>
          </p:nvSpPr>
          <p:spPr bwMode="auto">
            <a:xfrm>
              <a:off x="2018" y="2865"/>
              <a:ext cx="56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000">
                  <a:latin typeface="Verdana" panose="020B0604030504040204" pitchFamily="34" charset="0"/>
                </a:rPr>
                <a:t>Xxxx xxxx</a:t>
              </a:r>
            </a:p>
          </p:txBody>
        </p:sp>
        <p:sp>
          <p:nvSpPr>
            <p:cNvPr id="19" name="Text Box 25">
              <a:extLst>
                <a:ext uri="{FF2B5EF4-FFF2-40B4-BE49-F238E27FC236}">
                  <a16:creationId xmlns:a16="http://schemas.microsoft.com/office/drawing/2014/main" id="{FCF5122B-3AB7-42EF-BA89-222BA8324C50}"/>
                </a:ext>
              </a:extLst>
            </p:cNvPr>
            <p:cNvSpPr txBox="1">
              <a:spLocks noChangeArrowheads="1"/>
            </p:cNvSpPr>
            <p:nvPr/>
          </p:nvSpPr>
          <p:spPr bwMode="auto">
            <a:xfrm>
              <a:off x="2018" y="2724"/>
              <a:ext cx="56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000">
                  <a:latin typeface="Verdana" panose="020B0604030504040204" pitchFamily="34" charset="0"/>
                </a:rPr>
                <a:t>Xxxx xxxx</a:t>
              </a:r>
            </a:p>
          </p:txBody>
        </p:sp>
        <p:sp>
          <p:nvSpPr>
            <p:cNvPr id="20" name="Text Box 26">
              <a:extLst>
                <a:ext uri="{FF2B5EF4-FFF2-40B4-BE49-F238E27FC236}">
                  <a16:creationId xmlns:a16="http://schemas.microsoft.com/office/drawing/2014/main" id="{CF74F5ED-665A-4176-85BF-AE38A357F4B0}"/>
                </a:ext>
              </a:extLst>
            </p:cNvPr>
            <p:cNvSpPr txBox="1">
              <a:spLocks noChangeArrowheads="1"/>
            </p:cNvSpPr>
            <p:nvPr/>
          </p:nvSpPr>
          <p:spPr bwMode="auto">
            <a:xfrm>
              <a:off x="2018" y="2582"/>
              <a:ext cx="56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000">
                  <a:latin typeface="Verdana" panose="020B0604030504040204" pitchFamily="34" charset="0"/>
                </a:rPr>
                <a:t>Xxxx xxxx</a:t>
              </a:r>
            </a:p>
          </p:txBody>
        </p:sp>
        <p:sp>
          <p:nvSpPr>
            <p:cNvPr id="21" name="Text Box 27">
              <a:extLst>
                <a:ext uri="{FF2B5EF4-FFF2-40B4-BE49-F238E27FC236}">
                  <a16:creationId xmlns:a16="http://schemas.microsoft.com/office/drawing/2014/main" id="{318E1691-BC99-46F1-9A2D-A29AE3E3FD1C}"/>
                </a:ext>
              </a:extLst>
            </p:cNvPr>
            <p:cNvSpPr txBox="1">
              <a:spLocks noChangeArrowheads="1"/>
            </p:cNvSpPr>
            <p:nvPr/>
          </p:nvSpPr>
          <p:spPr bwMode="auto">
            <a:xfrm>
              <a:off x="2018" y="2440"/>
              <a:ext cx="56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000">
                  <a:latin typeface="Verdana" panose="020B0604030504040204" pitchFamily="34" charset="0"/>
                </a:rPr>
                <a:t>Xxxx xxxx</a:t>
              </a:r>
            </a:p>
          </p:txBody>
        </p:sp>
        <p:sp>
          <p:nvSpPr>
            <p:cNvPr id="22" name="Text Box 47">
              <a:extLst>
                <a:ext uri="{FF2B5EF4-FFF2-40B4-BE49-F238E27FC236}">
                  <a16:creationId xmlns:a16="http://schemas.microsoft.com/office/drawing/2014/main" id="{4220ED76-0057-4BDE-8C5C-F72A5FEC02FB}"/>
                </a:ext>
              </a:extLst>
            </p:cNvPr>
            <p:cNvSpPr txBox="1">
              <a:spLocks noChangeArrowheads="1"/>
            </p:cNvSpPr>
            <p:nvPr/>
          </p:nvSpPr>
          <p:spPr bwMode="auto">
            <a:xfrm>
              <a:off x="2078" y="3197"/>
              <a:ext cx="46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600"/>
                <a:t>ROM</a:t>
              </a:r>
            </a:p>
          </p:txBody>
        </p:sp>
        <p:grpSp>
          <p:nvGrpSpPr>
            <p:cNvPr id="23" name="Group 49">
              <a:extLst>
                <a:ext uri="{FF2B5EF4-FFF2-40B4-BE49-F238E27FC236}">
                  <a16:creationId xmlns:a16="http://schemas.microsoft.com/office/drawing/2014/main" id="{5E09CF9C-1365-449E-B231-5359AADF25CC}"/>
                </a:ext>
              </a:extLst>
            </p:cNvPr>
            <p:cNvGrpSpPr/>
            <p:nvPr/>
          </p:nvGrpSpPr>
          <p:grpSpPr bwMode="auto">
            <a:xfrm>
              <a:off x="1525" y="1553"/>
              <a:ext cx="560" cy="1609"/>
              <a:chOff x="902" y="2104"/>
              <a:chExt cx="560" cy="1609"/>
            </a:xfrm>
          </p:grpSpPr>
          <p:sp>
            <p:nvSpPr>
              <p:cNvPr id="24" name="Text Box 50">
                <a:extLst>
                  <a:ext uri="{FF2B5EF4-FFF2-40B4-BE49-F238E27FC236}">
                    <a16:creationId xmlns:a16="http://schemas.microsoft.com/office/drawing/2014/main" id="{FD2D1E9D-6B61-478B-9937-F10F962C5D59}"/>
                  </a:ext>
                </a:extLst>
              </p:cNvPr>
              <p:cNvSpPr txBox="1">
                <a:spLocks noChangeArrowheads="1"/>
              </p:cNvSpPr>
              <p:nvPr/>
            </p:nvSpPr>
            <p:spPr bwMode="auto">
              <a:xfrm>
                <a:off x="902" y="3521"/>
                <a:ext cx="51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400">
                    <a:latin typeface="Verdana" panose="020B0604030504040204" pitchFamily="34" charset="0"/>
                  </a:rPr>
                  <a:t>0000H</a:t>
                </a:r>
              </a:p>
            </p:txBody>
          </p:sp>
          <p:sp>
            <p:nvSpPr>
              <p:cNvPr id="25" name="Text Box 51">
                <a:extLst>
                  <a:ext uri="{FF2B5EF4-FFF2-40B4-BE49-F238E27FC236}">
                    <a16:creationId xmlns:a16="http://schemas.microsoft.com/office/drawing/2014/main" id="{81A157E9-8CC6-4860-BF98-1274B678E919}"/>
                  </a:ext>
                </a:extLst>
              </p:cNvPr>
              <p:cNvSpPr txBox="1">
                <a:spLocks noChangeArrowheads="1"/>
              </p:cNvSpPr>
              <p:nvPr/>
            </p:nvSpPr>
            <p:spPr bwMode="auto">
              <a:xfrm>
                <a:off x="911" y="3380"/>
                <a:ext cx="51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400">
                    <a:latin typeface="Verdana" panose="020B0604030504040204" pitchFamily="34" charset="0"/>
                  </a:rPr>
                  <a:t>0001H</a:t>
                </a:r>
              </a:p>
            </p:txBody>
          </p:sp>
          <p:sp>
            <p:nvSpPr>
              <p:cNvPr id="26" name="Text Box 52">
                <a:extLst>
                  <a:ext uri="{FF2B5EF4-FFF2-40B4-BE49-F238E27FC236}">
                    <a16:creationId xmlns:a16="http://schemas.microsoft.com/office/drawing/2014/main" id="{E86AA7F1-6F11-4E95-A979-12A06FC6845B}"/>
                  </a:ext>
                </a:extLst>
              </p:cNvPr>
              <p:cNvSpPr txBox="1">
                <a:spLocks noChangeArrowheads="1"/>
              </p:cNvSpPr>
              <p:nvPr/>
            </p:nvSpPr>
            <p:spPr bwMode="auto">
              <a:xfrm>
                <a:off x="902" y="3238"/>
                <a:ext cx="51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400">
                    <a:latin typeface="Verdana" panose="020B0604030504040204" pitchFamily="34" charset="0"/>
                  </a:rPr>
                  <a:t>0002H</a:t>
                </a:r>
              </a:p>
            </p:txBody>
          </p:sp>
          <p:sp>
            <p:nvSpPr>
              <p:cNvPr id="27" name="Text Box 53">
                <a:extLst>
                  <a:ext uri="{FF2B5EF4-FFF2-40B4-BE49-F238E27FC236}">
                    <a16:creationId xmlns:a16="http://schemas.microsoft.com/office/drawing/2014/main" id="{1415C24B-FADF-4C05-A4E3-B388FF9C077C}"/>
                  </a:ext>
                </a:extLst>
              </p:cNvPr>
              <p:cNvSpPr txBox="1">
                <a:spLocks noChangeArrowheads="1"/>
              </p:cNvSpPr>
              <p:nvPr/>
            </p:nvSpPr>
            <p:spPr bwMode="auto">
              <a:xfrm>
                <a:off x="910" y="3096"/>
                <a:ext cx="51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400">
                    <a:latin typeface="Verdana" panose="020B0604030504040204" pitchFamily="34" charset="0"/>
                  </a:rPr>
                  <a:t>0003H</a:t>
                </a:r>
              </a:p>
            </p:txBody>
          </p:sp>
          <p:sp>
            <p:nvSpPr>
              <p:cNvPr id="28" name="Text Box 54">
                <a:extLst>
                  <a:ext uri="{FF2B5EF4-FFF2-40B4-BE49-F238E27FC236}">
                    <a16:creationId xmlns:a16="http://schemas.microsoft.com/office/drawing/2014/main" id="{878B5F1D-4EB8-48E0-9DD4-CB7105DBCEE7}"/>
                  </a:ext>
                </a:extLst>
              </p:cNvPr>
              <p:cNvSpPr txBox="1">
                <a:spLocks noChangeArrowheads="1"/>
              </p:cNvSpPr>
              <p:nvPr/>
            </p:nvSpPr>
            <p:spPr bwMode="auto">
              <a:xfrm>
                <a:off x="910" y="2954"/>
                <a:ext cx="51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400">
                    <a:latin typeface="Verdana" panose="020B0604030504040204" pitchFamily="34" charset="0"/>
                  </a:rPr>
                  <a:t>0004H</a:t>
                </a:r>
              </a:p>
            </p:txBody>
          </p:sp>
          <p:sp>
            <p:nvSpPr>
              <p:cNvPr id="29" name="Text Box 55">
                <a:extLst>
                  <a:ext uri="{FF2B5EF4-FFF2-40B4-BE49-F238E27FC236}">
                    <a16:creationId xmlns:a16="http://schemas.microsoft.com/office/drawing/2014/main" id="{79FBCFA9-B1EA-4AB4-BBF1-B43174603142}"/>
                  </a:ext>
                </a:extLst>
              </p:cNvPr>
              <p:cNvSpPr txBox="1">
                <a:spLocks noChangeArrowheads="1"/>
              </p:cNvSpPr>
              <p:nvPr/>
            </p:nvSpPr>
            <p:spPr bwMode="auto">
              <a:xfrm>
                <a:off x="951" y="2104"/>
                <a:ext cx="51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400">
                    <a:latin typeface="Verdana" panose="020B0604030504040204" pitchFamily="34" charset="0"/>
                  </a:rPr>
                  <a:t>FFFFH</a:t>
                </a:r>
              </a:p>
            </p:txBody>
          </p:sp>
        </p:grpSp>
      </p:grpSp>
      <p:grpSp>
        <p:nvGrpSpPr>
          <p:cNvPr id="30" name="Group 60">
            <a:extLst>
              <a:ext uri="{FF2B5EF4-FFF2-40B4-BE49-F238E27FC236}">
                <a16:creationId xmlns:a16="http://schemas.microsoft.com/office/drawing/2014/main" id="{EE30BA2F-4D7C-4B65-9E73-B53515299576}"/>
              </a:ext>
            </a:extLst>
          </p:cNvPr>
          <p:cNvGrpSpPr/>
          <p:nvPr/>
        </p:nvGrpSpPr>
        <p:grpSpPr bwMode="auto">
          <a:xfrm>
            <a:off x="2204938" y="3137389"/>
            <a:ext cx="1328737" cy="828675"/>
            <a:chOff x="495" y="2954"/>
            <a:chExt cx="837" cy="522"/>
          </a:xfrm>
        </p:grpSpPr>
        <p:sp>
          <p:nvSpPr>
            <p:cNvPr id="31" name="Text Box 6">
              <a:extLst>
                <a:ext uri="{FF2B5EF4-FFF2-40B4-BE49-F238E27FC236}">
                  <a16:creationId xmlns:a16="http://schemas.microsoft.com/office/drawing/2014/main" id="{292623D4-FD74-4439-98C3-67E8A686450C}"/>
                </a:ext>
              </a:extLst>
            </p:cNvPr>
            <p:cNvSpPr txBox="1">
              <a:spLocks noChangeArrowheads="1"/>
            </p:cNvSpPr>
            <p:nvPr/>
          </p:nvSpPr>
          <p:spPr bwMode="auto">
            <a:xfrm>
              <a:off x="495" y="2962"/>
              <a:ext cx="623" cy="23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endParaRPr kumimoji="0" lang="en-US" altLang="zh-CN" sz="1800">
                <a:latin typeface="Verdana" panose="020B0604030504040204" pitchFamily="34" charset="0"/>
              </a:endParaRPr>
            </a:p>
          </p:txBody>
        </p:sp>
        <p:sp>
          <p:nvSpPr>
            <p:cNvPr id="32" name="Text Box 7">
              <a:extLst>
                <a:ext uri="{FF2B5EF4-FFF2-40B4-BE49-F238E27FC236}">
                  <a16:creationId xmlns:a16="http://schemas.microsoft.com/office/drawing/2014/main" id="{EC66FF6F-26BF-451A-A02F-57E1EB2671D3}"/>
                </a:ext>
              </a:extLst>
            </p:cNvPr>
            <p:cNvSpPr txBox="1">
              <a:spLocks noChangeArrowheads="1"/>
            </p:cNvSpPr>
            <p:nvPr/>
          </p:nvSpPr>
          <p:spPr bwMode="auto">
            <a:xfrm>
              <a:off x="495" y="3245"/>
              <a:ext cx="62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dirty="0">
                  <a:solidFill>
                    <a:srgbClr val="FF3300"/>
                  </a:solidFill>
                  <a:latin typeface="Verdana" panose="020B0604030504040204" pitchFamily="34" charset="0"/>
                </a:rPr>
                <a:t>PC</a:t>
              </a:r>
              <a:r>
                <a:rPr kumimoji="0" lang="zh-CN" altLang="en-US" sz="1800" dirty="0">
                  <a:latin typeface="Verdana" panose="020B0604030504040204" pitchFamily="34" charset="0"/>
                </a:rPr>
                <a:t>指针</a:t>
              </a:r>
            </a:p>
          </p:txBody>
        </p:sp>
        <p:sp>
          <p:nvSpPr>
            <p:cNvPr id="33" name="AutoShape 8">
              <a:extLst>
                <a:ext uri="{FF2B5EF4-FFF2-40B4-BE49-F238E27FC236}">
                  <a16:creationId xmlns:a16="http://schemas.microsoft.com/office/drawing/2014/main" id="{50847554-B498-4469-A48D-2B1879FD49CB}"/>
                </a:ext>
              </a:extLst>
            </p:cNvPr>
            <p:cNvSpPr>
              <a:spLocks noChangeArrowheads="1"/>
            </p:cNvSpPr>
            <p:nvPr/>
          </p:nvSpPr>
          <p:spPr bwMode="auto">
            <a:xfrm>
              <a:off x="1134" y="3004"/>
              <a:ext cx="198" cy="142"/>
            </a:xfrm>
            <a:prstGeom prst="rightArrow">
              <a:avLst>
                <a:gd name="adj1" fmla="val 50000"/>
                <a:gd name="adj2" fmla="val 34859"/>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34" name="Text Box 6">
              <a:extLst>
                <a:ext uri="{FF2B5EF4-FFF2-40B4-BE49-F238E27FC236}">
                  <a16:creationId xmlns:a16="http://schemas.microsoft.com/office/drawing/2014/main" id="{8F10B5B6-8AF7-4604-A402-19F12C50EFC5}"/>
                </a:ext>
              </a:extLst>
            </p:cNvPr>
            <p:cNvSpPr txBox="1">
              <a:spLocks noChangeArrowheads="1"/>
            </p:cNvSpPr>
            <p:nvPr/>
          </p:nvSpPr>
          <p:spPr bwMode="auto">
            <a:xfrm>
              <a:off x="505" y="2954"/>
              <a:ext cx="67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sz="1800">
                  <a:latin typeface="Verdana" panose="020B0604030504040204" pitchFamily="34" charset="0"/>
                </a:rPr>
                <a:t>00  00</a:t>
              </a:r>
            </a:p>
          </p:txBody>
        </p:sp>
        <p:sp>
          <p:nvSpPr>
            <p:cNvPr id="35" name="Line 56">
              <a:extLst>
                <a:ext uri="{FF2B5EF4-FFF2-40B4-BE49-F238E27FC236}">
                  <a16:creationId xmlns:a16="http://schemas.microsoft.com/office/drawing/2014/main" id="{41653236-BD8A-4C6E-A481-4374CF6258A7}"/>
                </a:ext>
              </a:extLst>
            </p:cNvPr>
            <p:cNvSpPr>
              <a:spLocks noChangeShapeType="1"/>
            </p:cNvSpPr>
            <p:nvPr/>
          </p:nvSpPr>
          <p:spPr bwMode="auto">
            <a:xfrm>
              <a:off x="817" y="2975"/>
              <a:ext cx="0" cy="21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extLst>
      <p:ext uri="{BB962C8B-B14F-4D97-AF65-F5344CB8AC3E}">
        <p14:creationId xmlns:p14="http://schemas.microsoft.com/office/powerpoint/2010/main" val="11285878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a:extLst>
              <a:ext uri="{FF2B5EF4-FFF2-40B4-BE49-F238E27FC236}">
                <a16:creationId xmlns:a16="http://schemas.microsoft.com/office/drawing/2014/main" id="{A51E0CE0-A051-414C-B08E-3D8AE78355FC}"/>
              </a:ext>
            </a:extLst>
          </p:cNvPr>
          <p:cNvSpPr txBox="1">
            <a:spLocks noChangeArrowheads="1"/>
          </p:cNvSpPr>
          <p:nvPr/>
        </p:nvSpPr>
        <p:spPr bwMode="auto">
          <a:xfrm>
            <a:off x="569119" y="548680"/>
            <a:ext cx="8005762" cy="5780044"/>
          </a:xfrm>
          <a:prstGeom prst="rect">
            <a:avLst/>
          </a:prstGeom>
          <a:noFill/>
          <a:ln>
            <a:noFill/>
          </a:ln>
          <a:effectLst/>
        </p:spPr>
        <p:txBody>
          <a:bodyPr>
            <a:spAutoFit/>
          </a:bodyPr>
          <a:lstStyle/>
          <a:p>
            <a:pPr eaLnBrk="1" hangingPunct="1">
              <a:spcBef>
                <a:spcPct val="40000"/>
              </a:spcBef>
              <a:defRPr/>
            </a:pPr>
            <a:r>
              <a:rPr lang="en-US" altLang="zh-CN" sz="2800" b="1" dirty="0">
                <a:solidFill>
                  <a:srgbClr val="0000F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2</a:t>
            </a:r>
            <a:r>
              <a:rPr lang="zh-CN" altLang="en-US" sz="2800" b="1" dirty="0">
                <a:solidFill>
                  <a:srgbClr val="0000F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．指令译码器</a:t>
            </a:r>
            <a:r>
              <a:rPr lang="en-US" altLang="zh-CN" sz="2800" b="1" dirty="0">
                <a:solidFill>
                  <a:srgbClr val="0000F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ID</a:t>
            </a:r>
            <a:r>
              <a:rPr lang="en-US" altLang="zh-CN" sz="2800" b="1" dirty="0">
                <a:solidFill>
                  <a:schemeClr val="accent2"/>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 </a:t>
            </a:r>
          </a:p>
          <a:p>
            <a:pPr algn="just" eaLnBrk="1" hangingPunct="1">
              <a:spcBef>
                <a:spcPct val="40000"/>
              </a:spcBef>
              <a:defRPr/>
            </a:pP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指令由</a:t>
            </a:r>
            <a:r>
              <a:rPr lang="zh-CN" altLang="en-US" sz="2800" b="1" dirty="0">
                <a:effectLst>
                  <a:outerShdw blurRad="38100" dist="38100" dir="2700000" algn="tl">
                    <a:srgbClr val="000000">
                      <a:alpha val="43137"/>
                    </a:srgbClr>
                  </a:outerShdw>
                </a:effectLst>
                <a:highlight>
                  <a:srgbClr val="FFFF00"/>
                </a:highlight>
                <a:latin typeface="楷体" panose="02010609060101010101" pitchFamily="49" charset="-122"/>
                <a:ea typeface="楷体" panose="02010609060101010101" pitchFamily="49" charset="-122"/>
              </a:rPr>
              <a:t>操作码和地址码</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组成。操作码表示要执行的操作性质，即执行什么操作，或做什么；地址码是操作码执行时的操作对象的地址。</a:t>
            </a:r>
            <a:endPar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algn="just" eaLnBrk="1" hangingPunct="1">
              <a:spcBef>
                <a:spcPct val="40000"/>
              </a:spcBef>
              <a:defRPr/>
            </a:pP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指令译码器，</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Instruction Decoder</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ID</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），计算机执行一条指定的指令时，必须首先分析这条指令的操作码是什么，以决定操作的性质和方法，然后才能控制计算机其他各部件协同完成指令表达的功能。这个分析工作由指令译码器来完成。</a:t>
            </a:r>
            <a:endPar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algn="just" eaLnBrk="1" hangingPunct="1">
              <a:spcBef>
                <a:spcPct val="40000"/>
              </a:spcBef>
              <a:defRPr/>
            </a:pP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即：</a:t>
            </a:r>
            <a:r>
              <a:rPr lang="zh-CN" altLang="en-US"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对指令操作码进行译码</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，产生电平信号， </a:t>
            </a:r>
            <a:r>
              <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CPU </a:t>
            </a: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根据电平信号使定时控制电路定时产生执行该指令所需的各种控制信号。</a:t>
            </a:r>
          </a:p>
        </p:txBody>
      </p:sp>
    </p:spTree>
    <p:extLst>
      <p:ext uri="{BB962C8B-B14F-4D97-AF65-F5344CB8AC3E}">
        <p14:creationId xmlns:p14="http://schemas.microsoft.com/office/powerpoint/2010/main" val="670124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a:extLst>
              <a:ext uri="{FF2B5EF4-FFF2-40B4-BE49-F238E27FC236}">
                <a16:creationId xmlns:a16="http://schemas.microsoft.com/office/drawing/2014/main" id="{3DBFD569-776E-4D3B-ABB2-5C0527E6E9CE}"/>
              </a:ext>
            </a:extLst>
          </p:cNvPr>
          <p:cNvSpPr txBox="1">
            <a:spLocks noChangeArrowheads="1"/>
          </p:cNvSpPr>
          <p:nvPr/>
        </p:nvSpPr>
        <p:spPr bwMode="auto">
          <a:xfrm>
            <a:off x="569119" y="548680"/>
            <a:ext cx="8005762" cy="6001643"/>
          </a:xfrm>
          <a:prstGeom prst="rect">
            <a:avLst/>
          </a:prstGeom>
          <a:noFill/>
          <a:ln>
            <a:noFill/>
          </a:ln>
          <a:effectLst/>
        </p:spPr>
        <p:txBody>
          <a:bodyPr>
            <a:spAutoFit/>
          </a:bodyPr>
          <a:lstStyle/>
          <a:p>
            <a:pPr eaLnBrk="1" hangingPunct="1">
              <a:spcBef>
                <a:spcPct val="40000"/>
              </a:spcBef>
              <a:defRPr/>
            </a:pPr>
            <a:r>
              <a:rPr lang="en-US" altLang="zh-CN" sz="2800" b="1" dirty="0">
                <a:solidFill>
                  <a:srgbClr val="0000F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2</a:t>
            </a:r>
            <a:r>
              <a:rPr lang="zh-CN" altLang="en-US" sz="2800" b="1" dirty="0">
                <a:solidFill>
                  <a:srgbClr val="0000F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．指令译码器</a:t>
            </a:r>
            <a:r>
              <a:rPr lang="en-US" altLang="zh-CN" sz="2800" b="1" dirty="0">
                <a:solidFill>
                  <a:srgbClr val="0000FF"/>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ID</a:t>
            </a:r>
            <a:r>
              <a:rPr lang="en-US" altLang="zh-CN" sz="2800" b="1" dirty="0">
                <a:solidFill>
                  <a:schemeClr val="accent2"/>
                </a:solidFill>
                <a:effectLst>
                  <a:outerShdw blurRad="38100" dist="38100" dir="2700000" algn="tl">
                    <a:srgbClr val="000000">
                      <a:alpha val="43137"/>
                    </a:srgbClr>
                  </a:outerShdw>
                </a:effectLst>
                <a:latin typeface="Times New Roman" panose="02020603050405020304" pitchFamily="18" charset="0"/>
                <a:ea typeface="黑体" panose="02010609060101010101" pitchFamily="49" charset="-122"/>
              </a:rPr>
              <a:t> </a:t>
            </a:r>
          </a:p>
          <a:p>
            <a:pPr algn="just" eaLnBrk="1" hangingPunct="1">
              <a:spcBef>
                <a:spcPts val="600"/>
              </a:spcBef>
              <a:defRPr/>
            </a:pP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过程：</a:t>
            </a:r>
            <a:endPar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algn="just" eaLnBrk="1" hangingPunct="1">
              <a:spcBef>
                <a:spcPts val="600"/>
              </a:spcBef>
              <a:defRPr/>
            </a:pP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①计算机执行指令时，从内存中取出的一条指令经数据总线送往指令寄存器中。</a:t>
            </a:r>
            <a:endPar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algn="just" eaLnBrk="1" hangingPunct="1">
              <a:spcBef>
                <a:spcPts val="600"/>
              </a:spcBef>
              <a:defRPr/>
            </a:pP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②指令的操作码被送到指令译码器中译码，地址码则送到地址形成部件。地址形成部件根据指令特征将地址码形成有效地址，送往主存的地址寄存器。对于转移指令，要将形成的有效转移地址送往程序计数器中，实现程序的转移。</a:t>
            </a:r>
            <a:endParaRPr lang="en-US" altLang="zh-CN"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algn="just" eaLnBrk="1" hangingPunct="1">
              <a:spcBef>
                <a:spcPts val="600"/>
              </a:spcBef>
              <a:defRPr/>
            </a:pPr>
            <a:r>
              <a:rPr lang="zh-CN" altLang="en-US" sz="2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③控制器根据指令译码器对于指令操作码的译码，产生出实现指令功能所需要的全部动作的控制信号。这些控制信号按照一定的时间顺序发往各个部件，控制各部件的动作。</a:t>
            </a:r>
          </a:p>
        </p:txBody>
      </p:sp>
    </p:spTree>
    <p:extLst>
      <p:ext uri="{BB962C8B-B14F-4D97-AF65-F5344CB8AC3E}">
        <p14:creationId xmlns:p14="http://schemas.microsoft.com/office/powerpoint/2010/main" val="4142563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539750" y="1268413"/>
            <a:ext cx="7924800" cy="4838825"/>
          </a:xfrm>
          <a:prstGeom prst="rect">
            <a:avLst/>
          </a:prstGeom>
          <a:noFill/>
          <a:ln>
            <a:noFill/>
          </a:ln>
          <a:effectLst/>
        </p:spPr>
        <p:txBody>
          <a:bodyPr>
            <a:spAutoFit/>
          </a:bodyPr>
          <a:lstStyle/>
          <a:p>
            <a:pPr indent="269875" algn="just" eaLnBrk="1" hangingPunct="1">
              <a:lnSpc>
                <a:spcPct val="130000"/>
              </a:lnSpc>
              <a:spcBef>
                <a:spcPct val="20000"/>
              </a:spcBef>
              <a:defRPr/>
            </a:pPr>
            <a:r>
              <a:rPr lang="en-US" altLang="zh-CN" sz="2800" b="1" dirty="0">
                <a:solidFill>
                  <a:srgbClr val="0000FF"/>
                </a:solidFill>
                <a:effectLst>
                  <a:outerShdw blurRad="38100" dist="38100" dir="2700000" algn="tl">
                    <a:srgbClr val="C0C0C0"/>
                  </a:outerShdw>
                </a:effectLst>
                <a:latin typeface="宋体" panose="02010600030101010101" pitchFamily="2" charset="-122"/>
              </a:rPr>
              <a:t>3</a:t>
            </a:r>
            <a:r>
              <a:rPr lang="zh-CN" altLang="en-US" sz="2800" b="1" dirty="0">
                <a:solidFill>
                  <a:srgbClr val="0000FF"/>
                </a:solidFill>
                <a:effectLst>
                  <a:outerShdw blurRad="38100" dist="38100" dir="2700000" algn="tl">
                    <a:srgbClr val="C0C0C0"/>
                  </a:outerShdw>
                </a:effectLst>
                <a:latin typeface="宋体" panose="02010600030101010101" pitchFamily="2" charset="-122"/>
              </a:rPr>
              <a:t>．数据指针（</a:t>
            </a:r>
            <a:r>
              <a:rPr lang="en-US" altLang="zh-CN" sz="2800" b="1" dirty="0">
                <a:solidFill>
                  <a:srgbClr val="0000FF"/>
                </a:solidFill>
                <a:effectLst>
                  <a:outerShdw blurRad="38100" dist="38100" dir="2700000" algn="tl">
                    <a:srgbClr val="C0C0C0"/>
                  </a:outerShdw>
                </a:effectLst>
                <a:latin typeface="宋体" panose="02010600030101010101" pitchFamily="2" charset="-122"/>
              </a:rPr>
              <a:t>DPTR</a:t>
            </a:r>
            <a:r>
              <a:rPr lang="zh-CN" altLang="en-US" sz="2800" b="1" dirty="0">
                <a:solidFill>
                  <a:srgbClr val="0000FF"/>
                </a:solidFill>
                <a:effectLst>
                  <a:outerShdw blurRad="38100" dist="38100" dir="2700000" algn="tl">
                    <a:srgbClr val="C0C0C0"/>
                  </a:outerShdw>
                </a:effectLst>
                <a:latin typeface="宋体" panose="02010600030101010101" pitchFamily="2" charset="-122"/>
              </a:rPr>
              <a:t>）</a:t>
            </a:r>
          </a:p>
          <a:p>
            <a:pPr indent="269875" algn="just" eaLnBrk="1" hangingPunct="1">
              <a:lnSpc>
                <a:spcPct val="130000"/>
              </a:lnSpc>
              <a:spcBef>
                <a:spcPct val="20000"/>
              </a:spcBef>
              <a:defRPr/>
            </a:pPr>
            <a:r>
              <a:rPr lang="zh-CN" altLang="en-US" sz="2800" b="1" dirty="0">
                <a:effectLst>
                  <a:outerShdw blurRad="38100" dist="38100" dir="2700000" algn="tl">
                    <a:srgbClr val="C0C0C0"/>
                  </a:outerShdw>
                </a:effectLst>
                <a:latin typeface="Arial Black" panose="020B0A04020102020204" pitchFamily="34" charset="0"/>
                <a:ea typeface="黑体" panose="02010609060101010101" pitchFamily="49" charset="-122"/>
              </a:rPr>
              <a:t>   </a:t>
            </a:r>
            <a:r>
              <a:rPr lang="zh-CN" altLang="en-US" sz="2800" b="1" dirty="0">
                <a:effectLst>
                  <a:outerShdw blurRad="38100" dist="38100" dir="2700000" algn="tl">
                    <a:srgbClr val="C0C0C0"/>
                  </a:outerShdw>
                </a:effectLst>
                <a:latin typeface="+mn-ea"/>
                <a:ea typeface="+mn-ea"/>
              </a:rPr>
              <a:t>指向</a:t>
            </a:r>
            <a:r>
              <a:rPr lang="en-US" altLang="zh-CN" sz="2800" b="1" dirty="0">
                <a:effectLst>
                  <a:outerShdw blurRad="38100" dist="38100" dir="2700000" algn="tl">
                    <a:srgbClr val="C0C0C0"/>
                  </a:outerShdw>
                </a:effectLst>
                <a:latin typeface="+mn-ea"/>
                <a:ea typeface="+mn-ea"/>
              </a:rPr>
              <a:t>ROM</a:t>
            </a:r>
            <a:r>
              <a:rPr lang="zh-CN" altLang="en-US" sz="2800" b="1" dirty="0">
                <a:effectLst>
                  <a:outerShdw blurRad="38100" dist="38100" dir="2700000" algn="tl">
                    <a:srgbClr val="C0C0C0"/>
                  </a:outerShdw>
                </a:effectLst>
                <a:latin typeface="+mn-ea"/>
                <a:ea typeface="+mn-ea"/>
              </a:rPr>
              <a:t>或</a:t>
            </a:r>
            <a:r>
              <a:rPr lang="en-US" altLang="zh-CN" sz="2800" b="1" dirty="0">
                <a:effectLst>
                  <a:outerShdw blurRad="38100" dist="38100" dir="2700000" algn="tl">
                    <a:srgbClr val="C0C0C0"/>
                  </a:outerShdw>
                </a:effectLst>
                <a:latin typeface="+mn-ea"/>
                <a:ea typeface="+mn-ea"/>
              </a:rPr>
              <a:t>RAM</a:t>
            </a:r>
            <a:r>
              <a:rPr lang="zh-CN" altLang="en-US" sz="2800" b="1" dirty="0">
                <a:effectLst>
                  <a:outerShdw blurRad="38100" dist="38100" dir="2700000" algn="tl">
                    <a:srgbClr val="C0C0C0"/>
                  </a:outerShdw>
                </a:effectLst>
                <a:latin typeface="+mn-ea"/>
                <a:ea typeface="+mn-ea"/>
              </a:rPr>
              <a:t>存储单元的地址指针，引导数据传送。</a:t>
            </a:r>
            <a:r>
              <a:rPr lang="en-US" altLang="zh-CN" sz="2800" b="1" dirty="0">
                <a:effectLst>
                  <a:outerShdw blurRad="38100" dist="38100" dir="2700000" algn="tl">
                    <a:srgbClr val="C0C0C0"/>
                  </a:outerShdw>
                </a:effectLst>
                <a:latin typeface="宋体" panose="02010600030101010101" pitchFamily="2" charset="-122"/>
              </a:rPr>
              <a:t>16</a:t>
            </a:r>
            <a:r>
              <a:rPr lang="zh-CN" altLang="en-US" sz="2800" b="1" dirty="0">
                <a:effectLst>
                  <a:outerShdw blurRad="38100" dist="38100" dir="2700000" algn="tl">
                    <a:srgbClr val="C0C0C0"/>
                  </a:outerShdw>
                </a:effectLst>
                <a:latin typeface="宋体" panose="02010600030101010101" pitchFamily="2" charset="-122"/>
              </a:rPr>
              <a:t>位寄存器。</a:t>
            </a:r>
            <a:endParaRPr lang="en-US" altLang="zh-CN" sz="2800" b="1" dirty="0">
              <a:effectLst>
                <a:outerShdw blurRad="38100" dist="38100" dir="2700000" algn="tl">
                  <a:srgbClr val="C0C0C0"/>
                </a:outerShdw>
              </a:effectLst>
              <a:latin typeface="宋体" panose="02010600030101010101" pitchFamily="2" charset="-122"/>
            </a:endParaRPr>
          </a:p>
          <a:p>
            <a:pPr indent="269875" algn="just" eaLnBrk="1" hangingPunct="1">
              <a:lnSpc>
                <a:spcPct val="130000"/>
              </a:lnSpc>
              <a:spcBef>
                <a:spcPct val="20000"/>
              </a:spcBef>
              <a:defRPr/>
            </a:pPr>
            <a:r>
              <a:rPr lang="en-US" altLang="zh-CN" sz="2800" b="1" dirty="0">
                <a:effectLst>
                  <a:outerShdw blurRad="38100" dist="38100" dir="2700000" algn="tl">
                    <a:srgbClr val="C0C0C0"/>
                  </a:outerShdw>
                </a:effectLst>
                <a:latin typeface="宋体" panose="02010600030101010101" pitchFamily="2" charset="-122"/>
              </a:rPr>
              <a:t> </a:t>
            </a:r>
            <a:r>
              <a:rPr lang="zh-CN" altLang="en-US" sz="2800" b="1" dirty="0">
                <a:effectLst>
                  <a:outerShdw blurRad="38100" dist="38100" dir="2700000" algn="tl">
                    <a:srgbClr val="C0C0C0"/>
                  </a:outerShdw>
                </a:effectLst>
                <a:latin typeface="宋体" panose="02010600030101010101" pitchFamily="2" charset="-122"/>
              </a:rPr>
              <a:t> 功能：存放</a:t>
            </a:r>
            <a:r>
              <a:rPr lang="en-US" altLang="zh-CN" sz="2800" b="1" dirty="0">
                <a:effectLst>
                  <a:outerShdw blurRad="38100" dist="38100" dir="2700000" algn="tl">
                    <a:srgbClr val="C0C0C0"/>
                  </a:outerShdw>
                </a:effectLst>
                <a:latin typeface="宋体" panose="02010600030101010101" pitchFamily="2" charset="-122"/>
              </a:rPr>
              <a:t>16</a:t>
            </a:r>
            <a:r>
              <a:rPr lang="zh-CN" altLang="en-US" sz="2800" b="1" dirty="0">
                <a:effectLst>
                  <a:outerShdw blurRad="38100" dist="38100" dir="2700000" algn="tl">
                    <a:srgbClr val="C0C0C0"/>
                  </a:outerShdw>
                </a:effectLst>
                <a:latin typeface="宋体" panose="02010600030101010101" pitchFamily="2" charset="-122"/>
              </a:rPr>
              <a:t>位的地址，作为访问外部程序存储器和外部数据存储器时的地址。</a:t>
            </a:r>
          </a:p>
          <a:p>
            <a:pPr indent="269875" algn="just" eaLnBrk="1" hangingPunct="1">
              <a:lnSpc>
                <a:spcPct val="130000"/>
              </a:lnSpc>
              <a:spcBef>
                <a:spcPct val="20000"/>
              </a:spcBef>
              <a:defRPr/>
            </a:pPr>
            <a:r>
              <a:rPr lang="zh-CN" altLang="en-US" sz="2800" b="1" dirty="0">
                <a:effectLst>
                  <a:outerShdw blurRad="38100" dist="38100" dir="2700000" algn="tl">
                    <a:srgbClr val="C0C0C0"/>
                  </a:outerShdw>
                </a:effectLst>
                <a:latin typeface="宋体" panose="02010600030101010101" pitchFamily="2" charset="-122"/>
              </a:rPr>
              <a:t>  编程时，</a:t>
            </a:r>
            <a:r>
              <a:rPr lang="en-US" altLang="zh-CN" sz="2800" b="1" dirty="0">
                <a:effectLst>
                  <a:outerShdw blurRad="38100" dist="38100" dir="2700000" algn="tl">
                    <a:srgbClr val="C0C0C0"/>
                  </a:outerShdw>
                </a:effectLst>
                <a:latin typeface="宋体" panose="02010600030101010101" pitchFamily="2" charset="-122"/>
              </a:rPr>
              <a:t>DPTR</a:t>
            </a:r>
            <a:r>
              <a:rPr lang="zh-CN" altLang="en-US" sz="2800" b="1" dirty="0">
                <a:effectLst>
                  <a:outerShdw blurRad="38100" dist="38100" dir="2700000" algn="tl">
                    <a:srgbClr val="C0C0C0"/>
                  </a:outerShdw>
                </a:effectLst>
                <a:latin typeface="宋体" panose="02010600030101010101" pitchFamily="2" charset="-122"/>
              </a:rPr>
              <a:t>既可按</a:t>
            </a:r>
            <a:r>
              <a:rPr lang="en-US" altLang="zh-CN" sz="2800" b="1" dirty="0">
                <a:effectLst>
                  <a:outerShdw blurRad="38100" dist="38100" dir="2700000" algn="tl">
                    <a:srgbClr val="C0C0C0"/>
                  </a:outerShdw>
                </a:effectLst>
                <a:latin typeface="宋体" panose="02010600030101010101" pitchFamily="2" charset="-122"/>
              </a:rPr>
              <a:t>16</a:t>
            </a:r>
            <a:r>
              <a:rPr lang="zh-CN" altLang="en-US" sz="2800" b="1" dirty="0">
                <a:effectLst>
                  <a:outerShdw blurRad="38100" dist="38100" dir="2700000" algn="tl">
                    <a:srgbClr val="C0C0C0"/>
                  </a:outerShdw>
                </a:effectLst>
                <a:latin typeface="宋体" panose="02010600030101010101" pitchFamily="2" charset="-122"/>
              </a:rPr>
              <a:t>位寄存器使用，也可以按两个</a:t>
            </a:r>
            <a:r>
              <a:rPr lang="en-US" altLang="zh-CN" sz="2800" b="1" dirty="0">
                <a:effectLst>
                  <a:outerShdw blurRad="38100" dist="38100" dir="2700000" algn="tl">
                    <a:srgbClr val="C0C0C0"/>
                  </a:outerShdw>
                </a:effectLst>
                <a:latin typeface="宋体" panose="02010600030101010101" pitchFamily="2" charset="-122"/>
              </a:rPr>
              <a:t>8</a:t>
            </a:r>
            <a:r>
              <a:rPr lang="zh-CN" altLang="en-US" sz="2800" b="1" dirty="0">
                <a:effectLst>
                  <a:outerShdw blurRad="38100" dist="38100" dir="2700000" algn="tl">
                    <a:srgbClr val="C0C0C0"/>
                  </a:outerShdw>
                </a:effectLst>
                <a:latin typeface="宋体" panose="02010600030101010101" pitchFamily="2" charset="-122"/>
              </a:rPr>
              <a:t>位寄存器分开使用。即：</a:t>
            </a:r>
          </a:p>
          <a:p>
            <a:pPr indent="269875" algn="just">
              <a:lnSpc>
                <a:spcPct val="130000"/>
              </a:lnSpc>
              <a:spcBef>
                <a:spcPct val="20000"/>
              </a:spcBef>
              <a:defRPr/>
            </a:pPr>
            <a:r>
              <a:rPr lang="en-US" altLang="zh-CN" sz="2800" b="1" dirty="0">
                <a:effectLst>
                  <a:outerShdw blurRad="38100" dist="38100" dir="2700000" algn="tl">
                    <a:srgbClr val="C0C0C0"/>
                  </a:outerShdw>
                </a:effectLst>
                <a:latin typeface="宋体" panose="02010600030101010101" pitchFamily="2" charset="-122"/>
              </a:rPr>
              <a:t>DPH	   DPTR</a:t>
            </a:r>
            <a:r>
              <a:rPr lang="zh-CN" altLang="en-US" sz="2800" b="1" dirty="0">
                <a:effectLst>
                  <a:outerShdw blurRad="38100" dist="38100" dir="2700000" algn="tl">
                    <a:srgbClr val="C0C0C0"/>
                  </a:outerShdw>
                </a:effectLst>
                <a:latin typeface="宋体" panose="02010600030101010101" pitchFamily="2" charset="-122"/>
              </a:rPr>
              <a:t>的高</a:t>
            </a:r>
            <a:r>
              <a:rPr lang="en-US" altLang="zh-CN" sz="2800" b="1" dirty="0">
                <a:effectLst>
                  <a:outerShdw blurRad="38100" dist="38100" dir="2700000" algn="tl">
                    <a:srgbClr val="C0C0C0"/>
                  </a:outerShdw>
                </a:effectLst>
                <a:latin typeface="宋体" panose="02010600030101010101" pitchFamily="2" charset="-122"/>
              </a:rPr>
              <a:t>8</a:t>
            </a:r>
            <a:r>
              <a:rPr lang="zh-CN" altLang="en-US" sz="2800" b="1" dirty="0">
                <a:effectLst>
                  <a:outerShdw blurRad="38100" dist="38100" dir="2700000" algn="tl">
                    <a:srgbClr val="C0C0C0"/>
                  </a:outerShdw>
                </a:effectLst>
                <a:latin typeface="宋体" panose="02010600030101010101" pitchFamily="2" charset="-122"/>
              </a:rPr>
              <a:t>位；</a:t>
            </a:r>
            <a:r>
              <a:rPr lang="en-US" altLang="zh-CN" sz="2800" b="1" dirty="0">
                <a:effectLst>
                  <a:outerShdw blurRad="38100" dist="38100" dir="2700000" algn="tl">
                    <a:srgbClr val="C0C0C0"/>
                  </a:outerShdw>
                </a:effectLst>
                <a:latin typeface="宋体" panose="02010600030101010101" pitchFamily="2" charset="-122"/>
              </a:rPr>
              <a:t>DPL	  DPTR</a:t>
            </a:r>
            <a:r>
              <a:rPr lang="zh-CN" altLang="en-US" sz="2800" b="1" dirty="0">
                <a:effectLst>
                  <a:outerShdw blurRad="38100" dist="38100" dir="2700000" algn="tl">
                    <a:srgbClr val="C0C0C0"/>
                  </a:outerShdw>
                </a:effectLst>
                <a:latin typeface="宋体" panose="02010600030101010101" pitchFamily="2" charset="-122"/>
              </a:rPr>
              <a:t>的低</a:t>
            </a:r>
            <a:r>
              <a:rPr lang="en-US" altLang="zh-CN" sz="2800" b="1" dirty="0">
                <a:effectLst>
                  <a:outerShdw blurRad="38100" dist="38100" dir="2700000" algn="tl">
                    <a:srgbClr val="C0C0C0"/>
                  </a:outerShdw>
                </a:effectLst>
                <a:latin typeface="宋体" panose="02010600030101010101" pitchFamily="2" charset="-122"/>
              </a:rPr>
              <a:t>8</a:t>
            </a:r>
            <a:r>
              <a:rPr lang="zh-CN" altLang="en-US" sz="2800" b="1" dirty="0">
                <a:effectLst>
                  <a:outerShdw blurRad="38100" dist="38100" dir="2700000" algn="tl">
                    <a:srgbClr val="C0C0C0"/>
                  </a:outerShdw>
                </a:effectLst>
                <a:latin typeface="宋体" panose="02010600030101010101" pitchFamily="2" charset="-122"/>
              </a:rPr>
              <a:t>位</a:t>
            </a:r>
          </a:p>
        </p:txBody>
      </p:sp>
      <p:sp>
        <p:nvSpPr>
          <p:cNvPr id="4" name="Rectangle 2"/>
          <p:cNvSpPr>
            <a:spLocks noChangeArrowheads="1"/>
          </p:cNvSpPr>
          <p:nvPr/>
        </p:nvSpPr>
        <p:spPr bwMode="auto">
          <a:xfrm>
            <a:off x="5364163" y="331788"/>
            <a:ext cx="3509962" cy="338137"/>
          </a:xfrm>
          <a:prstGeom prst="rect">
            <a:avLst/>
          </a:prstGeom>
          <a:noFill/>
          <a:ln>
            <a:noFill/>
          </a:ln>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defRPr/>
            </a:pPr>
            <a:r>
              <a:rPr kumimoji="1" lang="en-US" altLang="zh-CN"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2.1</a:t>
            </a: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单片机的基本结构</a:t>
            </a:r>
            <a:endParaRPr kumimoji="1" lang="zh-CN" altLang="en-US" sz="24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box(in)">
                                      <p:cBhvr>
                                        <p:cTn id="7" dur="500"/>
                                        <p:tgtEl>
                                          <p:spTgt spid="14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512763" y="1268413"/>
            <a:ext cx="8118475" cy="4736297"/>
          </a:xfrm>
          <a:prstGeom prst="rect">
            <a:avLst/>
          </a:prstGeom>
          <a:noFill/>
          <a:ln>
            <a:noFill/>
          </a:ln>
          <a:effectLst/>
        </p:spPr>
        <p:txBody>
          <a:bodyPr>
            <a:spAutoFit/>
          </a:bodyPr>
          <a:lstStyle/>
          <a:p>
            <a:pPr algn="just">
              <a:lnSpc>
                <a:spcPct val="130000"/>
              </a:lnSpc>
              <a:defRPr/>
            </a:pPr>
            <a:r>
              <a:rPr lang="en-US" altLang="zh-CN" sz="2800" b="1" dirty="0">
                <a:solidFill>
                  <a:srgbClr val="0000FF"/>
                </a:solidFill>
                <a:effectLst>
                  <a:outerShdw blurRad="38100" dist="38100" dir="2700000" algn="tl">
                    <a:srgbClr val="C0C0C0"/>
                  </a:outerShdw>
                </a:effectLst>
                <a:latin typeface="宋体" panose="02010600030101010101" pitchFamily="2" charset="-122"/>
              </a:rPr>
              <a:t>  4. </a:t>
            </a:r>
            <a:r>
              <a:rPr lang="zh-CN" altLang="en-US" sz="2800" b="1" dirty="0">
                <a:solidFill>
                  <a:srgbClr val="0000FF"/>
                </a:solidFill>
                <a:effectLst>
                  <a:outerShdw blurRad="38100" dist="38100" dir="2700000" algn="tl">
                    <a:srgbClr val="C0C0C0"/>
                  </a:outerShdw>
                </a:effectLst>
                <a:latin typeface="宋体" panose="02010600030101010101" pitchFamily="2" charset="-122"/>
              </a:rPr>
              <a:t>堆栈指针</a:t>
            </a:r>
            <a:r>
              <a:rPr lang="en-US" altLang="zh-CN" sz="2800" b="1" dirty="0">
                <a:solidFill>
                  <a:srgbClr val="0000FF"/>
                </a:solidFill>
                <a:effectLst>
                  <a:outerShdw blurRad="38100" dist="38100" dir="2700000" algn="tl">
                    <a:srgbClr val="C0C0C0"/>
                  </a:outerShdw>
                </a:effectLst>
                <a:latin typeface="宋体" panose="02010600030101010101" pitchFamily="2" charset="-122"/>
              </a:rPr>
              <a:t>(SP</a:t>
            </a:r>
            <a:r>
              <a:rPr lang="zh-CN" altLang="en-US" sz="2800" b="1" dirty="0">
                <a:solidFill>
                  <a:srgbClr val="0000FF"/>
                </a:solidFill>
                <a:effectLst>
                  <a:outerShdw blurRad="38100" dist="38100" dir="2700000" algn="tl">
                    <a:srgbClr val="C0C0C0"/>
                  </a:outerShdw>
                </a:effectLst>
                <a:latin typeface="宋体" panose="02010600030101010101" pitchFamily="2" charset="-122"/>
              </a:rPr>
              <a:t>，</a:t>
            </a:r>
            <a:r>
              <a:rPr lang="en-US" altLang="zh-CN" sz="2800" b="1" dirty="0">
                <a:solidFill>
                  <a:srgbClr val="0000FF"/>
                </a:solidFill>
                <a:effectLst>
                  <a:outerShdw blurRad="38100" dist="38100" dir="2700000" algn="tl">
                    <a:srgbClr val="C0C0C0"/>
                  </a:outerShdw>
                </a:effectLst>
                <a:latin typeface="宋体" panose="02010600030101010101" pitchFamily="2" charset="-122"/>
              </a:rPr>
              <a:t>8</a:t>
            </a:r>
            <a:r>
              <a:rPr lang="zh-CN" altLang="en-US" sz="2800" b="1" dirty="0">
                <a:solidFill>
                  <a:srgbClr val="0000FF"/>
                </a:solidFill>
                <a:effectLst>
                  <a:outerShdw blurRad="38100" dist="38100" dir="2700000" algn="tl">
                    <a:srgbClr val="C0C0C0"/>
                  </a:outerShdw>
                </a:effectLst>
                <a:latin typeface="宋体" panose="02010600030101010101" pitchFamily="2" charset="-122"/>
              </a:rPr>
              <a:t>位</a:t>
            </a:r>
            <a:r>
              <a:rPr lang="en-US" altLang="zh-CN" sz="2800" b="1" dirty="0">
                <a:solidFill>
                  <a:srgbClr val="0000FF"/>
                </a:solidFill>
                <a:effectLst>
                  <a:outerShdw blurRad="38100" dist="38100" dir="2700000" algn="tl">
                    <a:srgbClr val="C0C0C0"/>
                  </a:outerShdw>
                </a:effectLst>
                <a:latin typeface="宋体" panose="02010600030101010101" pitchFamily="2" charset="-122"/>
              </a:rPr>
              <a:t>)</a:t>
            </a:r>
          </a:p>
          <a:p>
            <a:pPr eaLnBrk="1" hangingPunct="1">
              <a:lnSpc>
                <a:spcPct val="130000"/>
              </a:lnSpc>
              <a:spcBef>
                <a:spcPct val="20000"/>
              </a:spcBef>
              <a:buFontTx/>
              <a:buChar char="•"/>
              <a:defRPr/>
            </a:pPr>
            <a:r>
              <a:rPr lang="en-US" altLang="zh-CN" sz="2800" b="1" dirty="0">
                <a:solidFill>
                  <a:srgbClr val="FF0000"/>
                </a:solidFill>
                <a:effectLst>
                  <a:outerShdw blurRad="38100" dist="38100" dir="2700000" algn="tl">
                    <a:srgbClr val="C0C0C0"/>
                  </a:outerShdw>
                </a:effectLst>
                <a:latin typeface="Arial Black" panose="020B0A04020102020204" pitchFamily="34" charset="0"/>
                <a:ea typeface="黑体" panose="02010609060101010101" pitchFamily="49" charset="-122"/>
              </a:rPr>
              <a:t>  </a:t>
            </a:r>
            <a:r>
              <a:rPr lang="en-US" altLang="zh-CN" sz="2600" b="1" dirty="0">
                <a:solidFill>
                  <a:schemeClr val="tx2"/>
                </a:solidFill>
                <a:effectLst>
                  <a:outerShdw blurRad="38100" dist="38100" dir="2700000" algn="tl">
                    <a:srgbClr val="C0C0C0"/>
                  </a:outerShdw>
                </a:effectLst>
                <a:latin typeface="宋体" panose="02010600030101010101" pitchFamily="2" charset="-122"/>
              </a:rPr>
              <a:t>SP</a:t>
            </a:r>
            <a:r>
              <a:rPr lang="zh-CN" altLang="en-US" sz="2600" b="1" dirty="0">
                <a:solidFill>
                  <a:schemeClr val="tx2"/>
                </a:solidFill>
                <a:effectLst>
                  <a:outerShdw blurRad="38100" dist="38100" dir="2700000" algn="tl">
                    <a:srgbClr val="C0C0C0"/>
                  </a:outerShdw>
                </a:effectLst>
                <a:latin typeface="宋体" panose="02010600030101010101" pitchFamily="2" charset="-122"/>
              </a:rPr>
              <a:t>的内容就是堆栈栈顶的存储单元地址。</a:t>
            </a:r>
            <a:r>
              <a:rPr lang="zh-CN" altLang="en-US" sz="2600" b="1" dirty="0">
                <a:effectLst>
                  <a:outerShdw blurRad="38100" dist="38100" dir="2700000" algn="tl">
                    <a:srgbClr val="000000">
                      <a:alpha val="43137"/>
                    </a:srgbClr>
                  </a:outerShdw>
                </a:effectLst>
                <a:latin typeface="宋体" panose="02010600030101010101" pitchFamily="2" charset="-122"/>
              </a:rPr>
              <a:t>堆栈操作遵循“</a:t>
            </a:r>
            <a:r>
              <a:rPr lang="zh-CN" altLang="en-US" sz="2600" b="1" dirty="0">
                <a:solidFill>
                  <a:srgbClr val="0000FF"/>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先进后出</a:t>
            </a:r>
            <a:r>
              <a:rPr lang="zh-CN" altLang="en-US" sz="2600" b="1" dirty="0">
                <a:effectLst>
                  <a:outerShdw blurRad="38100" dist="38100" dir="2700000" algn="tl">
                    <a:srgbClr val="000000">
                      <a:alpha val="43137"/>
                    </a:srgbClr>
                  </a:outerShdw>
                </a:effectLst>
                <a:latin typeface="宋体" panose="02010600030101010101" pitchFamily="2" charset="-122"/>
              </a:rPr>
              <a:t>”的原则。</a:t>
            </a:r>
            <a:endParaRPr lang="en-US" altLang="zh-CN" sz="2600" b="1" dirty="0">
              <a:effectLst>
                <a:outerShdw blurRad="38100" dist="38100" dir="2700000" algn="tl">
                  <a:srgbClr val="000000">
                    <a:alpha val="43137"/>
                  </a:srgbClr>
                </a:outerShdw>
              </a:effectLst>
              <a:latin typeface="宋体" panose="02010600030101010101" pitchFamily="2" charset="-122"/>
            </a:endParaRPr>
          </a:p>
          <a:p>
            <a:pPr eaLnBrk="1" hangingPunct="1">
              <a:lnSpc>
                <a:spcPct val="130000"/>
              </a:lnSpc>
              <a:spcBef>
                <a:spcPct val="20000"/>
              </a:spcBef>
              <a:buFontTx/>
              <a:buChar char="•"/>
              <a:defRPr/>
            </a:pPr>
            <a:r>
              <a:rPr lang="zh-CN" altLang="en-US" sz="2600" b="1" dirty="0">
                <a:effectLst>
                  <a:outerShdw blurRad="38100" dist="38100" dir="2700000" algn="tl">
                    <a:srgbClr val="000000">
                      <a:alpha val="43137"/>
                    </a:srgbClr>
                  </a:outerShdw>
                </a:effectLst>
                <a:latin typeface="宋体" panose="02010600030101010101" pitchFamily="2" charset="-122"/>
              </a:rPr>
              <a:t> 入栈操作时，</a:t>
            </a:r>
            <a:r>
              <a:rPr lang="en-US" altLang="zh-CN" sz="2600" b="1" dirty="0">
                <a:effectLst>
                  <a:outerShdw blurRad="38100" dist="38100" dir="2700000" algn="tl">
                    <a:srgbClr val="000000">
                      <a:alpha val="43137"/>
                    </a:srgbClr>
                  </a:outerShdw>
                </a:effectLst>
                <a:latin typeface="宋体" panose="02010600030101010101" pitchFamily="2" charset="-122"/>
              </a:rPr>
              <a:t>SP</a:t>
            </a:r>
            <a:r>
              <a:rPr lang="zh-CN" altLang="en-US" sz="2600" b="1" dirty="0">
                <a:effectLst>
                  <a:outerShdw blurRad="38100" dist="38100" dir="2700000" algn="tl">
                    <a:srgbClr val="000000">
                      <a:alpha val="43137"/>
                    </a:srgbClr>
                  </a:outerShdw>
                </a:effectLst>
                <a:latin typeface="宋体" panose="02010600030101010101" pitchFamily="2" charset="-122"/>
              </a:rPr>
              <a:t>先加</a:t>
            </a:r>
            <a:r>
              <a:rPr lang="en-US" altLang="zh-CN" sz="2600" b="1" dirty="0">
                <a:effectLst>
                  <a:outerShdw blurRad="38100" dist="38100" dir="2700000" algn="tl">
                    <a:srgbClr val="000000">
                      <a:alpha val="43137"/>
                    </a:srgbClr>
                  </a:outerShdw>
                </a:effectLst>
                <a:latin typeface="宋体" panose="02010600030101010101" pitchFamily="2" charset="-122"/>
              </a:rPr>
              <a:t>1</a:t>
            </a:r>
            <a:r>
              <a:rPr lang="zh-CN" altLang="en-US" sz="2600" b="1" dirty="0">
                <a:effectLst>
                  <a:outerShdw blurRad="38100" dist="38100" dir="2700000" algn="tl">
                    <a:srgbClr val="000000">
                      <a:alpha val="43137"/>
                    </a:srgbClr>
                  </a:outerShdw>
                </a:effectLst>
                <a:latin typeface="宋体" panose="02010600030101010101" pitchFamily="2" charset="-122"/>
              </a:rPr>
              <a:t>，数据再压入</a:t>
            </a:r>
            <a:r>
              <a:rPr lang="en-US" altLang="zh-CN" sz="2600" b="1" dirty="0">
                <a:effectLst>
                  <a:outerShdw blurRad="38100" dist="38100" dir="2700000" algn="tl">
                    <a:srgbClr val="000000">
                      <a:alpha val="43137"/>
                    </a:srgbClr>
                  </a:outerShdw>
                </a:effectLst>
                <a:latin typeface="宋体" panose="02010600030101010101" pitchFamily="2" charset="-122"/>
              </a:rPr>
              <a:t>SP</a:t>
            </a:r>
            <a:r>
              <a:rPr lang="zh-CN" altLang="en-US" sz="2600" b="1" dirty="0">
                <a:effectLst>
                  <a:outerShdw blurRad="38100" dist="38100" dir="2700000" algn="tl">
                    <a:srgbClr val="000000">
                      <a:alpha val="43137"/>
                    </a:srgbClr>
                  </a:outerShdw>
                </a:effectLst>
                <a:latin typeface="宋体" panose="02010600030101010101" pitchFamily="2" charset="-122"/>
              </a:rPr>
              <a:t>指向的单元。</a:t>
            </a:r>
            <a:endParaRPr lang="en-US" altLang="zh-CN" sz="2600" b="1" dirty="0">
              <a:effectLst>
                <a:outerShdw blurRad="38100" dist="38100" dir="2700000" algn="tl">
                  <a:srgbClr val="000000">
                    <a:alpha val="43137"/>
                  </a:srgbClr>
                </a:outerShdw>
              </a:effectLst>
              <a:latin typeface="宋体" panose="02010600030101010101" pitchFamily="2" charset="-122"/>
            </a:endParaRPr>
          </a:p>
          <a:p>
            <a:pPr eaLnBrk="1" hangingPunct="1">
              <a:lnSpc>
                <a:spcPct val="130000"/>
              </a:lnSpc>
              <a:spcBef>
                <a:spcPct val="20000"/>
              </a:spcBef>
              <a:buFontTx/>
              <a:buChar char="•"/>
              <a:defRPr/>
            </a:pPr>
            <a:r>
              <a:rPr lang="zh-CN" altLang="en-US" sz="2600" b="1" dirty="0">
                <a:effectLst>
                  <a:outerShdw blurRad="38100" dist="38100" dir="2700000" algn="tl">
                    <a:srgbClr val="000000">
                      <a:alpha val="43137"/>
                    </a:srgbClr>
                  </a:outerShdw>
                </a:effectLst>
                <a:latin typeface="宋体" panose="02010600030101010101" pitchFamily="2" charset="-122"/>
              </a:rPr>
              <a:t> 出栈操作时，先将</a:t>
            </a:r>
            <a:r>
              <a:rPr lang="en-US" altLang="zh-CN" sz="2600" b="1" dirty="0">
                <a:effectLst>
                  <a:outerShdw blurRad="38100" dist="38100" dir="2700000" algn="tl">
                    <a:srgbClr val="000000">
                      <a:alpha val="43137"/>
                    </a:srgbClr>
                  </a:outerShdw>
                </a:effectLst>
                <a:latin typeface="宋体" panose="02010600030101010101" pitchFamily="2" charset="-122"/>
              </a:rPr>
              <a:t>SP</a:t>
            </a:r>
            <a:r>
              <a:rPr lang="zh-CN" altLang="en-US" sz="2600" b="1" dirty="0">
                <a:effectLst>
                  <a:outerShdw blurRad="38100" dist="38100" dir="2700000" algn="tl">
                    <a:srgbClr val="000000">
                      <a:alpha val="43137"/>
                    </a:srgbClr>
                  </a:outerShdw>
                </a:effectLst>
                <a:latin typeface="宋体" panose="02010600030101010101" pitchFamily="2" charset="-122"/>
              </a:rPr>
              <a:t>指向的单元的数据弹出，然后，</a:t>
            </a:r>
            <a:r>
              <a:rPr lang="en-US" altLang="zh-CN" sz="2600" b="1" dirty="0">
                <a:effectLst>
                  <a:outerShdw blurRad="38100" dist="38100" dir="2700000" algn="tl">
                    <a:srgbClr val="000000">
                      <a:alpha val="43137"/>
                    </a:srgbClr>
                  </a:outerShdw>
                </a:effectLst>
                <a:latin typeface="宋体" panose="02010600030101010101" pitchFamily="2" charset="-122"/>
              </a:rPr>
              <a:t>SP</a:t>
            </a:r>
            <a:r>
              <a:rPr lang="zh-CN" altLang="en-US" sz="2600" b="1" dirty="0">
                <a:effectLst>
                  <a:outerShdw blurRad="38100" dist="38100" dir="2700000" algn="tl">
                    <a:srgbClr val="000000">
                      <a:alpha val="43137"/>
                    </a:srgbClr>
                  </a:outerShdw>
                </a:effectLst>
                <a:latin typeface="宋体" panose="02010600030101010101" pitchFamily="2" charset="-122"/>
              </a:rPr>
              <a:t>再减</a:t>
            </a:r>
            <a:r>
              <a:rPr lang="en-US" altLang="zh-CN" sz="2600" b="1" dirty="0">
                <a:effectLst>
                  <a:outerShdw blurRad="38100" dist="38100" dir="2700000" algn="tl">
                    <a:srgbClr val="000000">
                      <a:alpha val="43137"/>
                    </a:srgbClr>
                  </a:outerShdw>
                </a:effectLst>
                <a:latin typeface="宋体" panose="02010600030101010101" pitchFamily="2" charset="-122"/>
              </a:rPr>
              <a:t>1</a:t>
            </a:r>
            <a:r>
              <a:rPr lang="zh-CN" altLang="en-US" sz="2600" b="1" dirty="0">
                <a:effectLst>
                  <a:outerShdw blurRad="38100" dist="38100" dir="2700000" algn="tl">
                    <a:srgbClr val="000000">
                      <a:alpha val="43137"/>
                    </a:srgbClr>
                  </a:outerShdw>
                </a:effectLst>
                <a:latin typeface="宋体" panose="02010600030101010101" pitchFamily="2" charset="-122"/>
              </a:rPr>
              <a:t>，这时</a:t>
            </a:r>
            <a:r>
              <a:rPr lang="en-US" altLang="zh-CN" sz="2600" b="1" dirty="0">
                <a:effectLst>
                  <a:outerShdw blurRad="38100" dist="38100" dir="2700000" algn="tl">
                    <a:srgbClr val="000000">
                      <a:alpha val="43137"/>
                    </a:srgbClr>
                  </a:outerShdw>
                </a:effectLst>
                <a:latin typeface="宋体" panose="02010600030101010101" pitchFamily="2" charset="-122"/>
              </a:rPr>
              <a:t>SP</a:t>
            </a:r>
            <a:r>
              <a:rPr lang="zh-CN" altLang="en-US" sz="2600" b="1" dirty="0">
                <a:effectLst>
                  <a:outerShdw blurRad="38100" dist="38100" dir="2700000" algn="tl">
                    <a:srgbClr val="000000">
                      <a:alpha val="43137"/>
                    </a:srgbClr>
                  </a:outerShdw>
                </a:effectLst>
                <a:latin typeface="宋体" panose="02010600030101010101" pitchFamily="2" charset="-122"/>
              </a:rPr>
              <a:t>指向的单元是新的栈顶。</a:t>
            </a:r>
            <a:endParaRPr lang="en-US" altLang="zh-CN" sz="2600" b="1" dirty="0">
              <a:effectLst>
                <a:outerShdw blurRad="38100" dist="38100" dir="2700000" algn="tl">
                  <a:srgbClr val="000000">
                    <a:alpha val="43137"/>
                  </a:srgbClr>
                </a:outerShdw>
              </a:effectLst>
              <a:latin typeface="宋体" panose="02010600030101010101" pitchFamily="2" charset="-122"/>
            </a:endParaRPr>
          </a:p>
          <a:p>
            <a:pPr eaLnBrk="1" hangingPunct="1">
              <a:lnSpc>
                <a:spcPct val="130000"/>
              </a:lnSpc>
              <a:spcBef>
                <a:spcPct val="20000"/>
              </a:spcBef>
              <a:buFontTx/>
              <a:buChar char="•"/>
              <a:defRPr/>
            </a:pPr>
            <a:r>
              <a:rPr lang="en-US" altLang="zh-CN" sz="2600" b="1" dirty="0">
                <a:solidFill>
                  <a:srgbClr val="FF0000"/>
                </a:solidFill>
                <a:effectLst>
                  <a:outerShdw blurRad="38100" dist="38100" dir="2700000" algn="tl">
                    <a:srgbClr val="000000">
                      <a:alpha val="43137"/>
                    </a:srgbClr>
                  </a:outerShdw>
                </a:effectLst>
                <a:latin typeface="宋体" panose="02010600030101010101" pitchFamily="2" charset="-122"/>
              </a:rPr>
              <a:t> 80C51</a:t>
            </a:r>
            <a:r>
              <a:rPr lang="zh-CN" altLang="en-US" sz="2600" b="1" dirty="0">
                <a:solidFill>
                  <a:srgbClr val="FF0000"/>
                </a:solidFill>
                <a:effectLst>
                  <a:outerShdw blurRad="38100" dist="38100" dir="2700000" algn="tl">
                    <a:srgbClr val="000000">
                      <a:alpha val="43137"/>
                    </a:srgbClr>
                  </a:outerShdw>
                </a:effectLst>
                <a:latin typeface="宋体" panose="02010600030101010101" pitchFamily="2" charset="-122"/>
              </a:rPr>
              <a:t>单片机的堆栈区是向地址增大的方向生成的</a:t>
            </a:r>
            <a:r>
              <a:rPr lang="zh-CN" altLang="en-US" sz="2600" b="1" dirty="0">
                <a:effectLst>
                  <a:outerShdw blurRad="38100" dist="38100" dir="2700000" algn="tl">
                    <a:srgbClr val="000000">
                      <a:alpha val="43137"/>
                    </a:srgbClr>
                  </a:outerShdw>
                </a:effectLst>
                <a:latin typeface="宋体" panose="02010600030101010101" pitchFamily="2" charset="-122"/>
              </a:rPr>
              <a:t>。</a:t>
            </a:r>
          </a:p>
          <a:p>
            <a:pPr eaLnBrk="1" hangingPunct="1">
              <a:lnSpc>
                <a:spcPct val="130000"/>
              </a:lnSpc>
              <a:spcBef>
                <a:spcPct val="50000"/>
              </a:spcBef>
              <a:defRPr/>
            </a:pPr>
            <a:endParaRPr lang="en-US" altLang="zh-CN" sz="2400" dirty="0">
              <a:latin typeface="宋体" panose="02010600030101010101" pitchFamily="2" charset="-122"/>
            </a:endParaRPr>
          </a:p>
        </p:txBody>
      </p:sp>
      <p:sp>
        <p:nvSpPr>
          <p:cNvPr id="3" name="Rectangle 2"/>
          <p:cNvSpPr>
            <a:spLocks noChangeArrowheads="1"/>
          </p:cNvSpPr>
          <p:nvPr/>
        </p:nvSpPr>
        <p:spPr bwMode="auto">
          <a:xfrm>
            <a:off x="5364163" y="331788"/>
            <a:ext cx="3509962" cy="338137"/>
          </a:xfrm>
          <a:prstGeom prst="rect">
            <a:avLst/>
          </a:prstGeom>
          <a:noFill/>
          <a:ln>
            <a:noFill/>
          </a:ln>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defRPr/>
            </a:pPr>
            <a:r>
              <a:rPr kumimoji="1" lang="en-US" altLang="zh-CN"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2.1</a:t>
            </a: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单片机的基本结构</a:t>
            </a:r>
            <a:endParaRPr kumimoji="1" lang="zh-CN" altLang="en-US" sz="24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spect="1" noChangeArrowheads="1"/>
          </p:cNvSpPr>
          <p:nvPr/>
        </p:nvSpPr>
        <p:spPr bwMode="auto">
          <a:xfrm>
            <a:off x="655638" y="1241425"/>
            <a:ext cx="7732712"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35000"/>
              </a:lnSpc>
              <a:spcBef>
                <a:spcPct val="50000"/>
              </a:spcBef>
              <a:buFontTx/>
              <a:buNone/>
              <a:defRPr/>
            </a:pPr>
            <a:r>
              <a:rPr kumimoji="1" lang="en-US" altLang="zh-CN" sz="2800" b="1" dirty="0">
                <a:effectLst>
                  <a:outerShdw blurRad="38100" dist="38100" dir="2700000" algn="tl">
                    <a:srgbClr val="000000">
                      <a:alpha val="43137"/>
                    </a:srgbClr>
                  </a:outerShdw>
                </a:effectLst>
                <a:latin typeface="Times New Roman" panose="02020603050405020304" pitchFamily="18" charset="0"/>
              </a:rPr>
              <a:t>51</a:t>
            </a:r>
            <a:r>
              <a:rPr kumimoji="1" lang="zh-CN" altLang="en-US" sz="2800" b="1" dirty="0">
                <a:effectLst>
                  <a:outerShdw blurRad="38100" dist="38100" dir="2700000" algn="tl">
                    <a:srgbClr val="000000">
                      <a:alpha val="43137"/>
                    </a:srgbClr>
                  </a:outerShdw>
                </a:effectLst>
                <a:latin typeface="Times New Roman" panose="02020603050405020304" pitchFamily="18" charset="0"/>
              </a:rPr>
              <a:t>系列单片机一般采用</a:t>
            </a:r>
            <a:r>
              <a:rPr kumimoji="1" lang="en-US" altLang="zh-CN" sz="2800" b="1" dirty="0">
                <a:effectLst>
                  <a:outerShdw blurRad="38100" dist="38100" dir="2700000" algn="tl">
                    <a:srgbClr val="000000">
                      <a:alpha val="43137"/>
                    </a:srgbClr>
                  </a:outerShdw>
                </a:effectLst>
                <a:latin typeface="Times New Roman" panose="02020603050405020304" pitchFamily="18" charset="0"/>
              </a:rPr>
              <a:t>40</a:t>
            </a:r>
            <a:r>
              <a:rPr kumimoji="1" lang="zh-CN" altLang="en-US" sz="2800" b="1" dirty="0">
                <a:effectLst>
                  <a:outerShdw blurRad="38100" dist="38100" dir="2700000" algn="tl">
                    <a:srgbClr val="000000">
                      <a:alpha val="43137"/>
                    </a:srgbClr>
                  </a:outerShdw>
                </a:effectLst>
                <a:latin typeface="Times New Roman" panose="02020603050405020304" pitchFamily="18" charset="0"/>
              </a:rPr>
              <a:t>只引脚的双列直插式（</a:t>
            </a:r>
            <a:r>
              <a:rPr kumimoji="1" lang="en-US" altLang="zh-CN" sz="2800" b="1" dirty="0">
                <a:solidFill>
                  <a:srgbClr val="CC0000"/>
                </a:solidFill>
                <a:effectLst>
                  <a:outerShdw blurRad="38100" dist="38100" dir="2700000" algn="tl">
                    <a:srgbClr val="000000">
                      <a:alpha val="43137"/>
                    </a:srgbClr>
                  </a:outerShdw>
                </a:effectLst>
                <a:latin typeface="Times New Roman" panose="02020603050405020304" pitchFamily="18" charset="0"/>
              </a:rPr>
              <a:t>DIP</a:t>
            </a:r>
            <a:r>
              <a:rPr kumimoji="1" lang="en-US" altLang="zh-CN" sz="2800" b="1" dirty="0">
                <a:effectLst>
                  <a:outerShdw blurRad="38100" dist="38100" dir="2700000" algn="tl">
                    <a:srgbClr val="000000">
                      <a:alpha val="43137"/>
                    </a:srgbClr>
                  </a:outerShdw>
                </a:effectLst>
                <a:latin typeface="Times New Roman" panose="02020603050405020304" pitchFamily="18" charset="0"/>
              </a:rPr>
              <a:t>——</a:t>
            </a:r>
            <a:r>
              <a:rPr kumimoji="1" lang="en-US" altLang="zh-CN" sz="2800" b="1" dirty="0">
                <a:solidFill>
                  <a:srgbClr val="FF3300"/>
                </a:solidFill>
                <a:effectLst>
                  <a:outerShdw blurRad="38100" dist="38100" dir="2700000" algn="tl">
                    <a:srgbClr val="000000">
                      <a:alpha val="43137"/>
                    </a:srgbClr>
                  </a:outerShdw>
                </a:effectLst>
                <a:latin typeface="Times New Roman" panose="02020603050405020304" pitchFamily="18" charset="0"/>
              </a:rPr>
              <a:t>D</a:t>
            </a:r>
            <a:r>
              <a:rPr kumimoji="1" lang="en-US" altLang="zh-CN" sz="2800" b="1" dirty="0">
                <a:effectLst>
                  <a:outerShdw blurRad="38100" dist="38100" dir="2700000" algn="tl">
                    <a:srgbClr val="000000">
                      <a:alpha val="43137"/>
                    </a:srgbClr>
                  </a:outerShdw>
                </a:effectLst>
                <a:latin typeface="Times New Roman" panose="02020603050405020304" pitchFamily="18" charset="0"/>
              </a:rPr>
              <a:t>ual </a:t>
            </a:r>
            <a:r>
              <a:rPr kumimoji="1" lang="en-US" altLang="zh-CN" sz="2800" b="1" dirty="0">
                <a:solidFill>
                  <a:srgbClr val="FF3300"/>
                </a:solidFill>
                <a:effectLst>
                  <a:outerShdw blurRad="38100" dist="38100" dir="2700000" algn="tl">
                    <a:srgbClr val="000000">
                      <a:alpha val="43137"/>
                    </a:srgbClr>
                  </a:outerShdw>
                </a:effectLst>
                <a:latin typeface="Times New Roman" panose="02020603050405020304" pitchFamily="18" charset="0"/>
              </a:rPr>
              <a:t>I</a:t>
            </a:r>
            <a:r>
              <a:rPr kumimoji="1" lang="en-US" altLang="zh-CN" sz="2800" b="1" dirty="0">
                <a:effectLst>
                  <a:outerShdw blurRad="38100" dist="38100" dir="2700000" algn="tl">
                    <a:srgbClr val="000000">
                      <a:alpha val="43137"/>
                    </a:srgbClr>
                  </a:outerShdw>
                </a:effectLst>
                <a:latin typeface="Times New Roman" panose="02020603050405020304" pitchFamily="18" charset="0"/>
              </a:rPr>
              <a:t>n-line </a:t>
            </a:r>
            <a:r>
              <a:rPr kumimoji="1" lang="en-US" altLang="zh-CN" sz="2800" b="1" dirty="0">
                <a:solidFill>
                  <a:srgbClr val="FF3300"/>
                </a:solidFill>
                <a:effectLst>
                  <a:outerShdw blurRad="38100" dist="38100" dir="2700000" algn="tl">
                    <a:srgbClr val="000000">
                      <a:alpha val="43137"/>
                    </a:srgbClr>
                  </a:outerShdw>
                </a:effectLst>
                <a:latin typeface="Times New Roman" panose="02020603050405020304" pitchFamily="18" charset="0"/>
              </a:rPr>
              <a:t>P</a:t>
            </a:r>
            <a:r>
              <a:rPr kumimoji="1" lang="en-US" altLang="zh-CN" sz="2800" b="1" dirty="0">
                <a:effectLst>
                  <a:outerShdw blurRad="38100" dist="38100" dir="2700000" algn="tl">
                    <a:srgbClr val="000000">
                      <a:alpha val="43137"/>
                    </a:srgbClr>
                  </a:outerShdw>
                </a:effectLst>
                <a:latin typeface="Times New Roman" panose="02020603050405020304" pitchFamily="18" charset="0"/>
              </a:rPr>
              <a:t>ackage</a:t>
            </a:r>
            <a:r>
              <a:rPr kumimoji="1" lang="zh-CN" altLang="en-US" sz="2800" b="1" dirty="0">
                <a:effectLst>
                  <a:outerShdw blurRad="38100" dist="38100" dir="2700000" algn="tl">
                    <a:srgbClr val="000000">
                      <a:alpha val="43137"/>
                    </a:srgbClr>
                  </a:outerShdw>
                </a:effectLst>
                <a:latin typeface="Times New Roman" panose="02020603050405020304" pitchFamily="18" charset="0"/>
              </a:rPr>
              <a:t>）封装结构</a:t>
            </a:r>
          </a:p>
        </p:txBody>
      </p:sp>
      <p:pic>
        <p:nvPicPr>
          <p:cNvPr id="22531" name="Picture 5" descr="未标题-1"/>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r="-2681" b="1726"/>
          <a:stretch>
            <a:fillRect/>
          </a:stretch>
        </p:blipFill>
        <p:spPr bwMode="auto">
          <a:xfrm>
            <a:off x="1441450" y="2378075"/>
            <a:ext cx="6048375" cy="36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2" name="Picture 16" descr="20-40-DIP"/>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5782" t="18871" r="4617" b="20439"/>
          <a:stretch>
            <a:fillRect/>
          </a:stretch>
        </p:blipFill>
        <p:spPr bwMode="auto">
          <a:xfrm>
            <a:off x="5724525" y="3954463"/>
            <a:ext cx="2395538" cy="162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a:spLocks noChangeArrowheads="1"/>
          </p:cNvSpPr>
          <p:nvPr/>
        </p:nvSpPr>
        <p:spPr bwMode="auto">
          <a:xfrm>
            <a:off x="5364163" y="331788"/>
            <a:ext cx="35099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FontTx/>
              <a:buNone/>
              <a:defRPr/>
            </a:pP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第</a:t>
            </a:r>
            <a:r>
              <a:rPr kumimoji="1" lang="en-US" altLang="zh-CN"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2</a:t>
            </a: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章 </a:t>
            </a:r>
            <a:r>
              <a:rPr kumimoji="1" lang="en-US" altLang="zh-CN"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MCS-51</a:t>
            </a:r>
            <a:r>
              <a:rPr kumimoji="1" lang="zh-CN" altLang="en-US" sz="16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rPr>
              <a:t>单片机的结构组成</a:t>
            </a:r>
            <a:endParaRPr kumimoji="1" lang="zh-CN" altLang="en-US" sz="2400" b="1" dirty="0">
              <a:solidFill>
                <a:srgbClr val="C00000"/>
              </a:solidFill>
              <a:effectLst>
                <a:outerShdw blurRad="38100" dist="38100" dir="2700000" algn="tl">
                  <a:srgbClr val="000000">
                    <a:alpha val="43137"/>
                  </a:srgbClr>
                </a:outerShdw>
              </a:effectLst>
              <a:latin typeface="仿宋" panose="02010609060101010101" pitchFamily="49" charset="-122"/>
              <a:ea typeface="仿宋" panose="02010609060101010101" pitchFamily="49" charset="-122"/>
            </a:endParaRPr>
          </a:p>
        </p:txBody>
      </p:sp>
      <p:sp>
        <p:nvSpPr>
          <p:cNvPr id="7" name="矩形 1"/>
          <p:cNvSpPr>
            <a:spLocks noChangeArrowheads="1"/>
          </p:cNvSpPr>
          <p:nvPr/>
        </p:nvSpPr>
        <p:spPr bwMode="auto">
          <a:xfrm>
            <a:off x="560388" y="343555"/>
            <a:ext cx="494771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dirty="0">
                <a:solidFill>
                  <a:srgbClr val="0000FF"/>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2. 1.2 MCS-51</a:t>
            </a:r>
            <a:r>
              <a:rPr lang="zh-CN" altLang="en-US" sz="2800" b="1" dirty="0">
                <a:solidFill>
                  <a:srgbClr val="0000FF"/>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外部引脚及功能</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560388" y="1036638"/>
            <a:ext cx="8097837"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zh-CN" altLang="en-US" sz="2800" b="1">
                <a:latin typeface="Times New Roman" panose="02020603050405020304" pitchFamily="18" charset="0"/>
              </a:rPr>
              <a:t>除</a:t>
            </a:r>
            <a:r>
              <a:rPr kumimoji="1" lang="en-US" altLang="zh-CN" sz="2800" b="1">
                <a:latin typeface="Times New Roman" panose="02020603050405020304" pitchFamily="18" charset="0"/>
              </a:rPr>
              <a:t>DIP</a:t>
            </a:r>
            <a:r>
              <a:rPr kumimoji="1" lang="zh-CN" altLang="en-US" sz="2800" b="1">
                <a:latin typeface="Times New Roman" panose="02020603050405020304" pitchFamily="18" charset="0"/>
              </a:rPr>
              <a:t>封装外， </a:t>
            </a:r>
            <a:r>
              <a:rPr kumimoji="1" lang="en-US" altLang="zh-CN" sz="2800" b="1">
                <a:latin typeface="Times New Roman" panose="02020603050405020304" pitchFamily="18" charset="0"/>
              </a:rPr>
              <a:t>51</a:t>
            </a:r>
            <a:r>
              <a:rPr kumimoji="1" lang="zh-CN" altLang="en-US" sz="2800" b="1">
                <a:latin typeface="Times New Roman" panose="02020603050405020304" pitchFamily="18" charset="0"/>
              </a:rPr>
              <a:t>单片机还采用</a:t>
            </a:r>
            <a:r>
              <a:rPr kumimoji="1" lang="en-US" altLang="zh-CN" sz="2800" b="1">
                <a:latin typeface="Times New Roman" panose="02020603050405020304" pitchFamily="18" charset="0"/>
              </a:rPr>
              <a:t>44</a:t>
            </a:r>
            <a:r>
              <a:rPr kumimoji="1" lang="zh-CN" altLang="en-US" sz="2800" b="1">
                <a:latin typeface="Times New Roman" panose="02020603050405020304" pitchFamily="18" charset="0"/>
              </a:rPr>
              <a:t>只引脚的方形扁平</a:t>
            </a:r>
            <a:r>
              <a:rPr kumimoji="1" lang="en-US" altLang="zh-CN" sz="2800" b="1">
                <a:latin typeface="Times New Roman" panose="02020603050405020304" pitchFamily="18" charset="0"/>
              </a:rPr>
              <a:t>(</a:t>
            </a:r>
            <a:r>
              <a:rPr kumimoji="1" lang="en-US" altLang="zh-CN" sz="2800" b="1">
                <a:solidFill>
                  <a:srgbClr val="CC0000"/>
                </a:solidFill>
                <a:latin typeface="Times New Roman" panose="02020603050405020304" pitchFamily="18" charset="0"/>
              </a:rPr>
              <a:t>QFP</a:t>
            </a:r>
            <a:r>
              <a:rPr kumimoji="1" lang="en-US" altLang="zh-CN" sz="2800" b="1">
                <a:latin typeface="Times New Roman" panose="02020603050405020304" pitchFamily="18" charset="0"/>
              </a:rPr>
              <a:t> ——</a:t>
            </a:r>
            <a:r>
              <a:rPr kumimoji="1" lang="en-US" altLang="zh-CN" sz="2800" b="1">
                <a:solidFill>
                  <a:srgbClr val="CC0000"/>
                </a:solidFill>
                <a:latin typeface="Times New Roman" panose="02020603050405020304" pitchFamily="18" charset="0"/>
              </a:rPr>
              <a:t>Q</a:t>
            </a:r>
            <a:r>
              <a:rPr kumimoji="1" lang="en-US" altLang="zh-CN" sz="2800" b="1">
                <a:latin typeface="Times New Roman" panose="02020603050405020304" pitchFamily="18" charset="0"/>
              </a:rPr>
              <a:t>uad </a:t>
            </a:r>
            <a:r>
              <a:rPr kumimoji="1" lang="en-US" altLang="zh-CN" sz="2800" b="1">
                <a:solidFill>
                  <a:srgbClr val="CC0000"/>
                </a:solidFill>
                <a:latin typeface="Times New Roman" panose="02020603050405020304" pitchFamily="18" charset="0"/>
              </a:rPr>
              <a:t>F</a:t>
            </a:r>
            <a:r>
              <a:rPr kumimoji="1" lang="en-US" altLang="zh-CN" sz="2800" b="1">
                <a:latin typeface="Times New Roman" panose="02020603050405020304" pitchFamily="18" charset="0"/>
              </a:rPr>
              <a:t>lat </a:t>
            </a:r>
            <a:r>
              <a:rPr kumimoji="1" lang="en-US" altLang="zh-CN" sz="2800" b="1">
                <a:solidFill>
                  <a:srgbClr val="CC0000"/>
                </a:solidFill>
                <a:latin typeface="Times New Roman" panose="02020603050405020304" pitchFamily="18" charset="0"/>
              </a:rPr>
              <a:t>P</a:t>
            </a:r>
            <a:r>
              <a:rPr kumimoji="1" lang="en-US" altLang="zh-CN" sz="2800" b="1">
                <a:latin typeface="Times New Roman" panose="02020603050405020304" pitchFamily="18" charset="0"/>
              </a:rPr>
              <a:t>ackage) </a:t>
            </a:r>
            <a:r>
              <a:rPr kumimoji="1" lang="zh-CN" altLang="en-US" sz="2800" b="1">
                <a:latin typeface="Times New Roman" panose="02020603050405020304" pitchFamily="18" charset="0"/>
              </a:rPr>
              <a:t>封装方式（</a:t>
            </a:r>
            <a:r>
              <a:rPr kumimoji="1" lang="en-US" altLang="zh-CN" sz="2800" b="1">
                <a:latin typeface="Times New Roman" panose="02020603050405020304" pitchFamily="18" charset="0"/>
              </a:rPr>
              <a:t>4</a:t>
            </a:r>
            <a:r>
              <a:rPr kumimoji="1" lang="zh-CN" altLang="en-US" sz="2800" b="1">
                <a:latin typeface="Times New Roman" panose="02020603050405020304" pitchFamily="18" charset="0"/>
              </a:rPr>
              <a:t>只引脚无用）。 </a:t>
            </a:r>
          </a:p>
        </p:txBody>
      </p:sp>
      <p:pic>
        <p:nvPicPr>
          <p:cNvPr id="23555" name="Picture 4" descr="未标题-2"/>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r="3226" b="15044"/>
          <a:stretch>
            <a:fillRect/>
          </a:stretch>
        </p:blipFill>
        <p:spPr bwMode="auto">
          <a:xfrm>
            <a:off x="1651000" y="2273300"/>
            <a:ext cx="5546725"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6" name="Picture 8" descr="2010341162964836"/>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52237" t="60078" r="8691"/>
          <a:stretch>
            <a:fillRect/>
          </a:stretch>
        </p:blipFill>
        <p:spPr bwMode="auto">
          <a:xfrm>
            <a:off x="5080000" y="3700463"/>
            <a:ext cx="2628900"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1"/>
          <p:cNvSpPr>
            <a:spLocks noChangeArrowheads="1"/>
          </p:cNvSpPr>
          <p:nvPr/>
        </p:nvSpPr>
        <p:spPr bwMode="auto">
          <a:xfrm>
            <a:off x="560705" y="343535"/>
            <a:ext cx="622046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dirty="0">
                <a:solidFill>
                  <a:srgbClr val="0000FF"/>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2. 1.2 MCS-51</a:t>
            </a:r>
            <a:r>
              <a:rPr lang="zh-CN" altLang="en-US" sz="2800" b="1" dirty="0">
                <a:solidFill>
                  <a:srgbClr val="0000FF"/>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外部引脚及功能</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334478" y="368300"/>
            <a:ext cx="54006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3200" b="1">
                <a:solidFill>
                  <a:srgbClr val="0000FF"/>
                </a:solidFill>
                <a:effectLst>
                  <a:outerShdw blurRad="38100" dist="38100" dir="2700000" algn="tl">
                    <a:srgbClr val="C0C0C0"/>
                  </a:outerShdw>
                </a:effectLst>
                <a:latin typeface="楷体" panose="02010609060101010101" pitchFamily="49" charset="-122"/>
                <a:ea typeface="楷体" panose="02010609060101010101" pitchFamily="49" charset="-122"/>
              </a:rPr>
              <a:t>引脚定义及功能</a:t>
            </a:r>
          </a:p>
        </p:txBody>
      </p:sp>
      <p:sp>
        <p:nvSpPr>
          <p:cNvPr id="24580" name="Text Box 4"/>
          <p:cNvSpPr txBox="1">
            <a:spLocks noChangeArrowheads="1"/>
          </p:cNvSpPr>
          <p:nvPr/>
        </p:nvSpPr>
        <p:spPr bwMode="auto">
          <a:xfrm>
            <a:off x="827088" y="6092825"/>
            <a:ext cx="2736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FontTx/>
              <a:buNone/>
            </a:pPr>
            <a:r>
              <a:rPr lang="en-US" altLang="zh-CN" sz="2000" b="1">
                <a:latin typeface="宋体" panose="02010600030101010101" pitchFamily="2" charset="-122"/>
              </a:rPr>
              <a:t>8051</a:t>
            </a:r>
            <a:r>
              <a:rPr lang="zh-CN" altLang="en-US" sz="2000" b="1">
                <a:latin typeface="宋体" panose="02010600030101010101" pitchFamily="2" charset="-122"/>
              </a:rPr>
              <a:t>引脚排列</a:t>
            </a:r>
          </a:p>
        </p:txBody>
      </p:sp>
      <p:sp>
        <p:nvSpPr>
          <p:cNvPr id="24581" name="Rectangle 5"/>
          <p:cNvSpPr>
            <a:spLocks noChangeArrowheads="1"/>
          </p:cNvSpPr>
          <p:nvPr/>
        </p:nvSpPr>
        <p:spPr bwMode="auto">
          <a:xfrm>
            <a:off x="4787900" y="974725"/>
            <a:ext cx="3600450" cy="1323975"/>
          </a:xfrm>
          <a:prstGeom prst="rect">
            <a:avLst/>
          </a:prstGeom>
          <a:solidFill>
            <a:srgbClr val="FFC000"/>
          </a:solidFill>
          <a:ln>
            <a:noFill/>
          </a:ln>
          <a:effectLst/>
        </p:spPr>
        <p:txBody>
          <a:bodyPr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dirty="0">
                <a:latin typeface="宋体" panose="02010600030101010101" pitchFamily="2" charset="-122"/>
              </a:rPr>
              <a:t>VCC</a:t>
            </a:r>
            <a:r>
              <a:rPr lang="zh-CN" altLang="en-US" sz="2000" b="1" dirty="0">
                <a:latin typeface="宋体" panose="02010600030101010101" pitchFamily="2" charset="-122"/>
              </a:rPr>
              <a:t>：接</a:t>
            </a:r>
            <a:r>
              <a:rPr lang="en-US" altLang="zh-CN" sz="2000" b="1" dirty="0">
                <a:latin typeface="宋体" panose="02010600030101010101" pitchFamily="2" charset="-122"/>
              </a:rPr>
              <a:t>+5V</a:t>
            </a:r>
            <a:r>
              <a:rPr lang="zh-CN" altLang="en-US" sz="2000" b="1" dirty="0">
                <a:latin typeface="宋体" panose="02010600030101010101" pitchFamily="2" charset="-122"/>
              </a:rPr>
              <a:t>电源；</a:t>
            </a:r>
          </a:p>
          <a:p>
            <a:pPr eaLnBrk="1" hangingPunct="1">
              <a:spcBef>
                <a:spcPct val="0"/>
              </a:spcBef>
              <a:buFontTx/>
              <a:buNone/>
            </a:pPr>
            <a:r>
              <a:rPr lang="en-US" altLang="zh-CN" sz="2000" b="1" dirty="0">
                <a:latin typeface="宋体" panose="02010600030101010101" pitchFamily="2" charset="-122"/>
              </a:rPr>
              <a:t>VSS</a:t>
            </a:r>
            <a:r>
              <a:rPr lang="zh-CN" altLang="en-US" sz="2000" b="1" dirty="0">
                <a:latin typeface="宋体" panose="02010600030101010101" pitchFamily="2" charset="-122"/>
              </a:rPr>
              <a:t>：接地；</a:t>
            </a:r>
            <a:endParaRPr lang="en-US" altLang="zh-CN" sz="2000" b="1" dirty="0">
              <a:latin typeface="宋体" panose="02010600030101010101" pitchFamily="2" charset="-122"/>
            </a:endParaRPr>
          </a:p>
          <a:p>
            <a:pPr eaLnBrk="1" hangingPunct="1">
              <a:spcBef>
                <a:spcPct val="0"/>
              </a:spcBef>
              <a:buFontTx/>
              <a:buNone/>
            </a:pPr>
            <a:r>
              <a:rPr lang="en-US" altLang="zh-CN" sz="2000" b="1" dirty="0">
                <a:latin typeface="宋体" panose="02010600030101010101" pitchFamily="2" charset="-122"/>
              </a:rPr>
              <a:t>XTAL1</a:t>
            </a:r>
            <a:r>
              <a:rPr lang="zh-CN" altLang="en-US" sz="2000" b="1" dirty="0">
                <a:latin typeface="宋体" panose="02010600030101010101" pitchFamily="2" charset="-122"/>
              </a:rPr>
              <a:t>和</a:t>
            </a:r>
            <a:r>
              <a:rPr lang="en-US" altLang="zh-CN" sz="2000" b="1" dirty="0">
                <a:latin typeface="宋体" panose="02010600030101010101" pitchFamily="2" charset="-122"/>
              </a:rPr>
              <a:t>XTAL2</a:t>
            </a:r>
            <a:r>
              <a:rPr lang="zh-CN" altLang="en-US" sz="2000" b="1" dirty="0">
                <a:latin typeface="宋体" panose="02010600030101010101" pitchFamily="2" charset="-122"/>
              </a:rPr>
              <a:t>：时钟引脚，外接晶体引线端。 </a:t>
            </a:r>
          </a:p>
        </p:txBody>
      </p:sp>
      <p:sp>
        <p:nvSpPr>
          <p:cNvPr id="24582" name="Rectangle 6"/>
          <p:cNvSpPr>
            <a:spLocks noChangeArrowheads="1"/>
          </p:cNvSpPr>
          <p:nvPr/>
        </p:nvSpPr>
        <p:spPr bwMode="auto">
          <a:xfrm>
            <a:off x="4617444" y="4770709"/>
            <a:ext cx="4149154" cy="1323439"/>
          </a:xfrm>
          <a:prstGeom prst="rect">
            <a:avLst/>
          </a:prstGeom>
          <a:solidFill>
            <a:srgbClr val="99FFCC"/>
          </a:solidFill>
          <a:ln>
            <a:noFill/>
          </a:ln>
          <a:effectLst/>
        </p:spPr>
        <p:txBody>
          <a:bodyPr wrap="square" anchor="ctr">
            <a:spAutoFit/>
          </a:bodyPr>
          <a:lstStyle>
            <a:lvl1pPr indent="266700"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indent="0" eaLnBrk="1" hangingPunct="1">
              <a:spcBef>
                <a:spcPct val="0"/>
              </a:spcBef>
              <a:buFontTx/>
              <a:buNone/>
            </a:pPr>
            <a:r>
              <a:rPr lang="en-US" altLang="zh-CN" sz="2000" b="1" dirty="0">
                <a:latin typeface="宋体" panose="02010600030101010101" pitchFamily="2" charset="-122"/>
              </a:rPr>
              <a:t>P0.0</a:t>
            </a:r>
            <a:r>
              <a:rPr lang="zh-CN" altLang="en-US" sz="2000" b="1" dirty="0">
                <a:latin typeface="宋体" panose="02010600030101010101" pitchFamily="2" charset="-122"/>
              </a:rPr>
              <a:t>～</a:t>
            </a:r>
            <a:r>
              <a:rPr lang="en-US" altLang="zh-CN" sz="2000" b="1" dirty="0">
                <a:latin typeface="宋体" panose="02010600030101010101" pitchFamily="2" charset="-122"/>
              </a:rPr>
              <a:t>P0.7</a:t>
            </a:r>
            <a:r>
              <a:rPr lang="zh-CN" altLang="en-US" sz="2000" b="1" dirty="0">
                <a:latin typeface="宋体" panose="02010600030101010101" pitchFamily="2" charset="-122"/>
              </a:rPr>
              <a:t>：</a:t>
            </a:r>
            <a:r>
              <a:rPr lang="en-US" altLang="zh-CN" sz="2000" b="1" dirty="0">
                <a:latin typeface="宋体" panose="02010600030101010101" pitchFamily="2" charset="-122"/>
              </a:rPr>
              <a:t>P0</a:t>
            </a:r>
            <a:r>
              <a:rPr lang="zh-CN" altLang="en-US" sz="2000" b="1" dirty="0">
                <a:latin typeface="宋体" panose="02010600030101010101" pitchFamily="2" charset="-122"/>
              </a:rPr>
              <a:t>口</a:t>
            </a:r>
            <a:r>
              <a:rPr lang="en-US" altLang="zh-CN" sz="2000" b="1" dirty="0">
                <a:latin typeface="宋体" panose="02010600030101010101" pitchFamily="2" charset="-122"/>
              </a:rPr>
              <a:t>8</a:t>
            </a:r>
            <a:r>
              <a:rPr lang="zh-CN" altLang="en-US" sz="2000" b="1" dirty="0">
                <a:latin typeface="宋体" panose="02010600030101010101" pitchFamily="2" charset="-122"/>
              </a:rPr>
              <a:t>位双向</a:t>
            </a:r>
            <a:r>
              <a:rPr lang="en-US" altLang="zh-CN" sz="2000" b="1" dirty="0">
                <a:latin typeface="宋体" panose="02010600030101010101" pitchFamily="2" charset="-122"/>
              </a:rPr>
              <a:t>I/O</a:t>
            </a:r>
            <a:r>
              <a:rPr lang="zh-CN" altLang="en-US" sz="2000" b="1" dirty="0">
                <a:latin typeface="宋体" panose="02010600030101010101" pitchFamily="2" charset="-122"/>
              </a:rPr>
              <a:t>口；</a:t>
            </a:r>
          </a:p>
          <a:p>
            <a:pPr indent="0" eaLnBrk="1" hangingPunct="1">
              <a:spcBef>
                <a:spcPct val="0"/>
              </a:spcBef>
              <a:buFontTx/>
              <a:buNone/>
            </a:pPr>
            <a:r>
              <a:rPr lang="en-US" altLang="zh-CN" sz="2000" b="1" dirty="0">
                <a:latin typeface="宋体" panose="02010600030101010101" pitchFamily="2" charset="-122"/>
              </a:rPr>
              <a:t>P1.0</a:t>
            </a:r>
            <a:r>
              <a:rPr lang="zh-CN" altLang="en-US" sz="2000" b="1" dirty="0">
                <a:latin typeface="宋体" panose="02010600030101010101" pitchFamily="2" charset="-122"/>
              </a:rPr>
              <a:t>～</a:t>
            </a:r>
            <a:r>
              <a:rPr lang="en-US" altLang="zh-CN" sz="2000" b="1" dirty="0">
                <a:latin typeface="宋体" panose="02010600030101010101" pitchFamily="2" charset="-122"/>
              </a:rPr>
              <a:t>P1.7</a:t>
            </a:r>
            <a:r>
              <a:rPr lang="zh-CN" altLang="en-US" sz="2000" b="1" dirty="0">
                <a:latin typeface="宋体" panose="02010600030101010101" pitchFamily="2" charset="-122"/>
              </a:rPr>
              <a:t>：</a:t>
            </a:r>
            <a:r>
              <a:rPr lang="en-US" altLang="zh-CN" sz="2000" b="1" dirty="0">
                <a:latin typeface="宋体" panose="02010600030101010101" pitchFamily="2" charset="-122"/>
              </a:rPr>
              <a:t>P1</a:t>
            </a:r>
            <a:r>
              <a:rPr lang="zh-CN" altLang="en-US" sz="2000" b="1" dirty="0">
                <a:latin typeface="宋体" panose="02010600030101010101" pitchFamily="2" charset="-122"/>
              </a:rPr>
              <a:t>口</a:t>
            </a:r>
            <a:r>
              <a:rPr lang="en-US" altLang="zh-CN" sz="2000" b="1" dirty="0">
                <a:latin typeface="宋体" panose="02010600030101010101" pitchFamily="2" charset="-122"/>
              </a:rPr>
              <a:t>8</a:t>
            </a:r>
            <a:r>
              <a:rPr lang="zh-CN" altLang="en-US" sz="2000" b="1" dirty="0">
                <a:latin typeface="宋体" panose="02010600030101010101" pitchFamily="2" charset="-122"/>
              </a:rPr>
              <a:t>位准双向</a:t>
            </a:r>
            <a:r>
              <a:rPr lang="en-US" altLang="zh-CN" sz="2000" b="1" dirty="0">
                <a:latin typeface="宋体" panose="02010600030101010101" pitchFamily="2" charset="-122"/>
              </a:rPr>
              <a:t>I/O</a:t>
            </a:r>
            <a:r>
              <a:rPr lang="zh-CN" altLang="en-US" sz="2000" b="1" dirty="0">
                <a:latin typeface="宋体" panose="02010600030101010101" pitchFamily="2" charset="-122"/>
              </a:rPr>
              <a:t>口；</a:t>
            </a:r>
          </a:p>
          <a:p>
            <a:pPr indent="0" eaLnBrk="1" hangingPunct="1">
              <a:spcBef>
                <a:spcPct val="0"/>
              </a:spcBef>
              <a:buFontTx/>
              <a:buNone/>
            </a:pPr>
            <a:r>
              <a:rPr lang="en-US" altLang="zh-CN" sz="2000" b="1" dirty="0">
                <a:latin typeface="宋体" panose="02010600030101010101" pitchFamily="2" charset="-122"/>
              </a:rPr>
              <a:t>P2.0</a:t>
            </a:r>
            <a:r>
              <a:rPr lang="zh-CN" altLang="en-US" sz="2000" b="1" dirty="0">
                <a:latin typeface="宋体" panose="02010600030101010101" pitchFamily="2" charset="-122"/>
              </a:rPr>
              <a:t>～</a:t>
            </a:r>
            <a:r>
              <a:rPr lang="en-US" altLang="zh-CN" sz="2000" b="1" dirty="0">
                <a:latin typeface="宋体" panose="02010600030101010101" pitchFamily="2" charset="-122"/>
              </a:rPr>
              <a:t>P2.7</a:t>
            </a:r>
            <a:r>
              <a:rPr lang="zh-CN" altLang="en-US" sz="2000" b="1" dirty="0">
                <a:latin typeface="宋体" panose="02010600030101010101" pitchFamily="2" charset="-122"/>
              </a:rPr>
              <a:t>：</a:t>
            </a:r>
            <a:r>
              <a:rPr lang="en-US" altLang="zh-CN" sz="2000" b="1" dirty="0">
                <a:latin typeface="宋体" panose="02010600030101010101" pitchFamily="2" charset="-122"/>
              </a:rPr>
              <a:t>P2</a:t>
            </a:r>
            <a:r>
              <a:rPr lang="zh-CN" altLang="en-US" sz="2000" b="1" dirty="0">
                <a:latin typeface="宋体" panose="02010600030101010101" pitchFamily="2" charset="-122"/>
              </a:rPr>
              <a:t>口</a:t>
            </a:r>
            <a:r>
              <a:rPr lang="en-US" altLang="zh-CN" sz="2000" b="1" dirty="0">
                <a:latin typeface="宋体" panose="02010600030101010101" pitchFamily="2" charset="-122"/>
              </a:rPr>
              <a:t>8</a:t>
            </a:r>
            <a:r>
              <a:rPr lang="zh-CN" altLang="en-US" sz="2000" b="1" dirty="0">
                <a:latin typeface="宋体" panose="02010600030101010101" pitchFamily="2" charset="-122"/>
              </a:rPr>
              <a:t>位准双向</a:t>
            </a:r>
            <a:r>
              <a:rPr lang="en-US" altLang="zh-CN" sz="2000" b="1" dirty="0">
                <a:latin typeface="宋体" panose="02010600030101010101" pitchFamily="2" charset="-122"/>
              </a:rPr>
              <a:t>I/O</a:t>
            </a:r>
            <a:r>
              <a:rPr lang="zh-CN" altLang="en-US" sz="2000" b="1" dirty="0">
                <a:latin typeface="宋体" panose="02010600030101010101" pitchFamily="2" charset="-122"/>
              </a:rPr>
              <a:t>口；</a:t>
            </a:r>
          </a:p>
          <a:p>
            <a:pPr indent="0" eaLnBrk="1" hangingPunct="1">
              <a:spcBef>
                <a:spcPct val="0"/>
              </a:spcBef>
              <a:buFontTx/>
              <a:buNone/>
            </a:pPr>
            <a:r>
              <a:rPr lang="en-US" altLang="zh-CN" sz="2000" b="1" dirty="0">
                <a:latin typeface="宋体" panose="02010600030101010101" pitchFamily="2" charset="-122"/>
              </a:rPr>
              <a:t>P3.0</a:t>
            </a:r>
            <a:r>
              <a:rPr lang="zh-CN" altLang="en-US" sz="2000" b="1" dirty="0">
                <a:latin typeface="宋体" panose="02010600030101010101" pitchFamily="2" charset="-122"/>
              </a:rPr>
              <a:t>～</a:t>
            </a:r>
            <a:r>
              <a:rPr lang="en-US" altLang="zh-CN" sz="2000" b="1" dirty="0">
                <a:latin typeface="宋体" panose="02010600030101010101" pitchFamily="2" charset="-122"/>
              </a:rPr>
              <a:t>P3.7</a:t>
            </a:r>
            <a:r>
              <a:rPr lang="zh-CN" altLang="en-US" sz="2000" b="1" dirty="0">
                <a:latin typeface="宋体" panose="02010600030101010101" pitchFamily="2" charset="-122"/>
              </a:rPr>
              <a:t>：</a:t>
            </a:r>
            <a:r>
              <a:rPr lang="en-US" altLang="zh-CN" sz="2000" b="1" dirty="0">
                <a:latin typeface="宋体" panose="02010600030101010101" pitchFamily="2" charset="-122"/>
              </a:rPr>
              <a:t>P3</a:t>
            </a:r>
            <a:r>
              <a:rPr lang="zh-CN" altLang="en-US" sz="2000" b="1" dirty="0">
                <a:latin typeface="宋体" panose="02010600030101010101" pitchFamily="2" charset="-122"/>
              </a:rPr>
              <a:t>口</a:t>
            </a:r>
            <a:r>
              <a:rPr lang="en-US" altLang="zh-CN" sz="2000" b="1" dirty="0">
                <a:latin typeface="宋体" panose="02010600030101010101" pitchFamily="2" charset="-122"/>
              </a:rPr>
              <a:t>8</a:t>
            </a:r>
            <a:r>
              <a:rPr lang="zh-CN" altLang="en-US" sz="2000" b="1" dirty="0">
                <a:latin typeface="宋体" panose="02010600030101010101" pitchFamily="2" charset="-122"/>
              </a:rPr>
              <a:t>位准双向</a:t>
            </a:r>
            <a:r>
              <a:rPr lang="en-US" altLang="zh-CN" sz="2000" b="1" dirty="0">
                <a:latin typeface="宋体" panose="02010600030101010101" pitchFamily="2" charset="-122"/>
              </a:rPr>
              <a:t>I/O</a:t>
            </a:r>
            <a:r>
              <a:rPr lang="zh-CN" altLang="en-US" sz="2000" b="1" dirty="0">
                <a:latin typeface="宋体" panose="02010600030101010101" pitchFamily="2" charset="-122"/>
              </a:rPr>
              <a:t>口。</a:t>
            </a:r>
          </a:p>
        </p:txBody>
      </p:sp>
      <p:sp>
        <p:nvSpPr>
          <p:cNvPr id="24583" name="Rectangle 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4584"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4585"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4586" name="Rectangle 1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4587" name="Rectangle 1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nvGrpSpPr>
          <p:cNvPr id="24588" name="Group 12"/>
          <p:cNvGrpSpPr/>
          <p:nvPr/>
        </p:nvGrpSpPr>
        <p:grpSpPr bwMode="auto">
          <a:xfrm>
            <a:off x="4470999" y="2270125"/>
            <a:ext cx="4673001" cy="2554288"/>
            <a:chOff x="0" y="-104"/>
            <a:chExt cx="2268" cy="1609"/>
          </a:xfrm>
          <a:solidFill>
            <a:srgbClr val="66CCFF"/>
          </a:solidFill>
        </p:grpSpPr>
        <p:sp>
          <p:nvSpPr>
            <p:cNvPr id="24590" name="Rectangle 13"/>
            <p:cNvSpPr>
              <a:spLocks noChangeArrowheads="1"/>
            </p:cNvSpPr>
            <p:nvPr/>
          </p:nvSpPr>
          <p:spPr bwMode="auto">
            <a:xfrm>
              <a:off x="0" y="-104"/>
              <a:ext cx="2268" cy="1609"/>
            </a:xfrm>
            <a:prstGeom prst="rect">
              <a:avLst/>
            </a:prstGeom>
            <a:grp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000" b="1" dirty="0">
                  <a:latin typeface="宋体" panose="02010600030101010101" pitchFamily="2" charset="-122"/>
                </a:rPr>
                <a:t>RST/</a:t>
              </a:r>
              <a:r>
                <a:rPr lang="en-US" altLang="zh-CN" sz="2000" b="1" dirty="0" err="1">
                  <a:latin typeface="宋体" panose="02010600030101010101" pitchFamily="2" charset="-122"/>
                </a:rPr>
                <a:t>Vpd</a:t>
              </a:r>
              <a:r>
                <a:rPr lang="zh-CN" altLang="en-US" sz="2000" b="1" dirty="0">
                  <a:latin typeface="宋体" panose="02010600030101010101" pitchFamily="2" charset="-122"/>
                </a:rPr>
                <a:t>：</a:t>
              </a:r>
              <a:r>
                <a:rPr lang="en-US" altLang="zh-CN" sz="2000" b="1" dirty="0">
                  <a:latin typeface="宋体" panose="02010600030101010101" pitchFamily="2" charset="-122"/>
                </a:rPr>
                <a:t>RST</a:t>
              </a:r>
              <a:r>
                <a:rPr lang="zh-CN" altLang="en-US" sz="2000" b="1" dirty="0">
                  <a:latin typeface="宋体" panose="02010600030101010101" pitchFamily="2" charset="-122"/>
                </a:rPr>
                <a:t>是复位信号输入端，</a:t>
              </a:r>
              <a:r>
                <a:rPr lang="en-US" altLang="zh-CN" sz="2000" b="1" dirty="0" err="1">
                  <a:latin typeface="宋体" panose="02010600030101010101" pitchFamily="2" charset="-122"/>
                </a:rPr>
                <a:t>Vpd</a:t>
              </a:r>
              <a:r>
                <a:rPr lang="zh-CN" altLang="en-US" sz="2000" b="1" dirty="0">
                  <a:latin typeface="宋体" panose="02010600030101010101" pitchFamily="2" charset="-122"/>
                </a:rPr>
                <a:t>是备用电源输入端； </a:t>
              </a:r>
            </a:p>
            <a:p>
              <a:pPr eaLnBrk="1" hangingPunct="1">
                <a:spcBef>
                  <a:spcPct val="0"/>
                </a:spcBef>
                <a:buFontTx/>
                <a:buNone/>
              </a:pPr>
              <a:r>
                <a:rPr lang="en-US" altLang="zh-CN" sz="2000" b="1" dirty="0">
                  <a:latin typeface="宋体" panose="02010600030101010101" pitchFamily="2" charset="-122"/>
                </a:rPr>
                <a:t>ALE/     </a:t>
              </a:r>
              <a:r>
                <a:rPr lang="zh-CN" altLang="en-US" sz="2000" b="1" dirty="0">
                  <a:latin typeface="宋体" panose="02010600030101010101" pitchFamily="2" charset="-122"/>
                </a:rPr>
                <a:t>：地址锁存允许信号输出端</a:t>
              </a:r>
              <a:r>
                <a:rPr lang="en-US" altLang="zh-CN" sz="2000" b="1" dirty="0">
                  <a:latin typeface="宋体" panose="02010600030101010101" pitchFamily="2" charset="-122"/>
                </a:rPr>
                <a:t>/</a:t>
              </a:r>
              <a:r>
                <a:rPr lang="zh-CN" altLang="en-US" sz="2000" b="1" dirty="0">
                  <a:latin typeface="宋体" panose="02010600030101010101" pitchFamily="2" charset="-122"/>
                </a:rPr>
                <a:t>编程脉冲输入； </a:t>
              </a:r>
            </a:p>
            <a:p>
              <a:pPr eaLnBrk="1" hangingPunct="1">
                <a:spcBef>
                  <a:spcPct val="0"/>
                </a:spcBef>
                <a:buFontTx/>
                <a:buNone/>
              </a:pPr>
              <a:r>
                <a:rPr lang="zh-CN" altLang="en-US" sz="2000" b="1" dirty="0">
                  <a:latin typeface="宋体" panose="02010600030101010101" pitchFamily="2" charset="-122"/>
                </a:rPr>
                <a:t>     ：输出访问外部</a:t>
              </a:r>
              <a:r>
                <a:rPr lang="en-US" altLang="zh-CN" sz="2000" b="1" dirty="0">
                  <a:latin typeface="宋体" panose="02010600030101010101" pitchFamily="2" charset="-122"/>
                </a:rPr>
                <a:t>ROM</a:t>
              </a:r>
              <a:r>
                <a:rPr lang="zh-CN" altLang="en-US" sz="2000" b="1" dirty="0">
                  <a:latin typeface="宋体" panose="02010600030101010101" pitchFamily="2" charset="-122"/>
                </a:rPr>
                <a:t>的读选通信号； </a:t>
              </a:r>
            </a:p>
            <a:p>
              <a:pPr eaLnBrk="1" hangingPunct="1">
                <a:spcBef>
                  <a:spcPct val="0"/>
                </a:spcBef>
                <a:buFontTx/>
                <a:buNone/>
              </a:pPr>
              <a:r>
                <a:rPr lang="zh-CN" altLang="en-US" sz="2000" b="1" dirty="0">
                  <a:latin typeface="宋体" panose="02010600030101010101" pitchFamily="2" charset="-122"/>
                </a:rPr>
                <a:t>   </a:t>
              </a:r>
              <a:r>
                <a:rPr lang="en-US" altLang="zh-CN" sz="2000" b="1" dirty="0">
                  <a:latin typeface="宋体" panose="02010600030101010101" pitchFamily="2" charset="-122"/>
                </a:rPr>
                <a:t>/</a:t>
              </a:r>
              <a:r>
                <a:rPr lang="en-US" altLang="zh-CN" sz="2000" b="1" dirty="0" err="1">
                  <a:latin typeface="宋体" panose="02010600030101010101" pitchFamily="2" charset="-122"/>
                </a:rPr>
                <a:t>Vpp</a:t>
              </a:r>
              <a:r>
                <a:rPr lang="zh-CN" altLang="en-US" sz="2000" b="1" dirty="0">
                  <a:latin typeface="宋体" panose="02010600030101010101" pitchFamily="2" charset="-122"/>
                </a:rPr>
                <a:t>：片外</a:t>
              </a:r>
              <a:r>
                <a:rPr lang="en-US" altLang="zh-CN" sz="2000" b="1" dirty="0">
                  <a:latin typeface="宋体" panose="02010600030101010101" pitchFamily="2" charset="-122"/>
                </a:rPr>
                <a:t>ROM</a:t>
              </a:r>
              <a:r>
                <a:rPr lang="zh-CN" altLang="en-US" sz="2000" b="1" dirty="0">
                  <a:latin typeface="宋体" panose="02010600030101010101" pitchFamily="2" charset="-122"/>
                </a:rPr>
                <a:t>允许访问</a:t>
              </a:r>
              <a:r>
                <a:rPr lang="en-US" altLang="zh-CN" sz="2000" b="1" dirty="0">
                  <a:latin typeface="宋体" panose="02010600030101010101" pitchFamily="2" charset="-122"/>
                </a:rPr>
                <a:t>/</a:t>
              </a:r>
              <a:r>
                <a:rPr lang="zh-CN" altLang="en-US" sz="2000" b="1" dirty="0">
                  <a:latin typeface="宋体" panose="02010600030101010101" pitchFamily="2" charset="-122"/>
                </a:rPr>
                <a:t>编程电源输入。 </a:t>
              </a:r>
            </a:p>
          </p:txBody>
        </p:sp>
        <p:grpSp>
          <p:nvGrpSpPr>
            <p:cNvPr id="24591" name="Group 14"/>
            <p:cNvGrpSpPr>
              <a:grpSpLocks noChangeAspect="1"/>
            </p:cNvGrpSpPr>
            <p:nvPr/>
          </p:nvGrpSpPr>
          <p:grpSpPr bwMode="auto">
            <a:xfrm>
              <a:off x="46" y="408"/>
              <a:ext cx="725" cy="778"/>
              <a:chOff x="0" y="0"/>
              <a:chExt cx="725" cy="778"/>
            </a:xfrm>
            <a:grpFill/>
          </p:grpSpPr>
          <p:graphicFrame>
            <p:nvGraphicFramePr>
              <p:cNvPr id="24592" name="Object 15"/>
              <p:cNvGraphicFramePr>
                <a:graphicFrameLocks noChangeAspect="1"/>
              </p:cNvGraphicFramePr>
              <p:nvPr/>
            </p:nvGraphicFramePr>
            <p:xfrm>
              <a:off x="317" y="0"/>
              <a:ext cx="408" cy="199"/>
            </p:xfrm>
            <a:graphic>
              <a:graphicData uri="http://schemas.openxmlformats.org/presentationml/2006/ole">
                <mc:AlternateContent xmlns:mc="http://schemas.openxmlformats.org/markup-compatibility/2006">
                  <mc:Choice xmlns:v="urn:schemas-microsoft-com:vml" Requires="v">
                    <p:oleObj spid="_x0000_s2067" r:id="rId3" imgW="393700" imgH="190500" progId="Equation.3">
                      <p:embed/>
                    </p:oleObj>
                  </mc:Choice>
                  <mc:Fallback>
                    <p:oleObj r:id="rId3" imgW="393700" imgH="190500" progId="Equation.3">
                      <p:embed/>
                      <p:pic>
                        <p:nvPicPr>
                          <p:cNvPr id="0"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 y="0"/>
                            <a:ext cx="408"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93" name="Object 16"/>
              <p:cNvGraphicFramePr>
                <a:graphicFrameLocks noChangeAspect="1"/>
              </p:cNvGraphicFramePr>
              <p:nvPr/>
            </p:nvGraphicFramePr>
            <p:xfrm>
              <a:off x="0" y="408"/>
              <a:ext cx="408" cy="209"/>
            </p:xfrm>
            <a:graphic>
              <a:graphicData uri="http://schemas.openxmlformats.org/presentationml/2006/ole">
                <mc:AlternateContent xmlns:mc="http://schemas.openxmlformats.org/markup-compatibility/2006">
                  <mc:Choice xmlns:v="urn:schemas-microsoft-com:vml" Requires="v">
                    <p:oleObj spid="_x0000_s2068" r:id="rId5" imgW="368935" imgH="190500" progId="Equation.3">
                      <p:embed/>
                    </p:oleObj>
                  </mc:Choice>
                  <mc:Fallback>
                    <p:oleObj r:id="rId5" imgW="368935" imgH="190500" progId="Equation.3">
                      <p:embed/>
                      <p:pic>
                        <p:nvPicPr>
                          <p:cNvPr id="0"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408"/>
                            <a:ext cx="408"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594" name="Object 17"/>
              <p:cNvGraphicFramePr>
                <a:graphicFrameLocks noChangeAspect="1"/>
              </p:cNvGraphicFramePr>
              <p:nvPr/>
            </p:nvGraphicFramePr>
            <p:xfrm>
              <a:off x="45" y="590"/>
              <a:ext cx="227" cy="188"/>
            </p:xfrm>
            <a:graphic>
              <a:graphicData uri="http://schemas.openxmlformats.org/presentationml/2006/ole">
                <mc:AlternateContent xmlns:mc="http://schemas.openxmlformats.org/markup-compatibility/2006">
                  <mc:Choice xmlns:v="urn:schemas-microsoft-com:vml" Requires="v">
                    <p:oleObj spid="_x0000_s2069" r:id="rId7" imgW="215900" imgH="177800" progId="Equation.3">
                      <p:embed/>
                    </p:oleObj>
                  </mc:Choice>
                  <mc:Fallback>
                    <p:oleObj r:id="rId7" imgW="215900" imgH="177800" progId="Equation.3">
                      <p:embed/>
                      <p:pic>
                        <p:nvPicPr>
                          <p:cNvPr id="0"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 y="590"/>
                            <a:ext cx="227"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pic>
        <p:nvPicPr>
          <p:cNvPr id="4" name="图片 3"/>
          <p:cNvPicPr>
            <a:picLocks noChangeAspect="1"/>
          </p:cNvPicPr>
          <p:nvPr/>
        </p:nvPicPr>
        <p:blipFill>
          <a:blip r:embed="rId9"/>
          <a:stretch>
            <a:fillRect/>
          </a:stretch>
        </p:blipFill>
        <p:spPr>
          <a:xfrm>
            <a:off x="410231" y="1165502"/>
            <a:ext cx="4050135" cy="4958891"/>
          </a:xfrm>
          <a:prstGeom prst="rect">
            <a:avLst/>
          </a:prstGeom>
        </p:spPr>
      </p:pic>
      <p:sp>
        <p:nvSpPr>
          <p:cNvPr id="19" name="Oval 5"/>
          <p:cNvSpPr>
            <a:spLocks noChangeArrowheads="1"/>
          </p:cNvSpPr>
          <p:nvPr/>
        </p:nvSpPr>
        <p:spPr bwMode="auto">
          <a:xfrm>
            <a:off x="3156065" y="1406350"/>
            <a:ext cx="792162" cy="2089150"/>
          </a:xfrm>
          <a:prstGeom prst="ellipse">
            <a:avLst/>
          </a:prstGeom>
          <a:noFill/>
          <a:ln w="3492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zh-CN" sz="1800"/>
          </a:p>
        </p:txBody>
      </p:sp>
      <p:sp>
        <p:nvSpPr>
          <p:cNvPr id="20" name="Oval 5"/>
          <p:cNvSpPr>
            <a:spLocks noChangeArrowheads="1"/>
          </p:cNvSpPr>
          <p:nvPr/>
        </p:nvSpPr>
        <p:spPr bwMode="auto">
          <a:xfrm>
            <a:off x="827088" y="1130096"/>
            <a:ext cx="792162" cy="2089150"/>
          </a:xfrm>
          <a:prstGeom prst="ellipse">
            <a:avLst/>
          </a:prstGeom>
          <a:noFill/>
          <a:ln w="34925">
            <a:solidFill>
              <a:srgbClr val="9900CC"/>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zh-CN" sz="1800"/>
          </a:p>
        </p:txBody>
      </p:sp>
      <p:sp>
        <p:nvSpPr>
          <p:cNvPr id="21" name="Oval 5"/>
          <p:cNvSpPr>
            <a:spLocks noChangeArrowheads="1"/>
          </p:cNvSpPr>
          <p:nvPr/>
        </p:nvSpPr>
        <p:spPr bwMode="auto">
          <a:xfrm>
            <a:off x="3273978" y="3981275"/>
            <a:ext cx="792162" cy="2089150"/>
          </a:xfrm>
          <a:prstGeom prst="ellipse">
            <a:avLst/>
          </a:prstGeom>
          <a:noFill/>
          <a:ln w="34925">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zh-CN" sz="1800"/>
          </a:p>
        </p:txBody>
      </p:sp>
      <p:sp>
        <p:nvSpPr>
          <p:cNvPr id="22" name="Oval 5"/>
          <p:cNvSpPr>
            <a:spLocks noChangeArrowheads="1"/>
          </p:cNvSpPr>
          <p:nvPr/>
        </p:nvSpPr>
        <p:spPr bwMode="auto">
          <a:xfrm>
            <a:off x="884293" y="3273425"/>
            <a:ext cx="792162" cy="2089150"/>
          </a:xfrm>
          <a:prstGeom prst="ellipse">
            <a:avLst/>
          </a:prstGeom>
          <a:noFill/>
          <a:ln w="34925">
            <a:solidFill>
              <a:srgbClr val="9966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zh-CN" sz="1800"/>
          </a:p>
        </p:txBody>
      </p:sp>
      <p:sp>
        <p:nvSpPr>
          <p:cNvPr id="23" name="Rectangle 5">
            <a:extLst>
              <a:ext uri="{FF2B5EF4-FFF2-40B4-BE49-F238E27FC236}">
                <a16:creationId xmlns:a16="http://schemas.microsoft.com/office/drawing/2014/main" id="{67A35AB7-8F00-48B9-A347-D5275083D41B}"/>
              </a:ext>
            </a:extLst>
          </p:cNvPr>
          <p:cNvSpPr>
            <a:spLocks noChangeArrowheads="1"/>
          </p:cNvSpPr>
          <p:nvPr/>
        </p:nvSpPr>
        <p:spPr bwMode="auto">
          <a:xfrm>
            <a:off x="3302794" y="6294534"/>
            <a:ext cx="65706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2400" b="1" dirty="0">
                <a:solidFill>
                  <a:srgbClr val="FF0000"/>
                </a:solidFill>
                <a:effectLst>
                  <a:outerShdw blurRad="38100" dist="38100" dir="2700000" algn="tl">
                    <a:srgbClr val="000000">
                      <a:alpha val="43137"/>
                    </a:srgbClr>
                  </a:outerShdw>
                </a:effectLst>
                <a:latin typeface="+mn-ea"/>
                <a:ea typeface="+mn-ea"/>
              </a:rPr>
              <a:t>P0</a:t>
            </a:r>
            <a:r>
              <a:rPr kumimoji="0" lang="zh-CN" altLang="en-US" sz="2400" b="1" dirty="0">
                <a:solidFill>
                  <a:srgbClr val="FF0000"/>
                </a:solidFill>
                <a:effectLst>
                  <a:outerShdw blurRad="38100" dist="38100" dir="2700000" algn="tl">
                    <a:srgbClr val="000000">
                      <a:alpha val="43137"/>
                    </a:srgbClr>
                  </a:outerShdw>
                </a:effectLst>
                <a:latin typeface="+mn-ea"/>
                <a:ea typeface="+mn-ea"/>
              </a:rPr>
              <a:t>口</a:t>
            </a:r>
            <a:r>
              <a:rPr kumimoji="0" lang="en-US" altLang="en-US" sz="1800" b="1" dirty="0">
                <a:solidFill>
                  <a:srgbClr val="FF0000"/>
                </a:solidFill>
                <a:effectLst>
                  <a:outerShdw blurRad="38100" dist="38100" dir="2700000" algn="tl">
                    <a:srgbClr val="000000">
                      <a:alpha val="43137"/>
                    </a:srgbClr>
                  </a:outerShdw>
                </a:effectLst>
                <a:latin typeface="+mn-ea"/>
                <a:ea typeface="+mn-ea"/>
              </a:rPr>
              <a:t>～</a:t>
            </a:r>
            <a:r>
              <a:rPr kumimoji="0" lang="en-US" altLang="zh-CN" sz="2400" b="1" dirty="0">
                <a:solidFill>
                  <a:srgbClr val="FF0000"/>
                </a:solidFill>
                <a:effectLst>
                  <a:outerShdw blurRad="38100" dist="38100" dir="2700000" algn="tl">
                    <a:srgbClr val="000000">
                      <a:alpha val="43137"/>
                    </a:srgbClr>
                  </a:outerShdw>
                </a:effectLst>
                <a:latin typeface="+mn-ea"/>
                <a:ea typeface="+mn-ea"/>
              </a:rPr>
              <a:t>P3</a:t>
            </a:r>
            <a:r>
              <a:rPr kumimoji="0" lang="zh-CN" altLang="en-US" sz="2400" b="1" dirty="0">
                <a:solidFill>
                  <a:srgbClr val="FF0000"/>
                </a:solidFill>
                <a:effectLst>
                  <a:outerShdw blurRad="38100" dist="38100" dir="2700000" algn="tl">
                    <a:srgbClr val="000000">
                      <a:alpha val="43137"/>
                    </a:srgbClr>
                  </a:outerShdw>
                </a:effectLst>
                <a:latin typeface="+mn-ea"/>
                <a:ea typeface="+mn-ea"/>
              </a:rPr>
              <a:t>口是单片机对外联络的重要通道</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up)">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up)">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up)">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up)">
                                      <p:cBhvr>
                                        <p:cTn id="2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5"/>
          <p:cNvSpPr txBox="1">
            <a:spLocks noChangeArrowheads="1"/>
          </p:cNvSpPr>
          <p:nvPr/>
        </p:nvSpPr>
        <p:spPr bwMode="auto">
          <a:xfrm>
            <a:off x="946918" y="1168741"/>
            <a:ext cx="37195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dirty="0">
                <a:effectLst>
                  <a:outerShdw blurRad="38100" dist="38100" dir="2700000" algn="tl">
                    <a:srgbClr val="000000">
                      <a:alpha val="43137"/>
                    </a:srgbClr>
                  </a:outerShdw>
                </a:effectLst>
              </a:rPr>
              <a:t>最简单的单片机电路图</a:t>
            </a:r>
          </a:p>
        </p:txBody>
      </p:sp>
      <p:pic>
        <p:nvPicPr>
          <p:cNvPr id="48131" name="Picture 6" descr="原理图练习"/>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18449" t="18015" r="31190" b="22797"/>
          <a:stretch>
            <a:fillRect/>
          </a:stretch>
        </p:blipFill>
        <p:spPr bwMode="auto">
          <a:xfrm>
            <a:off x="1971882" y="1737596"/>
            <a:ext cx="5552446" cy="4586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5"/>
          <p:cNvSpPr txBox="1">
            <a:spLocks noChangeArrowheads="1"/>
          </p:cNvSpPr>
          <p:nvPr/>
        </p:nvSpPr>
        <p:spPr bwMode="auto">
          <a:xfrm>
            <a:off x="4900946" y="1587289"/>
            <a:ext cx="251703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dirty="0">
                <a:solidFill>
                  <a:srgbClr val="FF0000"/>
                </a:solidFill>
              </a:rPr>
              <a:t>内部时钟方式电路</a:t>
            </a:r>
          </a:p>
        </p:txBody>
      </p:sp>
      <p:sp>
        <p:nvSpPr>
          <p:cNvPr id="6" name="Text Box 5"/>
          <p:cNvSpPr txBox="1">
            <a:spLocks noChangeArrowheads="1"/>
          </p:cNvSpPr>
          <p:nvPr/>
        </p:nvSpPr>
        <p:spPr bwMode="auto">
          <a:xfrm>
            <a:off x="806246" y="2868304"/>
            <a:ext cx="171616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1800" dirty="0">
                <a:solidFill>
                  <a:srgbClr val="FF0000"/>
                </a:solidFill>
              </a:rPr>
              <a:t>复合复位电路</a:t>
            </a:r>
          </a:p>
        </p:txBody>
      </p:sp>
      <p:sp>
        <p:nvSpPr>
          <p:cNvPr id="7" name="Text Box 5"/>
          <p:cNvSpPr txBox="1">
            <a:spLocks noChangeArrowheads="1"/>
          </p:cNvSpPr>
          <p:nvPr/>
        </p:nvSpPr>
        <p:spPr bwMode="auto">
          <a:xfrm>
            <a:off x="3491880" y="5157192"/>
            <a:ext cx="16684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1800" dirty="0">
                <a:solidFill>
                  <a:srgbClr val="FF0000"/>
                </a:solidFill>
              </a:rPr>
              <a:t>选择片内</a:t>
            </a:r>
            <a:r>
              <a:rPr lang="en-US" altLang="zh-CN" sz="1800" dirty="0">
                <a:solidFill>
                  <a:srgbClr val="FF0000"/>
                </a:solidFill>
              </a:rPr>
              <a:t>ROM</a:t>
            </a:r>
            <a:endParaRPr lang="zh-CN" altLang="en-US" sz="1800" dirty="0">
              <a:solidFill>
                <a:srgbClr val="FF0000"/>
              </a:solidFill>
            </a:endParaRPr>
          </a:p>
        </p:txBody>
      </p:sp>
      <p:cxnSp>
        <p:nvCxnSpPr>
          <p:cNvPr id="3" name="直接箭头连接符 2"/>
          <p:cNvCxnSpPr/>
          <p:nvPr/>
        </p:nvCxnSpPr>
        <p:spPr bwMode="auto">
          <a:xfrm flipV="1">
            <a:off x="4139994" y="4402822"/>
            <a:ext cx="528733" cy="75437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1" name="Text Box 5"/>
          <p:cNvSpPr txBox="1">
            <a:spLocks noChangeArrowheads="1"/>
          </p:cNvSpPr>
          <p:nvPr/>
        </p:nvSpPr>
        <p:spPr bwMode="auto">
          <a:xfrm>
            <a:off x="5940152" y="5980922"/>
            <a:ext cx="106869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1800" dirty="0">
                <a:solidFill>
                  <a:srgbClr val="FF0000"/>
                </a:solidFill>
              </a:rPr>
              <a:t>80C51</a:t>
            </a:r>
            <a:endParaRPr lang="zh-CN" altLang="en-US" sz="1800" dirty="0">
              <a:solidFill>
                <a:srgbClr val="FF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539750" y="249238"/>
            <a:ext cx="43926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3200" b="1" dirty="0">
                <a:solidFill>
                  <a:srgbClr val="0000FF"/>
                </a:solidFill>
                <a:effectLst>
                  <a:outerShdw blurRad="38100" dist="38100" dir="2700000" algn="tl">
                    <a:srgbClr val="C0C0C0"/>
                  </a:outerShdw>
                </a:effectLst>
                <a:latin typeface="楷体_GB2312" pitchFamily="49" charset="-122"/>
                <a:ea typeface="楷体_GB2312" pitchFamily="49" charset="-122"/>
              </a:rPr>
              <a:t>片外总线结构</a:t>
            </a:r>
          </a:p>
        </p:txBody>
      </p:sp>
      <p:pic>
        <p:nvPicPr>
          <p:cNvPr id="25603" name="Picture 3" descr="GIF014">
            <a:hlinkClick r:id="rId2" action="ppaction://hlinksldjump"/>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6408738"/>
            <a:ext cx="762000"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4" name="Picture 4"/>
          <p:cNvPicPr>
            <a:picLocks noChangeAspect="1" noChangeArrowheads="1"/>
          </p:cNvPicPr>
          <p:nvPr/>
        </p:nvPicPr>
        <p:blipFill>
          <a:blip r:embed="rId4">
            <a:lum bright="-18000" contrast="24000"/>
            <a:extLst>
              <a:ext uri="{28A0092B-C50C-407E-A947-70E740481C1C}">
                <a14:useLocalDpi xmlns:a14="http://schemas.microsoft.com/office/drawing/2010/main" val="0"/>
              </a:ext>
            </a:extLst>
          </a:blip>
          <a:srcRect/>
          <a:stretch>
            <a:fillRect/>
          </a:stretch>
        </p:blipFill>
        <p:spPr bwMode="auto">
          <a:xfrm>
            <a:off x="0" y="836613"/>
            <a:ext cx="9144000" cy="602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21" name="Oval 5"/>
          <p:cNvSpPr>
            <a:spLocks noChangeArrowheads="1"/>
          </p:cNvSpPr>
          <p:nvPr/>
        </p:nvSpPr>
        <p:spPr bwMode="auto">
          <a:xfrm>
            <a:off x="3376613" y="3068638"/>
            <a:ext cx="792162" cy="2089150"/>
          </a:xfrm>
          <a:prstGeom prst="ellipse">
            <a:avLst/>
          </a:prstGeom>
          <a:noFill/>
          <a:ln w="34925">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zh-CN" sz="1800"/>
          </a:p>
        </p:txBody>
      </p:sp>
      <p:sp>
        <p:nvSpPr>
          <p:cNvPr id="9222" name="Text Box 6"/>
          <p:cNvSpPr txBox="1">
            <a:spLocks noChangeArrowheads="1"/>
          </p:cNvSpPr>
          <p:nvPr/>
        </p:nvSpPr>
        <p:spPr bwMode="auto">
          <a:xfrm>
            <a:off x="6948488" y="5300663"/>
            <a:ext cx="1727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2800" b="1">
                <a:solidFill>
                  <a:srgbClr val="FF0000"/>
                </a:solidFill>
                <a:effectLst>
                  <a:outerShdw blurRad="38100" dist="38100" dir="2700000" algn="tl">
                    <a:srgbClr val="C0C0C0"/>
                  </a:outerShdw>
                </a:effectLst>
                <a:ea typeface="隶书" pitchFamily="49" charset="-122"/>
              </a:rPr>
              <a:t>数据总线</a:t>
            </a:r>
          </a:p>
        </p:txBody>
      </p:sp>
      <p:sp>
        <p:nvSpPr>
          <p:cNvPr id="9223" name="Oval 7"/>
          <p:cNvSpPr>
            <a:spLocks noChangeArrowheads="1"/>
          </p:cNvSpPr>
          <p:nvPr/>
        </p:nvSpPr>
        <p:spPr bwMode="auto">
          <a:xfrm>
            <a:off x="3375025" y="981075"/>
            <a:ext cx="792163" cy="4319588"/>
          </a:xfrm>
          <a:prstGeom prst="ellipse">
            <a:avLst/>
          </a:prstGeom>
          <a:noFill/>
          <a:ln w="34925">
            <a:solidFill>
              <a:srgbClr val="7513D7"/>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zh-CN" sz="1800"/>
          </a:p>
        </p:txBody>
      </p:sp>
      <p:sp>
        <p:nvSpPr>
          <p:cNvPr id="9224" name="Text Box 8"/>
          <p:cNvSpPr txBox="1">
            <a:spLocks noChangeArrowheads="1"/>
          </p:cNvSpPr>
          <p:nvPr/>
        </p:nvSpPr>
        <p:spPr bwMode="auto">
          <a:xfrm>
            <a:off x="6443663" y="2060575"/>
            <a:ext cx="1727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2800" b="1">
                <a:solidFill>
                  <a:srgbClr val="7513D7"/>
                </a:solidFill>
                <a:effectLst>
                  <a:outerShdw blurRad="38100" dist="38100" dir="2700000" algn="tl">
                    <a:srgbClr val="C0C0C0"/>
                  </a:outerShdw>
                </a:effectLst>
                <a:ea typeface="隶书" pitchFamily="49" charset="-122"/>
              </a:rPr>
              <a:t>地址总线</a:t>
            </a:r>
          </a:p>
        </p:txBody>
      </p:sp>
      <p:sp>
        <p:nvSpPr>
          <p:cNvPr id="9225" name="Oval 9"/>
          <p:cNvSpPr>
            <a:spLocks noChangeArrowheads="1"/>
          </p:cNvSpPr>
          <p:nvPr/>
        </p:nvSpPr>
        <p:spPr bwMode="auto">
          <a:xfrm>
            <a:off x="2051050" y="3068638"/>
            <a:ext cx="936625" cy="3384550"/>
          </a:xfrm>
          <a:prstGeom prst="ellipse">
            <a:avLst/>
          </a:prstGeom>
          <a:noFill/>
          <a:ln w="34925">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zh-CN" sz="1800"/>
          </a:p>
        </p:txBody>
      </p:sp>
      <p:sp>
        <p:nvSpPr>
          <p:cNvPr id="9226" name="Text Box 10"/>
          <p:cNvSpPr txBox="1">
            <a:spLocks noChangeArrowheads="1"/>
          </p:cNvSpPr>
          <p:nvPr/>
        </p:nvSpPr>
        <p:spPr bwMode="auto">
          <a:xfrm>
            <a:off x="539750" y="3860800"/>
            <a:ext cx="1727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2800" b="1">
                <a:solidFill>
                  <a:srgbClr val="0000FF"/>
                </a:solidFill>
                <a:effectLst>
                  <a:outerShdw blurRad="38100" dist="38100" dir="2700000" algn="tl">
                    <a:srgbClr val="C0C0C0"/>
                  </a:outerShdw>
                </a:effectLst>
                <a:ea typeface="隶书" pitchFamily="49" charset="-122"/>
              </a:rPr>
              <a:t>控制总线</a:t>
            </a:r>
          </a:p>
        </p:txBody>
      </p:sp>
      <p:sp>
        <p:nvSpPr>
          <p:cNvPr id="11" name="Rectangle 5"/>
          <p:cNvSpPr>
            <a:spLocks noChangeArrowheads="1"/>
          </p:cNvSpPr>
          <p:nvPr/>
        </p:nvSpPr>
        <p:spPr bwMode="auto">
          <a:xfrm>
            <a:off x="1042988" y="6400800"/>
            <a:ext cx="5761037" cy="457200"/>
          </a:xfrm>
          <a:prstGeom prst="rect">
            <a:avLst/>
          </a:prstGeom>
          <a:solidFill>
            <a:srgbClr val="FFC000"/>
          </a:solidFill>
          <a:ln>
            <a:noFill/>
          </a:ln>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r>
              <a:rPr kumimoji="0"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P0</a:t>
            </a:r>
            <a:r>
              <a:rPr kumimoji="0" lang="en-US" altLang="en-US" sz="18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r>
              <a:rPr kumimoji="0" lang="en-US" altLang="zh-CN"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P3</a:t>
            </a:r>
            <a:r>
              <a:rPr kumimoji="0" lang="zh-CN" altLang="en-US" sz="24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口是单片机对外联络的重要通道</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221"/>
                                        </p:tgtEl>
                                        <p:attrNameLst>
                                          <p:attrName>style.visibility</p:attrName>
                                        </p:attrNameLst>
                                      </p:cBhvr>
                                      <p:to>
                                        <p:strVal val="visible"/>
                                      </p:to>
                                    </p:set>
                                    <p:animEffect transition="in" filter="wipe(up)">
                                      <p:cBhvr>
                                        <p:cTn id="7" dur="500"/>
                                        <p:tgtEl>
                                          <p:spTgt spid="9221"/>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9222"/>
                                        </p:tgtEl>
                                        <p:attrNameLst>
                                          <p:attrName>style.visibility</p:attrName>
                                        </p:attrNameLst>
                                      </p:cBhvr>
                                      <p:to>
                                        <p:strVal val="visible"/>
                                      </p:to>
                                    </p:set>
                                    <p:animEffect transition="in" filter="wipe(up)">
                                      <p:cBhvr>
                                        <p:cTn id="10" dur="500"/>
                                        <p:tgtEl>
                                          <p:spTgt spid="922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grpId="0" nodeType="clickEffect">
                                  <p:stCondLst>
                                    <p:cond delay="0"/>
                                  </p:stCondLst>
                                  <p:childTnLst>
                                    <p:set>
                                      <p:cBhvr>
                                        <p:cTn id="14" dur="1" fill="hold">
                                          <p:stCondLst>
                                            <p:cond delay="0"/>
                                          </p:stCondLst>
                                        </p:cTn>
                                        <p:tgtEl>
                                          <p:spTgt spid="9223"/>
                                        </p:tgtEl>
                                        <p:attrNameLst>
                                          <p:attrName>style.visibility</p:attrName>
                                        </p:attrNameLst>
                                      </p:cBhvr>
                                      <p:to>
                                        <p:strVal val="visible"/>
                                      </p:to>
                                    </p:set>
                                    <p:animEffect transition="in" filter="wipe(up)">
                                      <p:cBhvr>
                                        <p:cTn id="15" dur="500"/>
                                        <p:tgtEl>
                                          <p:spTgt spid="9223"/>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9224"/>
                                        </p:tgtEl>
                                        <p:attrNameLst>
                                          <p:attrName>style.visibility</p:attrName>
                                        </p:attrNameLst>
                                      </p:cBhvr>
                                      <p:to>
                                        <p:strVal val="visible"/>
                                      </p:to>
                                    </p:set>
                                    <p:animEffect transition="in" filter="wipe(up)">
                                      <p:cBhvr>
                                        <p:cTn id="18" dur="500"/>
                                        <p:tgtEl>
                                          <p:spTgt spid="922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9225"/>
                                        </p:tgtEl>
                                        <p:attrNameLst>
                                          <p:attrName>style.visibility</p:attrName>
                                        </p:attrNameLst>
                                      </p:cBhvr>
                                      <p:to>
                                        <p:strVal val="visible"/>
                                      </p:to>
                                    </p:set>
                                    <p:animEffect transition="in" filter="wipe(up)">
                                      <p:cBhvr>
                                        <p:cTn id="23" dur="500"/>
                                        <p:tgtEl>
                                          <p:spTgt spid="9225"/>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9226"/>
                                        </p:tgtEl>
                                        <p:attrNameLst>
                                          <p:attrName>style.visibility</p:attrName>
                                        </p:attrNameLst>
                                      </p:cBhvr>
                                      <p:to>
                                        <p:strVal val="visible"/>
                                      </p:to>
                                    </p:set>
                                    <p:animEffect transition="in" filter="wipe(up)">
                                      <p:cBhvr>
                                        <p:cTn id="26" dur="500"/>
                                        <p:tgtEl>
                                          <p:spTgt spid="9226"/>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blinds(horizontal)">
                                      <p:cBhvr>
                                        <p:cTn id="3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1" grpId="0" animBg="1"/>
      <p:bldP spid="9222" grpId="0"/>
      <p:bldP spid="9223" grpId="0" animBg="1"/>
      <p:bldP spid="9224" grpId="0"/>
      <p:bldP spid="9225" grpId="0" animBg="1"/>
      <p:bldP spid="9226" grpId="0"/>
      <p:bldP spid="11"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DlhNzhkNzI3NzgzMjVmNTVjOTdmNzdiNmViZTJjM2MifQ=="/>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TotalTime>
  <Words>2203</Words>
  <Application>Microsoft Office PowerPoint</Application>
  <PresentationFormat>全屏显示(4:3)</PresentationFormat>
  <Paragraphs>436</Paragraphs>
  <Slides>26</Slides>
  <Notes>2</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vt:i4>
      </vt:variant>
      <vt:variant>
        <vt:lpstr>幻灯片标题</vt:lpstr>
      </vt:variant>
      <vt:variant>
        <vt:i4>26</vt:i4>
      </vt:variant>
    </vt:vector>
  </HeadingPairs>
  <TitlesOfParts>
    <vt:vector size="43" baseType="lpstr">
      <vt:lpstr>仿宋</vt:lpstr>
      <vt:lpstr>黑体</vt:lpstr>
      <vt:lpstr>华文楷体</vt:lpstr>
      <vt:lpstr>华文新魏</vt:lpstr>
      <vt:lpstr>楷体</vt:lpstr>
      <vt:lpstr>楷体_GB2312</vt:lpstr>
      <vt:lpstr>隶书</vt:lpstr>
      <vt:lpstr>宋体</vt:lpstr>
      <vt:lpstr>Arial</vt:lpstr>
      <vt:lpstr>Arial Black</vt:lpstr>
      <vt:lpstr>Calibri</vt:lpstr>
      <vt:lpstr>Times New Roman</vt:lpstr>
      <vt:lpstr>Verdana</vt:lpstr>
      <vt:lpstr>Wingdings</vt:lpstr>
      <vt:lpstr>默认设计模板</vt:lpstr>
      <vt:lpstr>Visio</vt:lpstr>
      <vt:lpstr>Microsoft 公式 3.0</vt:lpstr>
      <vt:lpstr>PowerPoint 演示文稿</vt:lpstr>
      <vt:lpstr>PowerPoint 演示文稿</vt:lpstr>
      <vt:lpstr>2.1  单片机的基本结构</vt:lpstr>
      <vt:lpstr>PowerPoint 演示文稿</vt:lpstr>
      <vt:lpstr>结构框图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Lenovo (Beijing)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Lenovo User</dc:creator>
  <cp:lastModifiedBy>admin</cp:lastModifiedBy>
  <cp:revision>94</cp:revision>
  <dcterms:created xsi:type="dcterms:W3CDTF">2013-01-22T02:28:00Z</dcterms:created>
  <dcterms:modified xsi:type="dcterms:W3CDTF">2025-02-23T02:26:44Z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A883307F56B045558C9E8CA23DE10E82</vt:lpwstr>
  </property>
  <property fmtid="{D5CDD505-2E9C-101B-9397-08002B2CF9AE}" pid="3" name="KSOProductBuildVer">
    <vt:lpwstr>2052-11.1.0.12313</vt:lpwstr>
  </property>
</Properties>
</file>