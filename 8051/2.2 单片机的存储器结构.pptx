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80" r:id="rId2"/>
    <p:sldId id="992" r:id="rId3"/>
    <p:sldId id="260" r:id="rId4"/>
    <p:sldId id="989" r:id="rId5"/>
    <p:sldId id="990" r:id="rId6"/>
    <p:sldId id="991" r:id="rId7"/>
    <p:sldId id="323" r:id="rId8"/>
    <p:sldId id="324" r:id="rId9"/>
    <p:sldId id="276" r:id="rId10"/>
    <p:sldId id="277" r:id="rId11"/>
    <p:sldId id="385" r:id="rId12"/>
    <p:sldId id="988" r:id="rId13"/>
    <p:sldId id="278" r:id="rId14"/>
    <p:sldId id="279" r:id="rId15"/>
    <p:sldId id="280" r:id="rId16"/>
    <p:sldId id="281" r:id="rId17"/>
    <p:sldId id="282" r:id="rId18"/>
    <p:sldId id="331" r:id="rId19"/>
    <p:sldId id="283" r:id="rId20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6600"/>
    <a:srgbClr val="FF00FF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59386F0-230F-4975-AB91-178F679F0C58}" type="datetimeFigureOut">
              <a:rPr lang="zh-CN" altLang="en-US"/>
              <a:t>2025/2/25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F7824DAC-1E4C-4077-AAC5-613892205A5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869F8-5E4C-4DD0-AE52-AC5FFB09E2D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395288" y="1052513"/>
            <a:ext cx="8424862" cy="73025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563EEC-E661-4F7E-8870-406401F604E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A6BCD0-4046-4A66-96F2-B2300F799C3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91A59D-2460-49A2-93EC-ECE2AF89C83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382B7-2173-4854-8123-7DC164E07E8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6CDD41-C402-4113-8EDB-2633644133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95288" y="1052513"/>
            <a:ext cx="8424862" cy="73025"/>
          </a:xfrm>
          <a:prstGeom prst="rect">
            <a:avLst/>
          </a:prstGeom>
          <a:gradFill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D7FB83-463C-4EE6-A05C-42CC0972B8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0B26DD-A244-4022-BB81-210E06BA080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E6F3A-F20A-4C1F-9544-98B0DB1B4BD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0B01E0-951C-42F3-B2DE-0E66F754C9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E29820-F325-49AB-8665-C03429FC1AA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23C74C38-0135-4D69-9005-EB74E55D972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24934" name="Text Box 7"/>
          <p:cNvSpPr txBox="1">
            <a:spLocks noChangeArrowheads="1"/>
          </p:cNvSpPr>
          <p:nvPr/>
        </p:nvSpPr>
        <p:spPr bwMode="auto">
          <a:xfrm>
            <a:off x="2054225" y="1941513"/>
            <a:ext cx="6622231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单片机的基本结构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单片机的存储器结构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单片机的复位与时序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单片机并行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 </a:t>
            </a:r>
          </a:p>
        </p:txBody>
      </p:sp>
      <p:sp>
        <p:nvSpPr>
          <p:cNvPr id="3079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MCS-51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单片机的结构组成</a:t>
            </a:r>
            <a:endParaRPr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1249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7584" y="421504"/>
            <a:ext cx="6552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主要内容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99592" y="1484784"/>
            <a:ext cx="7992888" cy="4513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复习单片机内部结构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存储器的作用？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存储器划分方法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51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单片机的存储器结构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区分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个物理存储空间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/3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个逻辑存储空间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程序存储器的两种访问方案（</a:t>
            </a: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/EA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的使用）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数据存储器的分工</a:t>
            </a: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lnSpc>
                <a:spcPct val="114000"/>
              </a:lnSpc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331640" y="1484784"/>
            <a:ext cx="4392488" cy="5040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E5FFE5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2627313" y="287338"/>
            <a:ext cx="4103687" cy="78105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0033CC"/>
                </a:solidFill>
              </a:rPr>
              <a:t>结构框图</a:t>
            </a:r>
          </a:p>
        </p:txBody>
      </p:sp>
      <p:grpSp>
        <p:nvGrpSpPr>
          <p:cNvPr id="9220" name="Group 4"/>
          <p:cNvGrpSpPr/>
          <p:nvPr/>
        </p:nvGrpSpPr>
        <p:grpSpPr bwMode="auto">
          <a:xfrm>
            <a:off x="395288" y="692150"/>
            <a:ext cx="8569325" cy="5761038"/>
            <a:chOff x="332" y="935"/>
            <a:chExt cx="5088" cy="3128"/>
          </a:xfrm>
        </p:grpSpPr>
        <p:graphicFrame>
          <p:nvGraphicFramePr>
            <p:cNvPr id="9222" name="Object 5"/>
            <p:cNvGraphicFramePr>
              <a:graphicFrameLocks noChangeAspect="1"/>
            </p:cNvGraphicFramePr>
            <p:nvPr/>
          </p:nvGraphicFramePr>
          <p:xfrm>
            <a:off x="332" y="935"/>
            <a:ext cx="5088" cy="3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Visio" r:id="rId3" imgW="4227830" imgH="2399030" progId="Visio.Drawing.6">
                    <p:embed/>
                  </p:oleObj>
                </mc:Choice>
                <mc:Fallback>
                  <p:oleObj name="Visio" r:id="rId3" imgW="4227830" imgH="2399030" progId="Visio.Drawing.6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" y="935"/>
                          <a:ext cx="5088" cy="3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3" name="Text Box 6"/>
            <p:cNvSpPr txBox="1">
              <a:spLocks noChangeArrowheads="1"/>
            </p:cNvSpPr>
            <p:nvPr/>
          </p:nvSpPr>
          <p:spPr bwMode="auto">
            <a:xfrm>
              <a:off x="1882" y="1414"/>
              <a:ext cx="635" cy="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/>
                <a:t>8031</a:t>
              </a:r>
              <a:r>
                <a:rPr lang="zh-CN" altLang="en-US" sz="1800" b="1" dirty="0"/>
                <a:t>无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3072" y="1382"/>
              <a:ext cx="743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t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/>
                <a:t>SFR/RAM</a:t>
              </a:r>
              <a:endParaRPr lang="zh-CN" altLang="en-US" sz="1800" b="1" dirty="0"/>
            </a:p>
          </p:txBody>
        </p:sp>
      </p:grp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2.1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 单片机的基本结构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2040" y="1920607"/>
            <a:ext cx="1368152" cy="384721"/>
          </a:xfrm>
          <a:prstGeom prst="rect">
            <a:avLst/>
          </a:prstGeom>
          <a:solidFill>
            <a:srgbClr val="FFFF99"/>
          </a:solidFill>
        </p:spPr>
        <p:txBody>
          <a:bodyPr wrap="square" lIns="0" rIns="0" bIns="0" rtlCol="0">
            <a:spAutoFit/>
          </a:bodyPr>
          <a:lstStyle/>
          <a:p>
            <a:pPr algn="ctr"/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256B</a:t>
            </a:r>
            <a:endParaRPr lang="zh-CN" altLang="en-US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思   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在计算机中存储器有哪些作用？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573016"/>
            <a:ext cx="1878856" cy="1848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56" y="188481"/>
            <a:ext cx="7992888" cy="6481037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187624" y="980728"/>
            <a:ext cx="11521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331640" y="2564904"/>
            <a:ext cx="40324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259632" y="3400719"/>
            <a:ext cx="40324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331640" y="4581128"/>
            <a:ext cx="43204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331640" y="5445224"/>
            <a:ext cx="70567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259632" y="6309320"/>
            <a:ext cx="70567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75556" y="6669518"/>
            <a:ext cx="26282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27584" y="421504"/>
            <a:ext cx="655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存储器按在计算机中的作用分类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6B10F3-750A-4D2F-8A5A-AB92E2050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82" y="1340768"/>
            <a:ext cx="7771706" cy="4968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650875" y="571500"/>
            <a:ext cx="3068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存储器划分方法</a:t>
            </a: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8679" name="Rectangle 8"/>
          <p:cNvSpPr>
            <a:spLocks noChangeAspect="1" noChangeArrowheads="1"/>
          </p:cNvSpPr>
          <p:nvPr/>
        </p:nvSpPr>
        <p:spPr bwMode="auto">
          <a:xfrm>
            <a:off x="731838" y="1106488"/>
            <a:ext cx="7897812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计算机</a:t>
            </a:r>
            <a:r>
              <a:rPr kumimoji="1" lang="zh-CN" altLang="en-US" sz="28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存储器地址空间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的两种结构形式：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普林斯顿结构（冯</a:t>
            </a:r>
            <a:r>
              <a:rPr kumimoji="1"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·</a:t>
            </a:r>
            <a:r>
              <a:rPr kumimoji="1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诺依曼结构）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kumimoji="1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哈佛结构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125961" name="Picture 10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1E1E1"/>
              </a:clrFrom>
              <a:clrTo>
                <a:srgbClr val="E1E1E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11"/>
          <a:stretch>
            <a:fillRect/>
          </a:stretch>
        </p:blipFill>
        <p:spPr bwMode="auto">
          <a:xfrm>
            <a:off x="498475" y="2276475"/>
            <a:ext cx="3133725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62" name="Text Box 11"/>
          <p:cNvSpPr txBox="1">
            <a:spLocks noChangeArrowheads="1"/>
          </p:cNvSpPr>
          <p:nvPr/>
        </p:nvSpPr>
        <p:spPr bwMode="auto">
          <a:xfrm>
            <a:off x="684213" y="5497513"/>
            <a:ext cx="3227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RAM</a:t>
            </a:r>
            <a:r>
              <a:rPr kumimoji="1"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ROM</a:t>
            </a:r>
            <a:r>
              <a:rPr kumimoji="1"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统一编址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25963" name="Text Box 12"/>
          <p:cNvSpPr txBox="1">
            <a:spLocks noChangeArrowheads="1"/>
          </p:cNvSpPr>
          <p:nvPr/>
        </p:nvSpPr>
        <p:spPr bwMode="auto">
          <a:xfrm>
            <a:off x="4833143" y="5492752"/>
            <a:ext cx="3227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RAM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ROM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分别编址 </a:t>
            </a:r>
          </a:p>
        </p:txBody>
      </p:sp>
      <p:pic>
        <p:nvPicPr>
          <p:cNvPr id="125964" name="Picture 1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1E1E1"/>
              </a:clrFrom>
              <a:clrTo>
                <a:srgbClr val="E1E1E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80"/>
          <a:stretch>
            <a:fillRect/>
          </a:stretch>
        </p:blipFill>
        <p:spPr bwMode="auto">
          <a:xfrm>
            <a:off x="4114800" y="2276475"/>
            <a:ext cx="4664075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23528" y="5949952"/>
            <a:ext cx="417646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8086</a:t>
            </a:r>
            <a:r>
              <a:rPr kumimoji="1" lang="zh-CN" altLang="en-US" sz="2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、奔腾、</a:t>
            </a:r>
            <a:r>
              <a:rPr kumimoji="1" lang="en-US" altLang="zh-CN" sz="2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ARM7</a:t>
            </a:r>
            <a:r>
              <a:rPr kumimoji="1" lang="zh-CN" altLang="en-US" sz="22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等微处理器</a:t>
            </a:r>
            <a:endParaRPr kumimoji="1"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4833143" y="5934119"/>
            <a:ext cx="431085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51</a:t>
            </a:r>
            <a:r>
              <a:rPr kumimoji="1" lang="zh-CN" alt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单片机、</a:t>
            </a:r>
            <a:r>
              <a:rPr kumimoji="1" lang="en-US" altLang="zh-CN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AVR</a:t>
            </a:r>
            <a:r>
              <a:rPr kumimoji="1" lang="zh-CN" alt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系列等微处理器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2" grpId="0"/>
      <p:bldP spid="12596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27654" name="Picture 6" descr="单片机插图01-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0"/>
          <a:stretch>
            <a:fillRect/>
          </a:stretch>
        </p:blipFill>
        <p:spPr bwMode="auto">
          <a:xfrm>
            <a:off x="-130175" y="1954213"/>
            <a:ext cx="5559425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Text Box 24"/>
          <p:cNvSpPr txBox="1">
            <a:spLocks noChangeArrowheads="1"/>
          </p:cNvSpPr>
          <p:nvPr/>
        </p:nvSpPr>
        <p:spPr bwMode="auto">
          <a:xfrm>
            <a:off x="2124075" y="5661025"/>
            <a:ext cx="121920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程序存储器</a:t>
            </a:r>
            <a:r>
              <a:rPr kumimoji="1"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ROM</a:t>
            </a:r>
          </a:p>
        </p:txBody>
      </p:sp>
      <p:sp>
        <p:nvSpPr>
          <p:cNvPr id="27656" name="Text Box 25"/>
          <p:cNvSpPr txBox="1">
            <a:spLocks noChangeArrowheads="1"/>
          </p:cNvSpPr>
          <p:nvPr/>
        </p:nvSpPr>
        <p:spPr bwMode="auto">
          <a:xfrm>
            <a:off x="3851275" y="5661025"/>
            <a:ext cx="122555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数据存储器</a:t>
            </a:r>
            <a:r>
              <a:rPr kumimoji="1"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RAM</a:t>
            </a:r>
          </a:p>
        </p:txBody>
      </p:sp>
      <p:sp>
        <p:nvSpPr>
          <p:cNvPr id="27657" name="Rectangle 2"/>
          <p:cNvSpPr>
            <a:spLocks noChangeAspect="1" noChangeArrowheads="1"/>
          </p:cNvSpPr>
          <p:nvPr/>
        </p:nvSpPr>
        <p:spPr bwMode="auto">
          <a:xfrm>
            <a:off x="222356" y="668416"/>
            <a:ext cx="81978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51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单片机采用</a:t>
            </a:r>
            <a:r>
              <a:rPr kumimoji="1"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哈佛结构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，共有</a:t>
            </a:r>
            <a:r>
              <a:rPr kumimoji="1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个物理存储空间：</a:t>
            </a:r>
          </a:p>
          <a:p>
            <a:pPr eaLnBrk="1" hangingPunct="1"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片内</a:t>
            </a: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、片内</a:t>
            </a: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、片外</a:t>
            </a: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、片外</a:t>
            </a: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ROM</a:t>
            </a:r>
            <a:endParaRPr kumimoji="1" lang="zh-CN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7041" name="Rectangle 65"/>
          <p:cNvSpPr>
            <a:spLocks noChangeArrowheads="1"/>
          </p:cNvSpPr>
          <p:nvPr/>
        </p:nvSpPr>
        <p:spPr bwMode="auto">
          <a:xfrm>
            <a:off x="5842000" y="5969000"/>
            <a:ext cx="25066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latin typeface="Times New Roman" panose="02020603050405020304" pitchFamily="18" charset="0"/>
              </a:rPr>
              <a:t>各类存储器分别编址</a:t>
            </a:r>
          </a:p>
        </p:txBody>
      </p:sp>
      <p:grpSp>
        <p:nvGrpSpPr>
          <p:cNvPr id="127047" name="Group 71"/>
          <p:cNvGrpSpPr/>
          <p:nvPr/>
        </p:nvGrpSpPr>
        <p:grpSpPr bwMode="auto">
          <a:xfrm>
            <a:off x="5535613" y="1952625"/>
            <a:ext cx="2924175" cy="3852863"/>
            <a:chOff x="3487" y="1411"/>
            <a:chExt cx="1571" cy="1869"/>
          </a:xfrm>
        </p:grpSpPr>
        <p:sp>
          <p:nvSpPr>
            <p:cNvPr id="27661" name="Rectangle 55"/>
            <p:cNvSpPr>
              <a:spLocks noChangeArrowheads="1"/>
            </p:cNvSpPr>
            <p:nvPr/>
          </p:nvSpPr>
          <p:spPr bwMode="auto">
            <a:xfrm>
              <a:off x="3863" y="1481"/>
              <a:ext cx="366" cy="7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 b="1">
                  <a:latin typeface="Times New Roman" panose="02020603050405020304" pitchFamily="18" charset="0"/>
                </a:rPr>
                <a:t>片内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200" b="1">
                  <a:latin typeface="Times New Roman" panose="02020603050405020304" pitchFamily="18" charset="0"/>
                </a:rPr>
                <a:t>RAM</a:t>
              </a:r>
            </a:p>
          </p:txBody>
        </p:sp>
        <p:sp>
          <p:nvSpPr>
            <p:cNvPr id="27662" name="Rectangle 56"/>
            <p:cNvSpPr>
              <a:spLocks noChangeArrowheads="1"/>
            </p:cNvSpPr>
            <p:nvPr/>
          </p:nvSpPr>
          <p:spPr bwMode="auto">
            <a:xfrm>
              <a:off x="4683" y="1461"/>
              <a:ext cx="366" cy="7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 b="1">
                  <a:latin typeface="Times New Roman" panose="02020603050405020304" pitchFamily="18" charset="0"/>
                </a:rPr>
                <a:t>片内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200" b="1">
                  <a:latin typeface="Times New Roman" panose="02020603050405020304" pitchFamily="18" charset="0"/>
                </a:rPr>
                <a:t>ROM</a:t>
              </a:r>
            </a:p>
          </p:txBody>
        </p:sp>
        <p:sp>
          <p:nvSpPr>
            <p:cNvPr id="27663" name="Rectangle 57"/>
            <p:cNvSpPr>
              <a:spLocks noChangeArrowheads="1"/>
            </p:cNvSpPr>
            <p:nvPr/>
          </p:nvSpPr>
          <p:spPr bwMode="auto">
            <a:xfrm>
              <a:off x="3870" y="2450"/>
              <a:ext cx="366" cy="7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 b="1">
                  <a:latin typeface="Times New Roman" panose="02020603050405020304" pitchFamily="18" charset="0"/>
                </a:rPr>
                <a:t>片外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200" b="1">
                  <a:latin typeface="Times New Roman" panose="02020603050405020304" pitchFamily="18" charset="0"/>
                </a:rPr>
                <a:t>RAM</a:t>
              </a:r>
            </a:p>
          </p:txBody>
        </p:sp>
        <p:sp>
          <p:nvSpPr>
            <p:cNvPr id="27664" name="Rectangle 58"/>
            <p:cNvSpPr>
              <a:spLocks noChangeArrowheads="1"/>
            </p:cNvSpPr>
            <p:nvPr/>
          </p:nvSpPr>
          <p:spPr bwMode="auto">
            <a:xfrm>
              <a:off x="4692" y="2432"/>
              <a:ext cx="366" cy="7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 b="1">
                  <a:latin typeface="Times New Roman" panose="02020603050405020304" pitchFamily="18" charset="0"/>
                </a:rPr>
                <a:t>片外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200" b="1">
                  <a:latin typeface="Times New Roman" panose="02020603050405020304" pitchFamily="18" charset="0"/>
                </a:rPr>
                <a:t>ROM</a:t>
              </a:r>
            </a:p>
          </p:txBody>
        </p:sp>
        <p:sp>
          <p:nvSpPr>
            <p:cNvPr id="27665" name="Text Box 59"/>
            <p:cNvSpPr txBox="1">
              <a:spLocks noChangeArrowheads="1"/>
            </p:cNvSpPr>
            <p:nvPr/>
          </p:nvSpPr>
          <p:spPr bwMode="auto">
            <a:xfrm>
              <a:off x="3487" y="2107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400" b="1">
                  <a:latin typeface="Times New Roman" panose="02020603050405020304" pitchFamily="18" charset="0"/>
                </a:rPr>
                <a:t>   00H</a:t>
              </a:r>
            </a:p>
          </p:txBody>
        </p:sp>
        <p:sp>
          <p:nvSpPr>
            <p:cNvPr id="27666" name="Text Box 61"/>
            <p:cNvSpPr txBox="1">
              <a:spLocks noChangeArrowheads="1"/>
            </p:cNvSpPr>
            <p:nvPr/>
          </p:nvSpPr>
          <p:spPr bwMode="auto">
            <a:xfrm>
              <a:off x="4282" y="2108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400" b="1">
                  <a:latin typeface="Times New Roman" panose="02020603050405020304" pitchFamily="18" charset="0"/>
                </a:rPr>
                <a:t>  000H</a:t>
              </a:r>
            </a:p>
          </p:txBody>
        </p:sp>
        <p:sp>
          <p:nvSpPr>
            <p:cNvPr id="27667" name="Text Box 62"/>
            <p:cNvSpPr txBox="1">
              <a:spLocks noChangeArrowheads="1"/>
            </p:cNvSpPr>
            <p:nvPr/>
          </p:nvSpPr>
          <p:spPr bwMode="auto">
            <a:xfrm>
              <a:off x="3496" y="3087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400" b="1">
                  <a:latin typeface="Times New Roman" panose="02020603050405020304" pitchFamily="18" charset="0"/>
                </a:rPr>
                <a:t>0000H</a:t>
              </a:r>
            </a:p>
          </p:txBody>
        </p:sp>
        <p:sp>
          <p:nvSpPr>
            <p:cNvPr id="27668" name="Text Box 63"/>
            <p:cNvSpPr txBox="1">
              <a:spLocks noChangeArrowheads="1"/>
            </p:cNvSpPr>
            <p:nvPr/>
          </p:nvSpPr>
          <p:spPr bwMode="auto">
            <a:xfrm>
              <a:off x="4299" y="3088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400" b="1">
                  <a:latin typeface="Times New Roman" panose="02020603050405020304" pitchFamily="18" charset="0"/>
                </a:rPr>
                <a:t>0000H</a:t>
              </a:r>
            </a:p>
          </p:txBody>
        </p:sp>
        <p:sp>
          <p:nvSpPr>
            <p:cNvPr id="27669" name="Text Box 66"/>
            <p:cNvSpPr txBox="1">
              <a:spLocks noChangeArrowheads="1"/>
            </p:cNvSpPr>
            <p:nvPr/>
          </p:nvSpPr>
          <p:spPr bwMode="auto">
            <a:xfrm>
              <a:off x="3519" y="1411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400" b="1">
                  <a:latin typeface="Times New Roman" panose="02020603050405020304" pitchFamily="18" charset="0"/>
                </a:rPr>
                <a:t>   </a:t>
              </a:r>
              <a:r>
                <a:rPr kumimoji="1" lang="en-US" altLang="zh-CN" sz="1200" b="1">
                  <a:latin typeface="Times New Roman" panose="02020603050405020304" pitchFamily="18" charset="0"/>
                </a:rPr>
                <a:t>FFH</a:t>
              </a:r>
            </a:p>
          </p:txBody>
        </p:sp>
        <p:sp>
          <p:nvSpPr>
            <p:cNvPr id="27670" name="Text Box 67"/>
            <p:cNvSpPr txBox="1">
              <a:spLocks noChangeArrowheads="1"/>
            </p:cNvSpPr>
            <p:nvPr/>
          </p:nvSpPr>
          <p:spPr bwMode="auto">
            <a:xfrm>
              <a:off x="4304" y="1412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400" b="1">
                  <a:latin typeface="Times New Roman" panose="02020603050405020304" pitchFamily="18" charset="0"/>
                </a:rPr>
                <a:t>  </a:t>
              </a:r>
              <a:r>
                <a:rPr kumimoji="1" lang="en-US" altLang="zh-CN" sz="1200" b="1">
                  <a:latin typeface="Times New Roman" panose="02020603050405020304" pitchFamily="18" charset="0"/>
                </a:rPr>
                <a:t>FFFH</a:t>
              </a:r>
            </a:p>
          </p:txBody>
        </p:sp>
        <p:sp>
          <p:nvSpPr>
            <p:cNvPr id="27671" name="Text Box 68"/>
            <p:cNvSpPr txBox="1">
              <a:spLocks noChangeArrowheads="1"/>
            </p:cNvSpPr>
            <p:nvPr/>
          </p:nvSpPr>
          <p:spPr bwMode="auto">
            <a:xfrm>
              <a:off x="3513" y="2397"/>
              <a:ext cx="47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200" b="1">
                  <a:latin typeface="Times New Roman" panose="02020603050405020304" pitchFamily="18" charset="0"/>
                </a:rPr>
                <a:t>FFFFH</a:t>
              </a:r>
            </a:p>
          </p:txBody>
        </p:sp>
        <p:sp>
          <p:nvSpPr>
            <p:cNvPr id="27672" name="Text Box 69"/>
            <p:cNvSpPr txBox="1">
              <a:spLocks noChangeArrowheads="1"/>
            </p:cNvSpPr>
            <p:nvPr/>
          </p:nvSpPr>
          <p:spPr bwMode="auto">
            <a:xfrm>
              <a:off x="4320" y="2381"/>
              <a:ext cx="47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200" b="1">
                  <a:latin typeface="Times New Roman" panose="02020603050405020304" pitchFamily="18" charset="0"/>
                </a:rPr>
                <a:t>FFFFH</a:t>
              </a:r>
            </a:p>
          </p:txBody>
        </p:sp>
      </p:grp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755650" y="549275"/>
            <a:ext cx="5976938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8051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存储器可以分成两类：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755650" y="1123950"/>
            <a:ext cx="7848600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15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RAM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：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(Random Access Memory)CPU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在运行时能随时进行数据的写入和读出。断电后，其所存储的信息将丢失。它用来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存放暂时性的输入输出数据、运算的中间结果或用作堆栈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755650" y="3357563"/>
            <a:ext cx="770572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15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ROM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(Read Only Memory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是一种写入信息后不易改写的存储器。断电后，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ROM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中的信息保留不变。用来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存放固定的程序或数据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，如系统监控程序、常数表格等。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900113" y="4870450"/>
            <a:ext cx="7561262" cy="115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PC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是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16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位的计数器，所以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能寻址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64KB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的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ROM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8051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内部有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4KB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的掩膜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ROM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8751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在内部有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4KB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的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EPROM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8031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在内部没有程序存储器。 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11188" y="404813"/>
            <a:ext cx="72739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2.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程序存储器（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ROM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400" b="1" dirty="0">
              <a:solidFill>
                <a:srgbClr val="FF3300"/>
              </a:solidFill>
            </a:endParaRPr>
          </a:p>
        </p:txBody>
      </p:sp>
      <p:grpSp>
        <p:nvGrpSpPr>
          <p:cNvPr id="29701" name="Group 5"/>
          <p:cNvGrpSpPr/>
          <p:nvPr/>
        </p:nvGrpSpPr>
        <p:grpSpPr bwMode="auto">
          <a:xfrm>
            <a:off x="401637" y="1025525"/>
            <a:ext cx="8137525" cy="3887788"/>
            <a:chOff x="249" y="618"/>
            <a:chExt cx="5126" cy="2449"/>
          </a:xfrm>
        </p:grpSpPr>
        <p:graphicFrame>
          <p:nvGraphicFramePr>
            <p:cNvPr id="29719" name="Object 6"/>
            <p:cNvGraphicFramePr>
              <a:graphicFrameLocks noChangeAspect="1"/>
            </p:cNvGraphicFramePr>
            <p:nvPr/>
          </p:nvGraphicFramePr>
          <p:xfrm>
            <a:off x="249" y="618"/>
            <a:ext cx="5126" cy="2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r:id="rId3" imgW="3657600" imgH="1557655" progId="Visio.Drawing.6">
                    <p:embed/>
                  </p:oleObj>
                </mc:Choice>
                <mc:Fallback>
                  <p:oleObj r:id="rId3" imgW="3657600" imgH="1557655" progId="Visio.Drawing.6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24000" contrast="24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618"/>
                          <a:ext cx="5126" cy="2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0" name="Text Box 7"/>
            <p:cNvSpPr txBox="1">
              <a:spLocks noChangeArrowheads="1"/>
            </p:cNvSpPr>
            <p:nvPr/>
          </p:nvSpPr>
          <p:spPr bwMode="auto">
            <a:xfrm>
              <a:off x="295" y="989"/>
              <a:ext cx="680" cy="7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270000" rIns="0" bIns="270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/EA=1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</a:rPr>
                <a:t>内部</a:t>
              </a:r>
            </a:p>
          </p:txBody>
        </p:sp>
        <p:sp>
          <p:nvSpPr>
            <p:cNvPr id="29721" name="Text Box 8"/>
            <p:cNvSpPr txBox="1">
              <a:spLocks noChangeArrowheads="1"/>
            </p:cNvSpPr>
            <p:nvPr/>
          </p:nvSpPr>
          <p:spPr bwMode="auto">
            <a:xfrm>
              <a:off x="1791" y="981"/>
              <a:ext cx="681" cy="7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270000" rIns="0" bIns="270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/EA=0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外部</a:t>
              </a:r>
            </a:p>
          </p:txBody>
        </p:sp>
      </p:grpSp>
      <p:sp>
        <p:nvSpPr>
          <p:cNvPr id="22534" name="Text Box 9"/>
          <p:cNvSpPr txBox="1">
            <a:spLocks noChangeArrowheads="1"/>
          </p:cNvSpPr>
          <p:nvPr/>
        </p:nvSpPr>
        <p:spPr bwMode="auto">
          <a:xfrm>
            <a:off x="1806575" y="1455738"/>
            <a:ext cx="863600" cy="338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2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0000H</a:t>
            </a:r>
          </a:p>
        </p:txBody>
      </p:sp>
      <p:sp>
        <p:nvSpPr>
          <p:cNvPr id="22535" name="Text Box 10"/>
          <p:cNvSpPr txBox="1">
            <a:spLocks noChangeArrowheads="1"/>
          </p:cNvSpPr>
          <p:nvPr/>
        </p:nvSpPr>
        <p:spPr bwMode="auto">
          <a:xfrm>
            <a:off x="1763713" y="2492375"/>
            <a:ext cx="8636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1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0FFFH</a:t>
            </a:r>
          </a:p>
        </p:txBody>
      </p:sp>
      <p:sp>
        <p:nvSpPr>
          <p:cNvPr id="22536" name="Text Box 11"/>
          <p:cNvSpPr txBox="1">
            <a:spLocks noChangeArrowheads="1"/>
          </p:cNvSpPr>
          <p:nvPr/>
        </p:nvSpPr>
        <p:spPr bwMode="auto">
          <a:xfrm>
            <a:off x="1763713" y="2781300"/>
            <a:ext cx="8636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100" b="1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1000H</a:t>
            </a:r>
          </a:p>
        </p:txBody>
      </p:sp>
      <p:sp>
        <p:nvSpPr>
          <p:cNvPr id="22537" name="Text Box 12"/>
          <p:cNvSpPr txBox="1">
            <a:spLocks noChangeArrowheads="1"/>
          </p:cNvSpPr>
          <p:nvPr/>
        </p:nvSpPr>
        <p:spPr bwMode="auto">
          <a:xfrm>
            <a:off x="1692275" y="4508500"/>
            <a:ext cx="8636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100" b="1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FFFFH</a:t>
            </a:r>
          </a:p>
        </p:txBody>
      </p:sp>
      <p:sp>
        <p:nvSpPr>
          <p:cNvPr id="22538" name="Text Box 13"/>
          <p:cNvSpPr txBox="1">
            <a:spLocks noChangeArrowheads="1"/>
          </p:cNvSpPr>
          <p:nvPr/>
        </p:nvSpPr>
        <p:spPr bwMode="auto">
          <a:xfrm>
            <a:off x="6227763" y="1484313"/>
            <a:ext cx="792162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0000H</a:t>
            </a:r>
          </a:p>
        </p:txBody>
      </p:sp>
      <p:sp>
        <p:nvSpPr>
          <p:cNvPr id="22539" name="Text Box 14"/>
          <p:cNvSpPr txBox="1">
            <a:spLocks noChangeArrowheads="1"/>
          </p:cNvSpPr>
          <p:nvPr/>
        </p:nvSpPr>
        <p:spPr bwMode="auto">
          <a:xfrm>
            <a:off x="6227763" y="1744663"/>
            <a:ext cx="792162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0003H</a:t>
            </a:r>
          </a:p>
        </p:txBody>
      </p:sp>
      <p:sp>
        <p:nvSpPr>
          <p:cNvPr id="22540" name="Text Box 15"/>
          <p:cNvSpPr txBox="1">
            <a:spLocks noChangeArrowheads="1"/>
          </p:cNvSpPr>
          <p:nvPr/>
        </p:nvSpPr>
        <p:spPr bwMode="auto">
          <a:xfrm>
            <a:off x="6227763" y="2060575"/>
            <a:ext cx="936625" cy="307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000BH</a:t>
            </a:r>
          </a:p>
        </p:txBody>
      </p:sp>
      <p:sp>
        <p:nvSpPr>
          <p:cNvPr id="22541" name="Text Box 16"/>
          <p:cNvSpPr txBox="1">
            <a:spLocks noChangeArrowheads="1"/>
          </p:cNvSpPr>
          <p:nvPr/>
        </p:nvSpPr>
        <p:spPr bwMode="auto">
          <a:xfrm>
            <a:off x="6227763" y="2420938"/>
            <a:ext cx="792162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0013H</a:t>
            </a:r>
          </a:p>
        </p:txBody>
      </p:sp>
      <p:sp>
        <p:nvSpPr>
          <p:cNvPr id="22542" name="Text Box 17"/>
          <p:cNvSpPr txBox="1">
            <a:spLocks noChangeArrowheads="1"/>
          </p:cNvSpPr>
          <p:nvPr/>
        </p:nvSpPr>
        <p:spPr bwMode="auto">
          <a:xfrm>
            <a:off x="6227763" y="2781300"/>
            <a:ext cx="865187" cy="307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001BH</a:t>
            </a:r>
          </a:p>
        </p:txBody>
      </p:sp>
      <p:sp>
        <p:nvSpPr>
          <p:cNvPr id="22543" name="Text Box 18"/>
          <p:cNvSpPr txBox="1">
            <a:spLocks noChangeArrowheads="1"/>
          </p:cNvSpPr>
          <p:nvPr/>
        </p:nvSpPr>
        <p:spPr bwMode="auto">
          <a:xfrm>
            <a:off x="6300788" y="3141663"/>
            <a:ext cx="792162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0023H</a:t>
            </a:r>
          </a:p>
        </p:txBody>
      </p:sp>
      <p:sp>
        <p:nvSpPr>
          <p:cNvPr id="22544" name="Text Box 19"/>
          <p:cNvSpPr txBox="1">
            <a:spLocks noChangeArrowheads="1"/>
          </p:cNvSpPr>
          <p:nvPr/>
        </p:nvSpPr>
        <p:spPr bwMode="auto">
          <a:xfrm>
            <a:off x="5003800" y="1484313"/>
            <a:ext cx="1152525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复位入口</a:t>
            </a:r>
          </a:p>
        </p:txBody>
      </p:sp>
      <p:sp>
        <p:nvSpPr>
          <p:cNvPr id="22545" name="Text Box 20"/>
          <p:cNvSpPr txBox="1">
            <a:spLocks noChangeArrowheads="1"/>
          </p:cNvSpPr>
          <p:nvPr/>
        </p:nvSpPr>
        <p:spPr bwMode="auto">
          <a:xfrm>
            <a:off x="4470400" y="1771650"/>
            <a:ext cx="1700213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/INT0</a:t>
            </a:r>
            <a:r>
              <a:rPr lang="zh-CN" alt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中断入口</a:t>
            </a:r>
          </a:p>
        </p:txBody>
      </p:sp>
      <p:sp>
        <p:nvSpPr>
          <p:cNvPr id="22546" name="Text Box 21"/>
          <p:cNvSpPr txBox="1">
            <a:spLocks noChangeArrowheads="1"/>
          </p:cNvSpPr>
          <p:nvPr/>
        </p:nvSpPr>
        <p:spPr bwMode="auto">
          <a:xfrm>
            <a:off x="4500563" y="2420938"/>
            <a:ext cx="1700212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/INT1</a:t>
            </a:r>
            <a:r>
              <a:rPr lang="zh-CN" alt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中断入口</a:t>
            </a:r>
          </a:p>
        </p:txBody>
      </p:sp>
      <p:sp>
        <p:nvSpPr>
          <p:cNvPr id="22547" name="Text Box 22"/>
          <p:cNvSpPr txBox="1">
            <a:spLocks noChangeArrowheads="1"/>
          </p:cNvSpPr>
          <p:nvPr/>
        </p:nvSpPr>
        <p:spPr bwMode="auto">
          <a:xfrm>
            <a:off x="4789488" y="2060575"/>
            <a:ext cx="1366837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T0</a:t>
            </a:r>
            <a:r>
              <a:rPr lang="zh-CN" alt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中断入口</a:t>
            </a:r>
          </a:p>
        </p:txBody>
      </p:sp>
      <p:sp>
        <p:nvSpPr>
          <p:cNvPr id="22548" name="Text Box 23"/>
          <p:cNvSpPr txBox="1">
            <a:spLocks noChangeArrowheads="1"/>
          </p:cNvSpPr>
          <p:nvPr/>
        </p:nvSpPr>
        <p:spPr bwMode="auto">
          <a:xfrm>
            <a:off x="4859338" y="2781300"/>
            <a:ext cx="1366837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中断入口</a:t>
            </a:r>
          </a:p>
        </p:txBody>
      </p:sp>
      <p:sp>
        <p:nvSpPr>
          <p:cNvPr id="22549" name="Text Box 24"/>
          <p:cNvSpPr txBox="1">
            <a:spLocks noChangeArrowheads="1"/>
          </p:cNvSpPr>
          <p:nvPr/>
        </p:nvSpPr>
        <p:spPr bwMode="auto">
          <a:xfrm>
            <a:off x="4427538" y="3141663"/>
            <a:ext cx="1798637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串行口中断入口</a:t>
            </a:r>
          </a:p>
        </p:txBody>
      </p:sp>
      <p:sp>
        <p:nvSpPr>
          <p:cNvPr id="29718" name="Text Box 25"/>
          <p:cNvSpPr txBox="1">
            <a:spLocks noChangeArrowheads="1"/>
          </p:cNvSpPr>
          <p:nvPr/>
        </p:nvSpPr>
        <p:spPr bwMode="auto">
          <a:xfrm>
            <a:off x="6084888" y="4508500"/>
            <a:ext cx="8636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100">
                <a:solidFill>
                  <a:srgbClr val="9900CC"/>
                </a:solidFill>
              </a:rPr>
              <a:t>FFFFH</a:t>
            </a: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3779912" y="2365375"/>
            <a:ext cx="0" cy="199972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043608" y="2509838"/>
            <a:ext cx="0" cy="631825"/>
          </a:xfrm>
          <a:prstGeom prst="line">
            <a:avLst/>
          </a:prstGeom>
          <a:ln w="571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043608" y="3141663"/>
            <a:ext cx="2016224" cy="0"/>
          </a:xfrm>
          <a:prstGeom prst="line">
            <a:avLst/>
          </a:prstGeom>
          <a:ln w="571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3059832" y="3141663"/>
            <a:ext cx="0" cy="1223441"/>
          </a:xfrm>
          <a:prstGeom prst="straightConnector1">
            <a:avLst/>
          </a:prstGeom>
          <a:ln w="571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74"/>
          <p:cNvSpPr txBox="1">
            <a:spLocks noChangeArrowheads="1"/>
          </p:cNvSpPr>
          <p:nvPr/>
        </p:nvSpPr>
        <p:spPr bwMode="auto">
          <a:xfrm>
            <a:off x="4160520" y="1485900"/>
            <a:ext cx="4787900" cy="181588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</a:t>
            </a: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KB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以内的地址在片内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，大于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4KB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的地址在片外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中（图中折线），两者共同构成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64KB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空间；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 Box 75"/>
          <p:cNvSpPr txBox="1">
            <a:spLocks noChangeArrowheads="1"/>
          </p:cNvSpPr>
          <p:nvPr/>
        </p:nvSpPr>
        <p:spPr bwMode="auto">
          <a:xfrm>
            <a:off x="4152899" y="3308003"/>
            <a:ext cx="4787900" cy="138499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</a:t>
            </a: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：片内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被禁用，全部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64KB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地址都在片外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中（图中直线）。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ldLvl="0" animBg="1"/>
      <p:bldP spid="36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7172" name="Rectangle 6"/>
          <p:cNvSpPr>
            <a:spLocks noChangeAspect="1" noChangeArrowheads="1"/>
          </p:cNvSpPr>
          <p:nvPr/>
        </p:nvSpPr>
        <p:spPr bwMode="auto">
          <a:xfrm>
            <a:off x="5807075" y="3306763"/>
            <a:ext cx="31115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/EA</a:t>
            </a:r>
            <a:r>
              <a:rPr lang="zh-CN" altLang="en-US" sz="24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引脚接低电平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时，仅使用片外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（片外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不可缺省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</p:txBody>
      </p:sp>
      <p:sp>
        <p:nvSpPr>
          <p:cNvPr id="128021" name="Text Box 21"/>
          <p:cNvSpPr txBox="1">
            <a:spLocks noChangeArrowheads="1"/>
          </p:cNvSpPr>
          <p:nvPr/>
        </p:nvSpPr>
        <p:spPr bwMode="auto">
          <a:xfrm>
            <a:off x="556419" y="6035675"/>
            <a:ext cx="8031162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由于片内、外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是统一编址的，故只能算作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个逻辑存储空间。</a:t>
            </a:r>
          </a:p>
        </p:txBody>
      </p:sp>
      <p:sp>
        <p:nvSpPr>
          <p:cNvPr id="7186" name="Rectangle 35"/>
          <p:cNvSpPr>
            <a:spLocks noChangeArrowheads="1"/>
          </p:cNvSpPr>
          <p:nvPr/>
        </p:nvSpPr>
        <p:spPr bwMode="auto">
          <a:xfrm>
            <a:off x="5778500" y="1362075"/>
            <a:ext cx="3219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/EA</a:t>
            </a:r>
            <a:r>
              <a:rPr lang="zh-CN" altLang="en-US" sz="24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引脚接高电平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时，可同时使用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 (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片外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ROM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可以缺省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</a:p>
        </p:txBody>
      </p:sp>
      <p:sp>
        <p:nvSpPr>
          <p:cNvPr id="21" name="Rectangle 76"/>
          <p:cNvSpPr>
            <a:spLocks noChangeArrowheads="1"/>
          </p:cNvSpPr>
          <p:nvPr/>
        </p:nvSpPr>
        <p:spPr bwMode="auto">
          <a:xfrm>
            <a:off x="440531" y="533401"/>
            <a:ext cx="75469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种组合方案由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引脚的电平状态决定：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30" y="3659170"/>
            <a:ext cx="5291683" cy="24341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56" y="1240319"/>
            <a:ext cx="5297094" cy="2188671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5076056" y="1628800"/>
            <a:ext cx="504056" cy="576064"/>
            <a:chOff x="5076056" y="1628800"/>
            <a:chExt cx="504056" cy="57606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5076056" y="1628800"/>
              <a:ext cx="504056" cy="5760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>
              <a:off x="5076056" y="1628800"/>
              <a:ext cx="504000" cy="5760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4030236" y="4055415"/>
            <a:ext cx="398102" cy="703908"/>
            <a:chOff x="4030236" y="4055415"/>
            <a:chExt cx="398102" cy="703908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4030236" y="4055415"/>
              <a:ext cx="398102" cy="70390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4030236" y="4055415"/>
              <a:ext cx="398102" cy="70390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128021" grpId="0" animBg="1"/>
      <p:bldP spid="71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197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</a:p>
        </p:txBody>
      </p:sp>
      <p:sp>
        <p:nvSpPr>
          <p:cNvPr id="8198" name="Rectangle 2"/>
          <p:cNvSpPr>
            <a:spLocks noChangeAspect="1" noChangeArrowheads="1"/>
          </p:cNvSpPr>
          <p:nvPr/>
        </p:nvSpPr>
        <p:spPr bwMode="auto">
          <a:xfrm>
            <a:off x="725488" y="4897438"/>
            <a:ext cx="792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单片机的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</a:t>
            </a: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物理存储空间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仅相当于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</a:t>
            </a: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逻辑存储空间。</a:t>
            </a:r>
          </a:p>
        </p:txBody>
      </p:sp>
      <p:grpSp>
        <p:nvGrpSpPr>
          <p:cNvPr id="8199" name="Group 33"/>
          <p:cNvGrpSpPr/>
          <p:nvPr/>
        </p:nvGrpSpPr>
        <p:grpSpPr bwMode="auto">
          <a:xfrm>
            <a:off x="1041400" y="1271588"/>
            <a:ext cx="2493963" cy="2967037"/>
            <a:chOff x="3487" y="1411"/>
            <a:chExt cx="1571" cy="1869"/>
          </a:xfrm>
        </p:grpSpPr>
        <p:sp>
          <p:nvSpPr>
            <p:cNvPr id="8208" name="Rectangle 34"/>
            <p:cNvSpPr>
              <a:spLocks noChangeArrowheads="1"/>
            </p:cNvSpPr>
            <p:nvPr/>
          </p:nvSpPr>
          <p:spPr bwMode="auto">
            <a:xfrm>
              <a:off x="3863" y="1481"/>
              <a:ext cx="366" cy="7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200" b="1"/>
                <a:t>片内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/>
                <a:t>RAM</a:t>
              </a:r>
            </a:p>
          </p:txBody>
        </p:sp>
        <p:sp>
          <p:nvSpPr>
            <p:cNvPr id="8209" name="Rectangle 35"/>
            <p:cNvSpPr>
              <a:spLocks noChangeArrowheads="1"/>
            </p:cNvSpPr>
            <p:nvPr/>
          </p:nvSpPr>
          <p:spPr bwMode="auto">
            <a:xfrm>
              <a:off x="4683" y="1461"/>
              <a:ext cx="366" cy="7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200" b="1"/>
                <a:t>片内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/>
                <a:t>ROM</a:t>
              </a:r>
            </a:p>
          </p:txBody>
        </p:sp>
        <p:sp>
          <p:nvSpPr>
            <p:cNvPr id="8210" name="Rectangle 36"/>
            <p:cNvSpPr>
              <a:spLocks noChangeArrowheads="1"/>
            </p:cNvSpPr>
            <p:nvPr/>
          </p:nvSpPr>
          <p:spPr bwMode="auto">
            <a:xfrm>
              <a:off x="3870" y="2450"/>
              <a:ext cx="366" cy="7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200" b="1" dirty="0"/>
                <a:t>片外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 dirty="0"/>
                <a:t>RAM</a:t>
              </a:r>
            </a:p>
          </p:txBody>
        </p:sp>
        <p:sp>
          <p:nvSpPr>
            <p:cNvPr id="8211" name="Rectangle 37"/>
            <p:cNvSpPr>
              <a:spLocks noChangeArrowheads="1"/>
            </p:cNvSpPr>
            <p:nvPr/>
          </p:nvSpPr>
          <p:spPr bwMode="auto">
            <a:xfrm>
              <a:off x="4692" y="2432"/>
              <a:ext cx="366" cy="7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200" b="1"/>
                <a:t>片外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200" b="1"/>
                <a:t>ROM</a:t>
              </a:r>
            </a:p>
          </p:txBody>
        </p:sp>
        <p:sp>
          <p:nvSpPr>
            <p:cNvPr id="8212" name="Text Box 38"/>
            <p:cNvSpPr txBox="1">
              <a:spLocks noChangeArrowheads="1"/>
            </p:cNvSpPr>
            <p:nvPr/>
          </p:nvSpPr>
          <p:spPr bwMode="auto">
            <a:xfrm>
              <a:off x="3487" y="2107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 b="1"/>
                <a:t>   00H</a:t>
              </a:r>
            </a:p>
          </p:txBody>
        </p:sp>
        <p:sp>
          <p:nvSpPr>
            <p:cNvPr id="8213" name="Text Box 39"/>
            <p:cNvSpPr txBox="1">
              <a:spLocks noChangeArrowheads="1"/>
            </p:cNvSpPr>
            <p:nvPr/>
          </p:nvSpPr>
          <p:spPr bwMode="auto">
            <a:xfrm>
              <a:off x="4282" y="2108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 b="1"/>
                <a:t>  000H</a:t>
              </a:r>
            </a:p>
          </p:txBody>
        </p:sp>
        <p:sp>
          <p:nvSpPr>
            <p:cNvPr id="8214" name="Text Box 40"/>
            <p:cNvSpPr txBox="1">
              <a:spLocks noChangeArrowheads="1"/>
            </p:cNvSpPr>
            <p:nvPr/>
          </p:nvSpPr>
          <p:spPr bwMode="auto">
            <a:xfrm>
              <a:off x="3496" y="3087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 b="1"/>
                <a:t>0000H</a:t>
              </a:r>
            </a:p>
          </p:txBody>
        </p:sp>
        <p:sp>
          <p:nvSpPr>
            <p:cNvPr id="8215" name="Text Box 41"/>
            <p:cNvSpPr txBox="1">
              <a:spLocks noChangeArrowheads="1"/>
            </p:cNvSpPr>
            <p:nvPr/>
          </p:nvSpPr>
          <p:spPr bwMode="auto">
            <a:xfrm>
              <a:off x="4299" y="3088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 b="1"/>
                <a:t>0000H</a:t>
              </a:r>
            </a:p>
          </p:txBody>
        </p:sp>
        <p:sp>
          <p:nvSpPr>
            <p:cNvPr id="8216" name="Text Box 42"/>
            <p:cNvSpPr txBox="1">
              <a:spLocks noChangeArrowheads="1"/>
            </p:cNvSpPr>
            <p:nvPr/>
          </p:nvSpPr>
          <p:spPr bwMode="auto">
            <a:xfrm>
              <a:off x="3519" y="1411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 b="1"/>
                <a:t>   </a:t>
              </a:r>
              <a:r>
                <a:rPr lang="en-US" altLang="zh-CN" sz="1200" b="1"/>
                <a:t>FFH</a:t>
              </a:r>
            </a:p>
          </p:txBody>
        </p:sp>
        <p:sp>
          <p:nvSpPr>
            <p:cNvPr id="8217" name="Text Box 43"/>
            <p:cNvSpPr txBox="1">
              <a:spLocks noChangeArrowheads="1"/>
            </p:cNvSpPr>
            <p:nvPr/>
          </p:nvSpPr>
          <p:spPr bwMode="auto">
            <a:xfrm>
              <a:off x="4304" y="1412"/>
              <a:ext cx="47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400" b="1"/>
                <a:t>  </a:t>
              </a:r>
              <a:r>
                <a:rPr lang="en-US" altLang="zh-CN" sz="1200" b="1"/>
                <a:t>FFFH</a:t>
              </a:r>
            </a:p>
          </p:txBody>
        </p:sp>
        <p:sp>
          <p:nvSpPr>
            <p:cNvPr id="8218" name="Text Box 44"/>
            <p:cNvSpPr txBox="1">
              <a:spLocks noChangeArrowheads="1"/>
            </p:cNvSpPr>
            <p:nvPr/>
          </p:nvSpPr>
          <p:spPr bwMode="auto">
            <a:xfrm>
              <a:off x="3513" y="2397"/>
              <a:ext cx="47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200" b="1"/>
                <a:t>FFFFH</a:t>
              </a:r>
            </a:p>
          </p:txBody>
        </p:sp>
        <p:sp>
          <p:nvSpPr>
            <p:cNvPr id="8219" name="Text Box 45"/>
            <p:cNvSpPr txBox="1">
              <a:spLocks noChangeArrowheads="1"/>
            </p:cNvSpPr>
            <p:nvPr/>
          </p:nvSpPr>
          <p:spPr bwMode="auto">
            <a:xfrm>
              <a:off x="4320" y="2381"/>
              <a:ext cx="47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200" b="1"/>
                <a:t>FFFFH</a:t>
              </a:r>
            </a:p>
          </p:txBody>
        </p:sp>
      </p:grpSp>
      <p:sp>
        <p:nvSpPr>
          <p:cNvPr id="8200" name="Rectangle 50"/>
          <p:cNvSpPr>
            <a:spLocks noChangeArrowheads="1"/>
          </p:cNvSpPr>
          <p:nvPr/>
        </p:nvSpPr>
        <p:spPr bwMode="auto">
          <a:xfrm>
            <a:off x="1630363" y="4330700"/>
            <a:ext cx="15792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物理存储空间</a:t>
            </a:r>
          </a:p>
        </p:txBody>
      </p:sp>
      <p:sp>
        <p:nvSpPr>
          <p:cNvPr id="8201" name="Rectangle 51"/>
          <p:cNvSpPr>
            <a:spLocks noChangeArrowheads="1"/>
          </p:cNvSpPr>
          <p:nvPr/>
        </p:nvSpPr>
        <p:spPr bwMode="auto">
          <a:xfrm>
            <a:off x="5789613" y="4357688"/>
            <a:ext cx="15792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逻辑存储空间</a:t>
            </a:r>
          </a:p>
        </p:txBody>
      </p:sp>
      <p:sp>
        <p:nvSpPr>
          <p:cNvPr id="8202" name="AutoShape 52"/>
          <p:cNvSpPr>
            <a:spLocks noChangeArrowheads="1"/>
          </p:cNvSpPr>
          <p:nvPr/>
        </p:nvSpPr>
        <p:spPr bwMode="auto">
          <a:xfrm>
            <a:off x="3675063" y="2562225"/>
            <a:ext cx="715962" cy="249238"/>
          </a:xfrm>
          <a:prstGeom prst="leftRightArrow">
            <a:avLst>
              <a:gd name="adj1" fmla="val 50000"/>
              <a:gd name="adj2" fmla="val 574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8203" name="Group 54"/>
          <p:cNvGrpSpPr/>
          <p:nvPr/>
        </p:nvGrpSpPr>
        <p:grpSpPr bwMode="auto">
          <a:xfrm>
            <a:off x="4484688" y="1354138"/>
            <a:ext cx="4100512" cy="2878137"/>
            <a:chOff x="2641" y="825"/>
            <a:chExt cx="2583" cy="1813"/>
          </a:xfrm>
        </p:grpSpPr>
        <p:pic>
          <p:nvPicPr>
            <p:cNvPr id="8204" name="Picture 4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821" t="23349" r="34859" b="40321"/>
            <a:stretch>
              <a:fillRect/>
            </a:stretch>
          </p:blipFill>
          <p:spPr bwMode="auto">
            <a:xfrm>
              <a:off x="3350" y="825"/>
              <a:ext cx="760" cy="17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205" name="Picture 4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297" t="23349" r="46454" b="40321"/>
            <a:stretch>
              <a:fillRect/>
            </a:stretch>
          </p:blipFill>
          <p:spPr bwMode="auto">
            <a:xfrm>
              <a:off x="2655" y="841"/>
              <a:ext cx="662" cy="17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206" name="Rectangle 48"/>
            <p:cNvSpPr>
              <a:spLocks noChangeArrowheads="1"/>
            </p:cNvSpPr>
            <p:nvPr/>
          </p:nvSpPr>
          <p:spPr bwMode="auto">
            <a:xfrm>
              <a:off x="2641" y="1521"/>
              <a:ext cx="195" cy="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pic>
          <p:nvPicPr>
            <p:cNvPr id="8207" name="Picture 5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281" t="23349" r="21172" b="40321"/>
            <a:stretch>
              <a:fillRect/>
            </a:stretch>
          </p:blipFill>
          <p:spPr bwMode="auto">
            <a:xfrm>
              <a:off x="4078" y="837"/>
              <a:ext cx="1146" cy="17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0" y="2000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395288" y="1152525"/>
          <a:ext cx="8424862" cy="522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3" imgW="3571875" imgH="2314575" progId="Visio.Drawing.6">
                  <p:embed/>
                </p:oleObj>
              </mc:Choice>
              <mc:Fallback>
                <p:oleObj r:id="rId3" imgW="3571875" imgH="231457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8000" contrast="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52525"/>
                        <a:ext cx="8424862" cy="522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611188" y="476250"/>
            <a:ext cx="8281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3.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数据存储器</a:t>
            </a:r>
            <a:r>
              <a:rPr lang="zh-CN" altLang="en-US" b="1" dirty="0">
                <a:solidFill>
                  <a:srgbClr val="FF3300"/>
                </a:solidFill>
              </a:rPr>
              <a:t>（</a:t>
            </a:r>
            <a:r>
              <a:rPr lang="en-US" altLang="zh-CN" b="1" dirty="0">
                <a:solidFill>
                  <a:srgbClr val="FF3300"/>
                </a:solidFill>
              </a:rPr>
              <a:t>RAM ,</a:t>
            </a:r>
            <a:r>
              <a:rPr lang="zh-CN" altLang="en-US" b="1" dirty="0">
                <a:solidFill>
                  <a:srgbClr val="FF3300"/>
                </a:solidFill>
              </a:rPr>
              <a:t>存放中间结果、数据暂存及数据缓冲等）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3779838" y="1341438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Wingdings" panose="05000000000000000000" pitchFamily="2" charset="2"/>
              </a:rPr>
              <a:t>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工作寄存器区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3779838" y="1844675"/>
            <a:ext cx="2160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Wingdings" panose="05000000000000000000" pitchFamily="2" charset="2"/>
              </a:rPr>
              <a:t>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位寻址区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3851275" y="2708275"/>
            <a:ext cx="2160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Wingdings" panose="05000000000000000000" pitchFamily="2" charset="2"/>
              </a:rPr>
              <a:t>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通用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RAM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区</a:t>
            </a:r>
          </a:p>
        </p:txBody>
      </p:sp>
      <p:sp>
        <p:nvSpPr>
          <p:cNvPr id="30729" name="TextBox 1"/>
          <p:cNvSpPr txBox="1">
            <a:spLocks noChangeArrowheads="1"/>
          </p:cNvSpPr>
          <p:nvPr/>
        </p:nvSpPr>
        <p:spPr bwMode="auto">
          <a:xfrm>
            <a:off x="1403350" y="6196013"/>
            <a:ext cx="1655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片</a:t>
            </a:r>
            <a:r>
              <a:rPr lang="zh-CN" altLang="en-US" sz="1800" b="1" dirty="0">
                <a:solidFill>
                  <a:srgbClr val="FF0000"/>
                </a:solidFill>
              </a:rPr>
              <a:t>内</a:t>
            </a:r>
            <a:r>
              <a:rPr lang="en-US" altLang="zh-CN" sz="1800" b="1" dirty="0">
                <a:solidFill>
                  <a:srgbClr val="0000FF"/>
                </a:solidFill>
              </a:rPr>
              <a:t>RAM</a:t>
            </a:r>
            <a:endParaRPr lang="zh-CN" altLang="en-US" sz="1800" b="1" dirty="0">
              <a:solidFill>
                <a:srgbClr val="0000FF"/>
              </a:solidFill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851275" y="4437112"/>
            <a:ext cx="2520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Wingdings" panose="05000000000000000000" pitchFamily="2" charset="2"/>
              </a:rPr>
              <a:t>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Wingdings" panose="05000000000000000000" pitchFamily="2" charset="2"/>
              </a:rPr>
              <a:t>特殊功能寄存器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区</a:t>
            </a:r>
          </a:p>
        </p:txBody>
      </p:sp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7103488" y="6296025"/>
            <a:ext cx="1655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片</a:t>
            </a:r>
            <a:r>
              <a:rPr lang="zh-CN" altLang="en-US" sz="1800" b="1" dirty="0">
                <a:solidFill>
                  <a:srgbClr val="FF0000"/>
                </a:solidFill>
              </a:rPr>
              <a:t>外</a:t>
            </a:r>
            <a:r>
              <a:rPr lang="en-US" altLang="zh-CN" sz="1800" b="1" dirty="0">
                <a:solidFill>
                  <a:srgbClr val="0000FF"/>
                </a:solidFill>
              </a:rPr>
              <a:t>RAM</a:t>
            </a:r>
            <a:endParaRPr lang="zh-CN" altLang="en-US" sz="1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/>
      <p:bldP spid="24583" grpId="0"/>
      <p:bldP spid="24584" grpId="0"/>
      <p:bldP spid="30729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684213" y="476250"/>
            <a:ext cx="424815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p"/>
              <a:defRPr/>
            </a:pP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片内低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128B RAM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468313" y="1484313"/>
            <a:ext cx="8496300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低端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32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个字节分成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4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个工作寄存器组，每组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8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个单元。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当前工作寄存器组的机制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便于快速现场保护。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1474788" y="4364038"/>
            <a:ext cx="6121400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PSW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RS1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RS0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决定当前工作寄存器组号 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寄存器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组 ：地址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00H~07H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；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寄存器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组 ：地址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08H~0FH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；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寄存器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组 ：地址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10H~17H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；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寄存器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组 ：地址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18H~1FH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755650" y="981075"/>
            <a:ext cx="36004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）工作寄存器区</a:t>
            </a:r>
          </a:p>
        </p:txBody>
      </p:sp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349500"/>
            <a:ext cx="78105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611188" y="4941888"/>
            <a:ext cx="7848600" cy="954107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</a:rPr>
              <a:t>说明：采用</a:t>
            </a:r>
            <a:r>
              <a:rPr lang="en-US" altLang="zh-CN" sz="2800" b="1" dirty="0">
                <a:solidFill>
                  <a:schemeClr val="bg1"/>
                </a:solidFill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</a:rPr>
              <a:t>语言开发单片机，几乎用不到工作寄存器区、位寻址区和数据缓存区的结构和地址。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utoUpdateAnimBg="0"/>
      <p:bldP spid="25605" grpId="0" autoUpdateAnimBg="0"/>
      <p:bldP spid="2560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322263" y="634132"/>
            <a:ext cx="8483600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ts val="600"/>
              </a:spcAft>
              <a:buClr>
                <a:schemeClr val="hlink"/>
              </a:buClr>
              <a:defRPr/>
            </a:pP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（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）位寻址区</a:t>
            </a:r>
          </a:p>
          <a:p>
            <a:pPr>
              <a:buClr>
                <a:schemeClr val="hlink"/>
              </a:buClr>
              <a:defRPr/>
            </a:pP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字节地址：</a:t>
            </a:r>
            <a:r>
              <a:rPr lang="zh-CN" altLang="en-US" sz="2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20H</a:t>
            </a:r>
            <a:r>
              <a:rPr lang="zh-CN" altLang="en-US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～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2FH</a:t>
            </a:r>
            <a:r>
              <a:rPr lang="zh-CN" altLang="en-US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，共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16</a:t>
            </a:r>
            <a:r>
              <a:rPr lang="zh-CN" altLang="en-US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个单元。</a:t>
            </a:r>
          </a:p>
          <a:p>
            <a:pPr>
              <a:buClr>
                <a:schemeClr val="hlink"/>
              </a:buClr>
              <a:defRPr/>
            </a:pPr>
            <a:r>
              <a:rPr lang="zh-CN" altLang="en-US" sz="2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特点：既可以按字节存取，也可以对每个单元按位存取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434975" y="1895103"/>
            <a:ext cx="78898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每个单元对应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位，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16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个单元共</a:t>
            </a:r>
            <a:r>
              <a:rPr lang="en-US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128</a:t>
            </a:r>
            <a:r>
              <a:rPr lang="zh-CN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位，位地址为：</a:t>
            </a:r>
            <a:r>
              <a:rPr lang="zh-CN" altLang="en-US" sz="2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</a:t>
            </a:r>
            <a:r>
              <a:rPr lang="en-US" altLang="zh-CN" sz="2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00H</a:t>
            </a:r>
            <a:r>
              <a:rPr lang="zh-CN" altLang="en-US" sz="2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～</a:t>
            </a:r>
            <a:r>
              <a:rPr lang="en-US" altLang="zh-CN" sz="2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7FH</a:t>
            </a:r>
            <a:r>
              <a:rPr lang="zh-CN" altLang="en-US" sz="2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434975" y="4562475"/>
            <a:ext cx="3362325" cy="145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  <a:defRPr/>
            </a:pPr>
            <a:r>
              <a:rPr lang="zh-CN" altLang="en-US" sz="2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例如，如下指令：</a:t>
            </a:r>
          </a:p>
          <a:p>
            <a:pPr>
              <a:spcBef>
                <a:spcPct val="10000"/>
              </a:spcBef>
              <a:defRPr/>
            </a:pPr>
            <a:r>
              <a:rPr lang="en-US" altLang="zh-CN" sz="2800" b="1" i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MOV  20H,#10H</a:t>
            </a:r>
          </a:p>
          <a:p>
            <a:pPr>
              <a:spcBef>
                <a:spcPct val="10000"/>
              </a:spcBef>
              <a:defRPr/>
            </a:pPr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SETB  20H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505200" y="4967288"/>
            <a:ext cx="345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i="1">
                <a:solidFill>
                  <a:srgbClr val="FF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；</a:t>
            </a:r>
            <a:r>
              <a:rPr lang="en-US" altLang="zh-CN" sz="2800" b="1" i="1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20H</a:t>
            </a:r>
            <a:r>
              <a:rPr lang="zh-CN" altLang="en-US" sz="2800" b="1" i="1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为字节地址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3452813" y="5502275"/>
            <a:ext cx="4081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；</a:t>
            </a:r>
            <a:r>
              <a:rPr lang="en-US" altLang="zh-CN" sz="28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20H</a:t>
            </a:r>
            <a:r>
              <a:rPr lang="zh-CN" altLang="en-US" sz="28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为位地址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434975" y="2713038"/>
            <a:ext cx="83185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位地址的表示方法：</a:t>
            </a:r>
            <a:r>
              <a:rPr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可直接使用位地址，也可以用字节地址和位数结合表示。例如位地址</a:t>
            </a:r>
            <a:r>
              <a:rPr lang="en-US" altLang="zh-CN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00H</a:t>
            </a:r>
            <a:r>
              <a:rPr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20H.0</a:t>
            </a:r>
            <a:r>
              <a:rPr lang="zh-CN" altLang="en-US" sz="2800" b="1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表示的是同一位。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34975" y="4035425"/>
            <a:ext cx="48466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注意区别位地址和字节地址。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364163" y="331788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autoUpdateAnimBg="0"/>
      <p:bldP spid="26628" grpId="0" autoUpdateAnimBg="0"/>
      <p:bldP spid="26629" grpId="0" autoUpdateAnimBg="0"/>
      <p:bldP spid="26630" grpId="0" autoUpdateAnimBg="0"/>
      <p:bldP spid="26631" grpId="0" autoUpdateAnimBg="0"/>
      <p:bldP spid="2663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pic>
        <p:nvPicPr>
          <p:cNvPr id="27651" name="Picture 3" descr="表2－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76250"/>
            <a:ext cx="8785225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364088" y="164306"/>
            <a:ext cx="3509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</a:t>
            </a:r>
            <a:r>
              <a:rPr kumimoji="1"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MCS-51</a:t>
            </a:r>
            <a:r>
              <a:rPr kumimoji="1"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单片机的结构组成</a:t>
            </a:r>
            <a:endParaRPr kumimoji="1" lang="zh-CN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2838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755650" y="1258888"/>
            <a:ext cx="7632700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位寻址区之后的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30H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至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7FH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共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80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个字节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为通用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RAM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区。这些单元可以作为数据缓冲器使用。这一区域的操作指令非常丰富，数据处理方便灵活。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755650" y="3563938"/>
            <a:ext cx="7561263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 在实际应用中，常需在RAM区设置堆栈。80C51的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堆栈一般设在30H</a:t>
            </a:r>
            <a:r>
              <a:rPr 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～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7FH的范围内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。栈顶的位置由SP寄存器指示。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复位时SP的初值为07H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,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在系统初始化时可以重新设置。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895350" y="476250"/>
            <a:ext cx="63357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lang="zh-CN" altLang="en-US" sz="3200" b="1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）数据缓存区－－用户</a:t>
            </a:r>
            <a:r>
              <a:rPr lang="en-US" altLang="zh-CN" sz="3200" b="1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RAM</a:t>
            </a:r>
            <a:r>
              <a:rPr lang="zh-CN" altLang="en-US" sz="3200" b="1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utoUpdateAnimBg="0"/>
      <p:bldP spid="2867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33" name="Text Box 4"/>
          <p:cNvSpPr txBox="1">
            <a:spLocks noChangeArrowheads="1"/>
          </p:cNvSpPr>
          <p:nvPr/>
        </p:nvSpPr>
        <p:spPr bwMode="auto">
          <a:xfrm>
            <a:off x="361950" y="1966913"/>
            <a:ext cx="1555750" cy="19389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字节地址末位是</a:t>
            </a:r>
            <a:r>
              <a:rPr kumimoji="1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kumimoji="1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kumimoji="1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的</a:t>
            </a:r>
            <a:r>
              <a:rPr kumimoji="1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SFR</a:t>
            </a:r>
            <a:r>
              <a:rPr kumimoji="1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，都具有位地址。</a:t>
            </a:r>
          </a:p>
        </p:txBody>
      </p:sp>
      <p:sp>
        <p:nvSpPr>
          <p:cNvPr id="35844" name="AutoShape 17"/>
          <p:cNvSpPr>
            <a:spLocks noChangeArrowheads="1"/>
          </p:cNvSpPr>
          <p:nvPr/>
        </p:nvSpPr>
        <p:spPr bwMode="auto">
          <a:xfrm>
            <a:off x="1419225" y="1325563"/>
            <a:ext cx="546100" cy="244475"/>
          </a:xfrm>
          <a:prstGeom prst="rightArrow">
            <a:avLst>
              <a:gd name="adj1" fmla="val 50000"/>
              <a:gd name="adj2" fmla="val 558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5845" name="AutoShape 18"/>
          <p:cNvSpPr>
            <a:spLocks noChangeArrowheads="1"/>
          </p:cNvSpPr>
          <p:nvPr/>
        </p:nvSpPr>
        <p:spPr bwMode="auto">
          <a:xfrm>
            <a:off x="1419225" y="1598613"/>
            <a:ext cx="546100" cy="244475"/>
          </a:xfrm>
          <a:prstGeom prst="rightArrow">
            <a:avLst>
              <a:gd name="adj1" fmla="val 50000"/>
              <a:gd name="adj2" fmla="val 558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5846" name="AutoShape 19"/>
          <p:cNvSpPr>
            <a:spLocks noChangeArrowheads="1"/>
          </p:cNvSpPr>
          <p:nvPr/>
        </p:nvSpPr>
        <p:spPr bwMode="auto">
          <a:xfrm>
            <a:off x="1406525" y="5680075"/>
            <a:ext cx="546100" cy="244475"/>
          </a:xfrm>
          <a:prstGeom prst="rightArrow">
            <a:avLst>
              <a:gd name="adj1" fmla="val 50000"/>
              <a:gd name="adj2" fmla="val 558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5847" name="AutoShape 20"/>
          <p:cNvSpPr>
            <a:spLocks noChangeArrowheads="1"/>
          </p:cNvSpPr>
          <p:nvPr/>
        </p:nvSpPr>
        <p:spPr bwMode="auto">
          <a:xfrm>
            <a:off x="1419225" y="5980113"/>
            <a:ext cx="546100" cy="244475"/>
          </a:xfrm>
          <a:prstGeom prst="rightArrow">
            <a:avLst>
              <a:gd name="adj1" fmla="val 50000"/>
              <a:gd name="adj2" fmla="val 558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5848" name="Text Box 44"/>
          <p:cNvSpPr txBox="1">
            <a:spLocks noChangeArrowheads="1"/>
          </p:cNvSpPr>
          <p:nvPr/>
        </p:nvSpPr>
        <p:spPr bwMode="auto">
          <a:xfrm>
            <a:off x="590550" y="1393825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§2.1</a:t>
            </a:r>
          </a:p>
        </p:txBody>
      </p:sp>
      <p:sp>
        <p:nvSpPr>
          <p:cNvPr id="35849" name="Text Box 45"/>
          <p:cNvSpPr txBox="1">
            <a:spLocks noChangeArrowheads="1"/>
          </p:cNvSpPr>
          <p:nvPr/>
        </p:nvSpPr>
        <p:spPr bwMode="auto">
          <a:xfrm>
            <a:off x="628650" y="5764213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§2.1</a:t>
            </a:r>
          </a:p>
        </p:txBody>
      </p:sp>
      <p:sp>
        <p:nvSpPr>
          <p:cNvPr id="35850" name="AutoShape 17"/>
          <p:cNvSpPr>
            <a:spLocks noChangeArrowheads="1"/>
          </p:cNvSpPr>
          <p:nvPr/>
        </p:nvSpPr>
        <p:spPr bwMode="auto">
          <a:xfrm>
            <a:off x="1436688" y="715963"/>
            <a:ext cx="546100" cy="244475"/>
          </a:xfrm>
          <a:prstGeom prst="rightArrow">
            <a:avLst>
              <a:gd name="adj1" fmla="val 50000"/>
              <a:gd name="adj2" fmla="val 55844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5851" name="AutoShape 17"/>
          <p:cNvSpPr>
            <a:spLocks noChangeArrowheads="1"/>
          </p:cNvSpPr>
          <p:nvPr/>
        </p:nvSpPr>
        <p:spPr bwMode="auto">
          <a:xfrm>
            <a:off x="1436688" y="4051300"/>
            <a:ext cx="546100" cy="244475"/>
          </a:xfrm>
          <a:prstGeom prst="rightArrow">
            <a:avLst>
              <a:gd name="adj1" fmla="val 50000"/>
              <a:gd name="adj2" fmla="val 55844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5852" name="AutoShape 17"/>
          <p:cNvSpPr>
            <a:spLocks noChangeArrowheads="1"/>
          </p:cNvSpPr>
          <p:nvPr/>
        </p:nvSpPr>
        <p:spPr bwMode="auto">
          <a:xfrm>
            <a:off x="1436688" y="4576763"/>
            <a:ext cx="546100" cy="244475"/>
          </a:xfrm>
          <a:prstGeom prst="rightArrow">
            <a:avLst>
              <a:gd name="adj1" fmla="val 50000"/>
              <a:gd name="adj2" fmla="val 55844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5853" name="AutoShape 17"/>
          <p:cNvSpPr>
            <a:spLocks noChangeArrowheads="1"/>
          </p:cNvSpPr>
          <p:nvPr/>
        </p:nvSpPr>
        <p:spPr bwMode="auto">
          <a:xfrm>
            <a:off x="1446213" y="5121275"/>
            <a:ext cx="546100" cy="244475"/>
          </a:xfrm>
          <a:prstGeom prst="rightArrow">
            <a:avLst>
              <a:gd name="adj1" fmla="val 50000"/>
              <a:gd name="adj2" fmla="val 55844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5854" name="Text Box 51"/>
          <p:cNvSpPr txBox="1">
            <a:spLocks noChangeArrowheads="1"/>
          </p:cNvSpPr>
          <p:nvPr/>
        </p:nvSpPr>
        <p:spPr bwMode="auto">
          <a:xfrm>
            <a:off x="615950" y="4506913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§2.3</a:t>
            </a:r>
          </a:p>
        </p:txBody>
      </p:sp>
      <p:sp>
        <p:nvSpPr>
          <p:cNvPr id="35855" name="Text Box 52"/>
          <p:cNvSpPr txBox="1">
            <a:spLocks noChangeArrowheads="1"/>
          </p:cNvSpPr>
          <p:nvPr/>
        </p:nvSpPr>
        <p:spPr bwMode="auto">
          <a:xfrm>
            <a:off x="615950" y="665163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§2.3</a:t>
            </a:r>
          </a:p>
        </p:txBody>
      </p:sp>
      <p:grpSp>
        <p:nvGrpSpPr>
          <p:cNvPr id="49" name="Group 38">
            <a:extLst>
              <a:ext uri="{FF2B5EF4-FFF2-40B4-BE49-F238E27FC236}">
                <a16:creationId xmlns:a16="http://schemas.microsoft.com/office/drawing/2014/main" id="{F65F66DD-7A58-4838-908B-FC0BC3FFACF2}"/>
              </a:ext>
            </a:extLst>
          </p:cNvPr>
          <p:cNvGrpSpPr/>
          <p:nvPr/>
        </p:nvGrpSpPr>
        <p:grpSpPr bwMode="auto">
          <a:xfrm>
            <a:off x="1954213" y="163513"/>
            <a:ext cx="7032625" cy="6370637"/>
            <a:chOff x="1195" y="103"/>
            <a:chExt cx="4430" cy="4013"/>
          </a:xfrm>
        </p:grpSpPr>
        <p:grpSp>
          <p:nvGrpSpPr>
            <p:cNvPr id="50" name="Group 15">
              <a:extLst>
                <a:ext uri="{FF2B5EF4-FFF2-40B4-BE49-F238E27FC236}">
                  <a16:creationId xmlns:a16="http://schemas.microsoft.com/office/drawing/2014/main" id="{62C594DE-76EE-4C3A-99E1-20B32549E4ED}"/>
                </a:ext>
              </a:extLst>
            </p:cNvPr>
            <p:cNvGrpSpPr/>
            <p:nvPr/>
          </p:nvGrpSpPr>
          <p:grpSpPr bwMode="auto">
            <a:xfrm>
              <a:off x="1195" y="103"/>
              <a:ext cx="4430" cy="4013"/>
              <a:chOff x="1118" y="0"/>
              <a:chExt cx="4430" cy="4013"/>
            </a:xfrm>
          </p:grpSpPr>
          <p:pic>
            <p:nvPicPr>
              <p:cNvPr id="67" name="Picture 2">
                <a:extLst>
                  <a:ext uri="{FF2B5EF4-FFF2-40B4-BE49-F238E27FC236}">
                    <a16:creationId xmlns:a16="http://schemas.microsoft.com/office/drawing/2014/main" id="{24549BE6-742E-4490-A5EA-18E14A5A63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34" t="23996" r="4842" b="26076"/>
              <a:stretch>
                <a:fillRect/>
              </a:stretch>
            </p:blipFill>
            <p:spPr bwMode="auto">
              <a:xfrm>
                <a:off x="1118" y="0"/>
                <a:ext cx="4430" cy="21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3">
                <a:extLst>
                  <a:ext uri="{FF2B5EF4-FFF2-40B4-BE49-F238E27FC236}">
                    <a16:creationId xmlns:a16="http://schemas.microsoft.com/office/drawing/2014/main" id="{795F1913-482D-4549-8A9F-1CB6C10276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E1E1E1"/>
                  </a:clrFrom>
                  <a:clrTo>
                    <a:srgbClr val="E1E1E1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2" y="2087"/>
                <a:ext cx="4348" cy="1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1" name="Line 16">
              <a:extLst>
                <a:ext uri="{FF2B5EF4-FFF2-40B4-BE49-F238E27FC236}">
                  <a16:creationId xmlns:a16="http://schemas.microsoft.com/office/drawing/2014/main" id="{0A388786-2932-4B0F-9877-2EDCCEF59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438"/>
              <a:ext cx="43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3">
              <a:extLst>
                <a:ext uri="{FF2B5EF4-FFF2-40B4-BE49-F238E27FC236}">
                  <a16:creationId xmlns:a16="http://schemas.microsoft.com/office/drawing/2014/main" id="{19368228-6681-4EE9-8318-0E8EAA5B6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1316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4">
              <a:extLst>
                <a:ext uri="{FF2B5EF4-FFF2-40B4-BE49-F238E27FC236}">
                  <a16:creationId xmlns:a16="http://schemas.microsoft.com/office/drawing/2014/main" id="{1EE049ED-84CB-4214-BD3C-123B006AE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1328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5">
              <a:extLst>
                <a:ext uri="{FF2B5EF4-FFF2-40B4-BE49-F238E27FC236}">
                  <a16:creationId xmlns:a16="http://schemas.microsoft.com/office/drawing/2014/main" id="{C2B3C2D0-E9BD-4B50-945D-9E9E49810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3" y="1333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6">
              <a:extLst>
                <a:ext uri="{FF2B5EF4-FFF2-40B4-BE49-F238E27FC236}">
                  <a16:creationId xmlns:a16="http://schemas.microsoft.com/office/drawing/2014/main" id="{E76D6029-3619-48EA-8A5F-318DE6BAA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7" y="1333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B595ECDB-DD8B-4B5A-93FB-B1A0531AA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4" y="1333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28">
              <a:extLst>
                <a:ext uri="{FF2B5EF4-FFF2-40B4-BE49-F238E27FC236}">
                  <a16:creationId xmlns:a16="http://schemas.microsoft.com/office/drawing/2014/main" id="{096BC569-4491-462D-B641-200CD6222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0" y="1333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29">
              <a:extLst>
                <a:ext uri="{FF2B5EF4-FFF2-40B4-BE49-F238E27FC236}">
                  <a16:creationId xmlns:a16="http://schemas.microsoft.com/office/drawing/2014/main" id="{78ECF007-E1E7-436F-A1FE-DAFD17D5E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" y="1328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30">
              <a:extLst>
                <a:ext uri="{FF2B5EF4-FFF2-40B4-BE49-F238E27FC236}">
                  <a16:creationId xmlns:a16="http://schemas.microsoft.com/office/drawing/2014/main" id="{6C6EBDF1-CC22-4366-9373-BD8F9198F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" y="1322"/>
              <a:ext cx="29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/>
                <a:t>88H</a:t>
              </a:r>
            </a:p>
          </p:txBody>
        </p:sp>
        <p:sp>
          <p:nvSpPr>
            <p:cNvPr id="60" name="Text Box 31">
              <a:extLst>
                <a:ext uri="{FF2B5EF4-FFF2-40B4-BE49-F238E27FC236}">
                  <a16:creationId xmlns:a16="http://schemas.microsoft.com/office/drawing/2014/main" id="{3FE32A4A-836F-40C8-A4DD-E52394CE7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8" y="1322"/>
              <a:ext cx="29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/>
                <a:t>89H</a:t>
              </a:r>
            </a:p>
          </p:txBody>
        </p:sp>
        <p:sp>
          <p:nvSpPr>
            <p:cNvPr id="61" name="Text Box 32">
              <a:extLst>
                <a:ext uri="{FF2B5EF4-FFF2-40B4-BE49-F238E27FC236}">
                  <a16:creationId xmlns:a16="http://schemas.microsoft.com/office/drawing/2014/main" id="{97E4796C-239B-4DD4-9D0E-C5F7813FF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2" y="1322"/>
              <a:ext cx="31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/>
                <a:t>8AH</a:t>
              </a:r>
            </a:p>
          </p:txBody>
        </p:sp>
        <p:sp>
          <p:nvSpPr>
            <p:cNvPr id="62" name="Text Box 33">
              <a:extLst>
                <a:ext uri="{FF2B5EF4-FFF2-40B4-BE49-F238E27FC236}">
                  <a16:creationId xmlns:a16="http://schemas.microsoft.com/office/drawing/2014/main" id="{B726D3B2-BA44-4157-B128-FBADD6851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5" y="1316"/>
              <a:ext cx="32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/>
                <a:t>8BH</a:t>
              </a:r>
            </a:p>
          </p:txBody>
        </p:sp>
        <p:sp>
          <p:nvSpPr>
            <p:cNvPr id="63" name="Text Box 34">
              <a:extLst>
                <a:ext uri="{FF2B5EF4-FFF2-40B4-BE49-F238E27FC236}">
                  <a16:creationId xmlns:a16="http://schemas.microsoft.com/office/drawing/2014/main" id="{DD342864-A63A-408E-A0AE-0C27ABAAB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3" y="1310"/>
              <a:ext cx="31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/>
                <a:t>8CH</a:t>
              </a:r>
            </a:p>
          </p:txBody>
        </p:sp>
        <p:sp>
          <p:nvSpPr>
            <p:cNvPr id="64" name="Text Box 35">
              <a:extLst>
                <a:ext uri="{FF2B5EF4-FFF2-40B4-BE49-F238E27FC236}">
                  <a16:creationId xmlns:a16="http://schemas.microsoft.com/office/drawing/2014/main" id="{2978B2C8-C14C-4A66-B4DB-1E655148A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3" y="1310"/>
              <a:ext cx="30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/>
                <a:t>8DH</a:t>
              </a:r>
            </a:p>
          </p:txBody>
        </p:sp>
        <p:sp>
          <p:nvSpPr>
            <p:cNvPr id="65" name="Text Box 36">
              <a:extLst>
                <a:ext uri="{FF2B5EF4-FFF2-40B4-BE49-F238E27FC236}">
                  <a16:creationId xmlns:a16="http://schemas.microsoft.com/office/drawing/2014/main" id="{D53C9829-003D-4969-B085-36AD091EA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5" y="1316"/>
              <a:ext cx="29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/>
                <a:t>8EH</a:t>
              </a:r>
            </a:p>
          </p:txBody>
        </p:sp>
        <p:sp>
          <p:nvSpPr>
            <p:cNvPr id="66" name="Text Box 37">
              <a:extLst>
                <a:ext uri="{FF2B5EF4-FFF2-40B4-BE49-F238E27FC236}">
                  <a16:creationId xmlns:a16="http://schemas.microsoft.com/office/drawing/2014/main" id="{C6403247-80A3-49EE-B6EC-0784AA5B0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" y="1316"/>
              <a:ext cx="29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000"/>
                <a:t>8FH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684213" y="390525"/>
            <a:ext cx="626427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p"/>
              <a:defRPr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片外数据存储器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755650" y="1484313"/>
            <a:ext cx="7561263" cy="2449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241425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660525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079625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498725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9559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131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8703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275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片外数据存储器和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口与片内数据存储器空间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0000H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～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00FFH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是重叠的。用</a:t>
            </a:r>
            <a:r>
              <a:rPr lang="en-US" altLang="zh-CN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MOV</a:t>
            </a:r>
            <a:r>
              <a:rPr lang="zh-CN" altLang="en-US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和</a:t>
            </a:r>
            <a:r>
              <a:rPr lang="en-US" altLang="zh-CN" sz="2800" b="1" dirty="0">
                <a:solidFill>
                  <a:srgbClr val="7513D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MOVX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区分片内片外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RAM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空间。片内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RAM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使用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MOV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指令，片外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RAM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和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I/O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使用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MOVX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ahoma" panose="020B0604030504040204" pitchFamily="34" charset="0"/>
              </a:rPr>
              <a:t>指令。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lhNzhkNzI3NzgzMjVmNTVjOTdmNzdiNmViZTJjM2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1123</Words>
  <Application>Microsoft Office PowerPoint</Application>
  <PresentationFormat>全屏显示(4:3)</PresentationFormat>
  <Paragraphs>155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仿宋</vt:lpstr>
      <vt:lpstr>华文行楷</vt:lpstr>
      <vt:lpstr>楷体</vt:lpstr>
      <vt:lpstr>楷体_GB2312</vt:lpstr>
      <vt:lpstr>宋体</vt:lpstr>
      <vt:lpstr>Arial</vt:lpstr>
      <vt:lpstr>Calibri</vt:lpstr>
      <vt:lpstr>Tahoma</vt:lpstr>
      <vt:lpstr>Times New Roman</vt:lpstr>
      <vt:lpstr>Wingdings</vt:lpstr>
      <vt:lpstr>默认设计模板</vt:lpstr>
      <vt:lpstr>Visio</vt:lpstr>
      <vt:lpstr>Microsoft Visio 2000/2002 Drawing</vt:lpstr>
      <vt:lpstr>PowerPoint 演示文稿</vt:lpstr>
      <vt:lpstr>PowerPoint 演示文稿</vt:lpstr>
      <vt:lpstr>结构框图</vt:lpstr>
      <vt:lpstr>思   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 (Beijing)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Lenovo User</dc:creator>
  <cp:lastModifiedBy>admin</cp:lastModifiedBy>
  <cp:revision>90</cp:revision>
  <dcterms:created xsi:type="dcterms:W3CDTF">2013-01-22T02:28:00Z</dcterms:created>
  <dcterms:modified xsi:type="dcterms:W3CDTF">2025-02-25T11:46:23Z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5F4E2737C21141B7924CCBA29D90842C</vt:lpwstr>
  </property>
  <property fmtid="{D5CDD505-2E9C-101B-9397-08002B2CF9AE}" pid="3" name="KSOProductBuildVer">
    <vt:lpwstr>2052-11.1.0.12313</vt:lpwstr>
  </property>
</Properties>
</file>