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332" r:id="rId2"/>
    <p:sldId id="343" r:id="rId3"/>
    <p:sldId id="329" r:id="rId4"/>
    <p:sldId id="335" r:id="rId5"/>
    <p:sldId id="337" r:id="rId6"/>
    <p:sldId id="338" r:id="rId7"/>
    <p:sldId id="336" r:id="rId8"/>
    <p:sldId id="330" r:id="rId9"/>
    <p:sldId id="342" r:id="rId10"/>
    <p:sldId id="326" r:id="rId11"/>
    <p:sldId id="334" r:id="rId12"/>
    <p:sldId id="341" r:id="rId13"/>
    <p:sldId id="339" r:id="rId14"/>
    <p:sldId id="340" r:id="rId15"/>
  </p:sldIdLst>
  <p:sldSz cx="9144000" cy="6858000" type="screen4x3"/>
  <p:notesSz cx="6858000" cy="9144000"/>
  <p:custDataLst>
    <p:tags r:id="rId17"/>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F5FF"/>
    <a:srgbClr val="CC00FF"/>
    <a:srgbClr val="0000FF"/>
    <a:srgbClr val="66FFFF"/>
    <a:srgbClr val="006600"/>
    <a:srgbClr val="FF00FF"/>
    <a:srgbClr val="FF0000"/>
    <a:srgbClr val="99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380"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pPr>
              <a:defRPr/>
            </a:pPr>
            <a:fld id="{359386F0-230F-4975-AB91-178F679F0C58}" type="datetimeFigureOut">
              <a:rPr lang="zh-CN" altLang="en-US"/>
              <a:t>2025/3/3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F7824DAC-1E4C-4077-AAC5-613892205A58}"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C8D869F8-5E4C-4DD0-AE52-AC5FFB09E2D9}"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3"/>
          <p:cNvSpPr/>
          <p:nvPr userDrawn="1"/>
        </p:nvSpPr>
        <p:spPr>
          <a:xfrm>
            <a:off x="395288" y="1052513"/>
            <a:ext cx="8424862" cy="73025"/>
          </a:xfrm>
          <a:prstGeom prst="rect">
            <a:avLst/>
          </a:prstGeom>
          <a:gradFill>
            <a:gsLst>
              <a:gs pos="0">
                <a:srgbClr val="3399FF"/>
              </a:gs>
              <a:gs pos="16000">
                <a:srgbClr val="00CCCC"/>
              </a:gs>
              <a:gs pos="47000">
                <a:srgbClr val="9999FF"/>
              </a:gs>
              <a:gs pos="60001">
                <a:srgbClr val="2E6792"/>
              </a:gs>
              <a:gs pos="71001">
                <a:srgbClr val="3333CC"/>
              </a:gs>
              <a:gs pos="81000">
                <a:srgbClr val="1170FF"/>
              </a:gs>
              <a:gs pos="100000">
                <a:srgbClr val="00669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63563EEC-E661-4F7E-8870-406401F604E1}"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48A6BCD0-4046-4A66-96F2-B2300F799C3A}"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4391A59D-2460-49A2-93EC-ECE2AF89C83F}"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fld id="{053382B7-2173-4854-8123-7DC164E07E88}"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016CDD41-C402-4113-8EDB-263364413317}"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1"/>
          <p:cNvSpPr/>
          <p:nvPr userDrawn="1"/>
        </p:nvSpPr>
        <p:spPr>
          <a:xfrm>
            <a:off x="395288" y="1052513"/>
            <a:ext cx="8424862" cy="73025"/>
          </a:xfrm>
          <a:prstGeom prst="rect">
            <a:avLst/>
          </a:prstGeom>
          <a:gradFill>
            <a:gsLst>
              <a:gs pos="0">
                <a:srgbClr val="3399FF"/>
              </a:gs>
              <a:gs pos="16000">
                <a:srgbClr val="00CCCC"/>
              </a:gs>
              <a:gs pos="47000">
                <a:srgbClr val="9999FF"/>
              </a:gs>
              <a:gs pos="60001">
                <a:srgbClr val="2E6792"/>
              </a:gs>
              <a:gs pos="71001">
                <a:srgbClr val="3333CC"/>
              </a:gs>
              <a:gs pos="81000">
                <a:srgbClr val="1170FF"/>
              </a:gs>
              <a:gs pos="100000">
                <a:srgbClr val="00669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8DD7FB83-463C-4EE6-A05C-42CC0972B818}"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0F0B26DD-A244-4022-BB81-210E06BA0809}"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A7FE6F3A-F20A-4C1F-9544-98B0DB1B4BDB}"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E00B01E0-951C-42F3-B2DE-0E66F754C90A}"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F3E29820-F325-49AB-8665-C03429FC1AAD}"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atin typeface="Arial" panose="020B0604020202020204" pitchFamily="34" charset="0"/>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atin typeface="Arial" panose="020B0604020202020204" pitchFamily="34" charset="0"/>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23C74C38-0135-4D69-9005-EB74E55D9720}"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slide" Target="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2400">
              <a:latin typeface="Times New Roman" panose="02020603050405020304" pitchFamily="18" charset="0"/>
            </a:endParaRPr>
          </a:p>
        </p:txBody>
      </p:sp>
      <p:sp>
        <p:nvSpPr>
          <p:cNvPr id="3789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2400">
              <a:latin typeface="Times New Roman" panose="02020603050405020304" pitchFamily="18" charset="0"/>
            </a:endParaRPr>
          </a:p>
        </p:txBody>
      </p:sp>
      <p:sp>
        <p:nvSpPr>
          <p:cNvPr id="37892" name="Rectangle 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2400">
              <a:latin typeface="Times New Roman" panose="02020603050405020304" pitchFamily="18" charset="0"/>
            </a:endParaRPr>
          </a:p>
        </p:txBody>
      </p:sp>
      <p:sp>
        <p:nvSpPr>
          <p:cNvPr id="37893" name="Rectangle 5"/>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2400">
              <a:latin typeface="Times New Roman" panose="02020603050405020304" pitchFamily="18" charset="0"/>
            </a:endParaRPr>
          </a:p>
        </p:txBody>
      </p:sp>
      <p:sp>
        <p:nvSpPr>
          <p:cNvPr id="138246" name="Text Box 7"/>
          <p:cNvSpPr txBox="1">
            <a:spLocks noChangeArrowheads="1"/>
          </p:cNvSpPr>
          <p:nvPr/>
        </p:nvSpPr>
        <p:spPr bwMode="auto">
          <a:xfrm>
            <a:off x="2054225" y="1941513"/>
            <a:ext cx="5256213" cy="244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defRPr/>
            </a:pPr>
            <a:r>
              <a:rPr lang="en-US" altLang="zh-CN" sz="2800" b="1" dirty="0">
                <a:effectLst>
                  <a:outerShdw blurRad="38100" dist="38100" dir="2700000" algn="tl">
                    <a:srgbClr val="000000">
                      <a:alpha val="43137"/>
                    </a:srgbClr>
                  </a:outerShdw>
                </a:effectLst>
              </a:rPr>
              <a:t>2.1 </a:t>
            </a:r>
            <a:r>
              <a:rPr lang="zh-CN" altLang="en-US" sz="2800" b="1" dirty="0">
                <a:effectLst>
                  <a:outerShdw blurRad="38100" dist="38100" dir="2700000" algn="tl">
                    <a:srgbClr val="000000">
                      <a:alpha val="43137"/>
                    </a:srgbClr>
                  </a:outerShdw>
                </a:effectLst>
              </a:rPr>
              <a:t>单片机的基本结构 </a:t>
            </a:r>
          </a:p>
          <a:p>
            <a:pPr>
              <a:spcBef>
                <a:spcPct val="50000"/>
              </a:spcBef>
              <a:buFontTx/>
              <a:buNone/>
              <a:defRPr/>
            </a:pPr>
            <a:r>
              <a:rPr lang="en-US" altLang="zh-CN" sz="2800" b="1" dirty="0">
                <a:effectLst>
                  <a:outerShdw blurRad="38100" dist="38100" dir="2700000" algn="tl">
                    <a:srgbClr val="000000">
                      <a:alpha val="43137"/>
                    </a:srgbClr>
                  </a:outerShdw>
                </a:effectLst>
              </a:rPr>
              <a:t>2.2 </a:t>
            </a:r>
            <a:r>
              <a:rPr lang="zh-CN" altLang="en-US" sz="2800" b="1" dirty="0">
                <a:effectLst>
                  <a:outerShdw blurRad="38100" dist="38100" dir="2700000" algn="tl">
                    <a:srgbClr val="000000">
                      <a:alpha val="43137"/>
                    </a:srgbClr>
                  </a:outerShdw>
                </a:effectLst>
              </a:rPr>
              <a:t>单片机的存储器结构</a:t>
            </a:r>
            <a:r>
              <a:rPr lang="zh-CN" altLang="en-US" sz="2800" b="1" dirty="0">
                <a:solidFill>
                  <a:srgbClr val="CC0000"/>
                </a:solidFill>
                <a:effectLst>
                  <a:outerShdw blurRad="38100" dist="38100" dir="2700000" algn="tl">
                    <a:srgbClr val="000000">
                      <a:alpha val="43137"/>
                    </a:srgbClr>
                  </a:outerShdw>
                </a:effectLst>
              </a:rPr>
              <a:t> </a:t>
            </a:r>
          </a:p>
          <a:p>
            <a:pPr>
              <a:spcBef>
                <a:spcPct val="50000"/>
              </a:spcBef>
              <a:buFontTx/>
              <a:buNone/>
              <a:defRPr/>
            </a:pPr>
            <a:r>
              <a:rPr lang="en-US" altLang="zh-CN" sz="2800" b="1" dirty="0">
                <a:solidFill>
                  <a:srgbClr val="CC0000"/>
                </a:solidFill>
                <a:effectLst>
                  <a:outerShdw blurRad="38100" dist="38100" dir="2700000" algn="tl">
                    <a:srgbClr val="000000">
                      <a:alpha val="43137"/>
                    </a:srgbClr>
                  </a:outerShdw>
                </a:effectLst>
              </a:rPr>
              <a:t>2.3 </a:t>
            </a:r>
            <a:r>
              <a:rPr lang="zh-CN" altLang="en-US" sz="2800" b="1" dirty="0">
                <a:solidFill>
                  <a:srgbClr val="CC0000"/>
                </a:solidFill>
                <a:effectLst>
                  <a:outerShdw blurRad="38100" dist="38100" dir="2700000" algn="tl">
                    <a:srgbClr val="000000">
                      <a:alpha val="43137"/>
                    </a:srgbClr>
                  </a:outerShdw>
                </a:effectLst>
              </a:rPr>
              <a:t>单片机的复位与时序</a:t>
            </a:r>
            <a:r>
              <a:rPr lang="zh-CN" altLang="en-US" sz="2800" b="1" dirty="0">
                <a:effectLst>
                  <a:outerShdw blurRad="38100" dist="38100" dir="2700000" algn="tl">
                    <a:srgbClr val="000000">
                      <a:alpha val="43137"/>
                    </a:srgbClr>
                  </a:outerShdw>
                </a:effectLst>
              </a:rPr>
              <a:t> </a:t>
            </a:r>
          </a:p>
          <a:p>
            <a:pPr>
              <a:spcBef>
                <a:spcPct val="50000"/>
              </a:spcBef>
              <a:buFontTx/>
              <a:buNone/>
              <a:defRPr/>
            </a:pPr>
            <a:r>
              <a:rPr lang="en-US" altLang="zh-CN" sz="2800" b="1" dirty="0">
                <a:effectLst>
                  <a:outerShdw blurRad="38100" dist="38100" dir="2700000" algn="tl">
                    <a:srgbClr val="000000">
                      <a:alpha val="43137"/>
                    </a:srgbClr>
                  </a:outerShdw>
                </a:effectLst>
              </a:rPr>
              <a:t>2.4 </a:t>
            </a:r>
            <a:r>
              <a:rPr lang="zh-CN" altLang="en-US" sz="2800" b="1" dirty="0">
                <a:effectLst>
                  <a:outerShdw blurRad="38100" dist="38100" dir="2700000" algn="tl">
                    <a:srgbClr val="000000">
                      <a:alpha val="43137"/>
                    </a:srgbClr>
                  </a:outerShdw>
                </a:effectLst>
              </a:rPr>
              <a:t>单片机的并行</a:t>
            </a:r>
            <a:r>
              <a:rPr lang="en-US" altLang="zh-CN" sz="2800" b="1" dirty="0">
                <a:effectLst>
                  <a:outerShdw blurRad="38100" dist="38100" dir="2700000" algn="tl">
                    <a:srgbClr val="000000">
                      <a:alpha val="43137"/>
                    </a:srgbClr>
                  </a:outerShdw>
                </a:effectLst>
              </a:rPr>
              <a:t>I/O</a:t>
            </a:r>
            <a:r>
              <a:rPr lang="zh-CN" altLang="en-US" sz="2800" b="1" dirty="0">
                <a:effectLst>
                  <a:outerShdw blurRad="38100" dist="38100" dir="2700000" algn="tl">
                    <a:srgbClr val="000000">
                      <a:alpha val="43137"/>
                    </a:srgbClr>
                  </a:outerShdw>
                </a:effectLst>
              </a:rPr>
              <a:t>口</a:t>
            </a:r>
            <a:r>
              <a:rPr lang="zh-CN" altLang="en-US" sz="2400" b="1" dirty="0">
                <a:effectLst>
                  <a:outerShdw blurRad="38100" dist="38100" dir="2700000" algn="tl">
                    <a:srgbClr val="000000">
                      <a:alpha val="43137"/>
                    </a:srgbClr>
                  </a:outerShdw>
                </a:effectLst>
              </a:rPr>
              <a:t> </a:t>
            </a:r>
          </a:p>
        </p:txBody>
      </p:sp>
      <p:sp>
        <p:nvSpPr>
          <p:cNvPr id="9" name="Rectangle 2"/>
          <p:cNvSpPr>
            <a:spLocks noChangeArrowheads="1"/>
          </p:cNvSpPr>
          <p:nvPr/>
        </p:nvSpPr>
        <p:spPr bwMode="auto">
          <a:xfrm>
            <a:off x="5364163" y="331788"/>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第</a:t>
            </a: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章 </a:t>
            </a: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MCS-51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单片机结构组成</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1000" fill="hold"/>
                                        <p:tgtEl>
                                          <p:spTgt spid="138246">
                                            <p:txEl>
                                              <p:pRg st="2" end="2"/>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850106"/>
          </a:xfrm>
        </p:spPr>
        <p:txBody>
          <a:bodyPr/>
          <a:lstStyle/>
          <a:p>
            <a:r>
              <a:rPr lang="zh-CN" altLang="en-US" b="1" dirty="0">
                <a:solidFill>
                  <a:srgbClr val="C00000"/>
                </a:solidFill>
                <a:effectLst>
                  <a:outerShdw blurRad="38100" dist="38100" dir="2700000" algn="tl">
                    <a:srgbClr val="000000">
                      <a:alpha val="43137"/>
                    </a:srgbClr>
                  </a:outerShdw>
                </a:effectLst>
                <a:latin typeface="华文行楷" panose="02010800040101010101" pitchFamily="2" charset="-122"/>
                <a:ea typeface="华文行楷" panose="02010800040101010101" pitchFamily="2" charset="-122"/>
              </a:rPr>
              <a:t>主要内容</a:t>
            </a:r>
          </a:p>
        </p:txBody>
      </p:sp>
      <p:sp>
        <p:nvSpPr>
          <p:cNvPr id="3" name="内容占位符 2"/>
          <p:cNvSpPr>
            <a:spLocks noGrp="1"/>
          </p:cNvSpPr>
          <p:nvPr>
            <p:ph idx="1"/>
          </p:nvPr>
        </p:nvSpPr>
        <p:spPr>
          <a:xfrm>
            <a:off x="457200" y="1268760"/>
            <a:ext cx="8229600" cy="4525963"/>
          </a:xfrm>
        </p:spPr>
        <p:txBody>
          <a:bodyPr/>
          <a:lstStyle/>
          <a:p>
            <a:r>
              <a:rPr lang="zh-CN" altLang="en-US" sz="2800" b="1" dirty="0">
                <a:solidFill>
                  <a:srgbClr val="002060"/>
                </a:solidFill>
                <a:effectLst>
                  <a:outerShdw blurRad="38100" dist="38100" dir="2700000" algn="tl">
                    <a:srgbClr val="000000">
                      <a:alpha val="43137"/>
                    </a:srgbClr>
                  </a:outerShdw>
                </a:effectLst>
              </a:rPr>
              <a:t>复位的目的</a:t>
            </a:r>
            <a:endParaRPr lang="en-US" altLang="zh-CN" sz="2800" b="1" dirty="0">
              <a:solidFill>
                <a:srgbClr val="002060"/>
              </a:solidFill>
              <a:effectLst>
                <a:outerShdw blurRad="38100" dist="38100" dir="2700000" algn="tl">
                  <a:srgbClr val="000000">
                    <a:alpha val="43137"/>
                  </a:srgbClr>
                </a:outerShdw>
              </a:effectLst>
            </a:endParaRPr>
          </a:p>
          <a:p>
            <a:r>
              <a:rPr lang="zh-CN" altLang="en-US" sz="2800" b="1" dirty="0">
                <a:solidFill>
                  <a:srgbClr val="002060"/>
                </a:solidFill>
                <a:effectLst>
                  <a:outerShdw blurRad="38100" dist="38100" dir="2700000" algn="tl">
                    <a:srgbClr val="000000">
                      <a:alpha val="43137"/>
                    </a:srgbClr>
                  </a:outerShdw>
                </a:effectLst>
              </a:rPr>
              <a:t>复位的条件（</a:t>
            </a:r>
            <a:r>
              <a:rPr lang="en-US" altLang="zh-CN" sz="2800" b="1" dirty="0">
                <a:solidFill>
                  <a:srgbClr val="FF0000"/>
                </a:solidFill>
                <a:effectLst>
                  <a:outerShdw blurRad="38100" dist="38100" dir="2700000" algn="tl">
                    <a:srgbClr val="000000">
                      <a:alpha val="43137"/>
                    </a:srgbClr>
                  </a:outerShdw>
                </a:effectLst>
              </a:rPr>
              <a:t>*</a:t>
            </a:r>
            <a:r>
              <a:rPr lang="zh-CN" altLang="en-US" sz="2800" b="1" dirty="0">
                <a:solidFill>
                  <a:srgbClr val="002060"/>
                </a:solidFill>
                <a:effectLst>
                  <a:outerShdw blurRad="38100" dist="38100" dir="2700000" algn="tl">
                    <a:srgbClr val="000000">
                      <a:alpha val="43137"/>
                    </a:srgbClr>
                  </a:outerShdw>
                </a:effectLst>
              </a:rPr>
              <a:t>）</a:t>
            </a:r>
            <a:endParaRPr lang="en-US" altLang="zh-CN" sz="2800" b="1" dirty="0">
              <a:solidFill>
                <a:srgbClr val="002060"/>
              </a:solidFill>
              <a:effectLst>
                <a:outerShdw blurRad="38100" dist="38100" dir="2700000" algn="tl">
                  <a:srgbClr val="000000">
                    <a:alpha val="43137"/>
                  </a:srgbClr>
                </a:outerShdw>
              </a:effectLst>
            </a:endParaRPr>
          </a:p>
          <a:p>
            <a:r>
              <a:rPr lang="zh-CN" altLang="en-US" sz="2800" b="1" dirty="0">
                <a:solidFill>
                  <a:srgbClr val="002060"/>
                </a:solidFill>
                <a:effectLst>
                  <a:outerShdw blurRad="38100" dist="38100" dir="2700000" algn="tl">
                    <a:srgbClr val="000000">
                      <a:alpha val="43137"/>
                    </a:srgbClr>
                  </a:outerShdw>
                </a:effectLst>
              </a:rPr>
              <a:t>复位的方法</a:t>
            </a:r>
            <a:endParaRPr lang="en-US" altLang="zh-CN" sz="2800" b="1" dirty="0">
              <a:solidFill>
                <a:srgbClr val="002060"/>
              </a:solidFill>
              <a:effectLst>
                <a:outerShdw blurRad="38100" dist="38100" dir="2700000" algn="tl">
                  <a:srgbClr val="000000">
                    <a:alpha val="43137"/>
                  </a:srgbClr>
                </a:outerShdw>
              </a:effectLst>
            </a:endParaRPr>
          </a:p>
          <a:p>
            <a:r>
              <a:rPr lang="zh-CN" altLang="en-US" sz="2800" b="1" dirty="0">
                <a:solidFill>
                  <a:srgbClr val="002060"/>
                </a:solidFill>
                <a:effectLst>
                  <a:outerShdw blurRad="38100" dist="38100" dir="2700000" algn="tl">
                    <a:srgbClr val="000000">
                      <a:alpha val="43137"/>
                    </a:srgbClr>
                  </a:outerShdw>
                </a:effectLst>
              </a:rPr>
              <a:t>复位后单片机的状态（</a:t>
            </a:r>
            <a:r>
              <a:rPr lang="en-US" altLang="zh-CN" sz="2800" b="1" dirty="0">
                <a:solidFill>
                  <a:srgbClr val="FF0000"/>
                </a:solidFill>
                <a:effectLst>
                  <a:outerShdw blurRad="38100" dist="38100" dir="2700000" algn="tl">
                    <a:srgbClr val="000000">
                      <a:alpha val="43137"/>
                    </a:srgbClr>
                  </a:outerShdw>
                </a:effectLst>
              </a:rPr>
              <a:t>*</a:t>
            </a:r>
            <a:r>
              <a:rPr lang="zh-CN" altLang="en-US" sz="2800" b="1" dirty="0">
                <a:solidFill>
                  <a:srgbClr val="002060"/>
                </a:solidFill>
                <a:effectLst>
                  <a:outerShdw blurRad="38100" dist="38100" dir="2700000" algn="tl">
                    <a:srgbClr val="000000">
                      <a:alpha val="43137"/>
                    </a:srgbClr>
                  </a:outerShdw>
                </a:effectLst>
              </a:rPr>
              <a:t>）</a:t>
            </a:r>
            <a:endParaRPr lang="en-US" altLang="zh-CN" sz="2800" b="1" dirty="0">
              <a:solidFill>
                <a:srgbClr val="002060"/>
              </a:solidFill>
              <a:effectLst>
                <a:outerShdw blurRad="38100" dist="38100" dir="2700000" algn="tl">
                  <a:srgbClr val="000000">
                    <a:alpha val="43137"/>
                  </a:srgbClr>
                </a:outerShdw>
              </a:effectLst>
            </a:endParaRPr>
          </a:p>
          <a:p>
            <a:r>
              <a:rPr lang="zh-CN" altLang="en-US" sz="2800" b="1" dirty="0">
                <a:solidFill>
                  <a:srgbClr val="002060"/>
                </a:solidFill>
                <a:effectLst>
                  <a:outerShdw blurRad="38100" dist="38100" dir="2700000" algn="tl">
                    <a:srgbClr val="000000">
                      <a:alpha val="43137"/>
                    </a:srgbClr>
                  </a:outerShdw>
                </a:effectLst>
              </a:rPr>
              <a:t>时钟电路</a:t>
            </a:r>
            <a:endParaRPr lang="en-US" altLang="zh-CN" sz="2800" b="1" dirty="0">
              <a:solidFill>
                <a:srgbClr val="002060"/>
              </a:solidFill>
              <a:effectLst>
                <a:outerShdw blurRad="38100" dist="38100" dir="2700000" algn="tl">
                  <a:srgbClr val="000000">
                    <a:alpha val="43137"/>
                  </a:srgbClr>
                </a:outerShdw>
              </a:effectLst>
            </a:endParaRPr>
          </a:p>
          <a:p>
            <a:r>
              <a:rPr lang="zh-CN" altLang="en-US" sz="2800" b="1" dirty="0">
                <a:solidFill>
                  <a:srgbClr val="002060"/>
                </a:solidFill>
                <a:effectLst>
                  <a:outerShdw blurRad="38100" dist="38100" dir="2700000" algn="tl">
                    <a:srgbClr val="000000">
                      <a:alpha val="43137"/>
                    </a:srgbClr>
                  </a:outerShdw>
                </a:effectLst>
              </a:rPr>
              <a:t>时序的概念</a:t>
            </a:r>
            <a:endParaRPr lang="en-US" altLang="zh-CN" sz="2800" b="1" dirty="0">
              <a:solidFill>
                <a:srgbClr val="002060"/>
              </a:solidFill>
              <a:effectLst>
                <a:outerShdw blurRad="38100" dist="38100" dir="2700000" algn="tl">
                  <a:srgbClr val="000000">
                    <a:alpha val="43137"/>
                  </a:srgbClr>
                </a:outerShdw>
              </a:effectLst>
            </a:endParaRPr>
          </a:p>
          <a:p>
            <a:r>
              <a:rPr lang="zh-CN" altLang="en-US" sz="2800" b="1" dirty="0">
                <a:solidFill>
                  <a:srgbClr val="002060"/>
                </a:solidFill>
                <a:effectLst>
                  <a:outerShdw blurRad="38100" dist="38100" dir="2700000" algn="tl">
                    <a:srgbClr val="000000">
                      <a:alpha val="43137"/>
                    </a:srgbClr>
                  </a:outerShdw>
                </a:effectLst>
              </a:rPr>
              <a:t>什么是时钟周期？它与状态周期、机器周期、指令周期的关系？（</a:t>
            </a:r>
            <a:r>
              <a:rPr lang="en-US" altLang="zh-CN" sz="2800" b="1" dirty="0">
                <a:solidFill>
                  <a:srgbClr val="FF0000"/>
                </a:solidFill>
                <a:effectLst>
                  <a:outerShdw blurRad="38100" dist="38100" dir="2700000" algn="tl">
                    <a:srgbClr val="000000">
                      <a:alpha val="43137"/>
                    </a:srgbClr>
                  </a:outerShdw>
                </a:effectLst>
              </a:rPr>
              <a:t>*</a:t>
            </a:r>
            <a:r>
              <a:rPr lang="zh-CN" altLang="en-US" sz="2800" b="1" dirty="0">
                <a:solidFill>
                  <a:srgbClr val="002060"/>
                </a:solidFill>
                <a:effectLst>
                  <a:outerShdw blurRad="38100" dist="38100" dir="2700000" algn="tl">
                    <a:srgbClr val="000000">
                      <a:alpha val="43137"/>
                    </a:srgbClr>
                  </a:outerShdw>
                </a:effectLst>
              </a:rPr>
              <a:t>）</a:t>
            </a:r>
            <a:endParaRPr lang="en-US" altLang="zh-CN" sz="2800" b="1" dirty="0">
              <a:solidFill>
                <a:srgbClr val="002060"/>
              </a:solidFill>
              <a:effectLst>
                <a:outerShdw blurRad="38100" dist="38100" dir="2700000" algn="tl">
                  <a:srgbClr val="000000">
                    <a:alpha val="43137"/>
                  </a:srgbClr>
                </a:outerShdw>
              </a:effectLst>
            </a:endParaRPr>
          </a:p>
          <a:p>
            <a:r>
              <a:rPr lang="en-US" altLang="zh-CN" sz="2800" b="1" dirty="0">
                <a:solidFill>
                  <a:srgbClr val="002060"/>
                </a:solidFill>
                <a:effectLst>
                  <a:outerShdw blurRad="38100" dist="38100" dir="2700000" algn="tl">
                    <a:srgbClr val="000000">
                      <a:alpha val="43137"/>
                    </a:srgbClr>
                  </a:outerShdw>
                </a:effectLst>
              </a:rPr>
              <a:t>D</a:t>
            </a:r>
            <a:r>
              <a:rPr lang="zh-CN" altLang="en-US" sz="2800" b="1" dirty="0">
                <a:solidFill>
                  <a:srgbClr val="002060"/>
                </a:solidFill>
                <a:effectLst>
                  <a:outerShdw blurRad="38100" dist="38100" dir="2700000" algn="tl">
                    <a:srgbClr val="000000">
                      <a:alpha val="43137"/>
                    </a:srgbClr>
                  </a:outerShdw>
                </a:effectLst>
              </a:rPr>
              <a:t>触发器的工作原理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randombar(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576263" y="549275"/>
            <a:ext cx="7991475" cy="503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indent="476250">
              <a:spcBef>
                <a:spcPts val="1200"/>
              </a:spcBef>
              <a:defRPr/>
            </a:pPr>
            <a:r>
              <a:rPr lang="en-US" altLang="zh-CN" sz="2800" b="1" dirty="0">
                <a:effectLst>
                  <a:outerShdw blurRad="38100" dist="38100" dir="2700000" algn="tl">
                    <a:srgbClr val="000000">
                      <a:alpha val="43137"/>
                    </a:srgbClr>
                  </a:outerShdw>
                </a:effectLst>
                <a:latin typeface="Arial" panose="020B0604020202020204" pitchFamily="34" charset="0"/>
              </a:rPr>
              <a:t>1</a:t>
            </a:r>
            <a:r>
              <a:rPr lang="zh-CN" altLang="en-US" sz="2800" b="1" dirty="0">
                <a:effectLst>
                  <a:outerShdw blurRad="38100" dist="38100" dir="2700000" algn="tl">
                    <a:srgbClr val="000000">
                      <a:alpha val="43137"/>
                    </a:srgbClr>
                  </a:outerShdw>
                </a:effectLst>
                <a:latin typeface="Arial" panose="020B0604020202020204" pitchFamily="34" charset="0"/>
              </a:rPr>
              <a:t>、复位与复位电路</a:t>
            </a:r>
          </a:p>
        </p:txBody>
      </p:sp>
      <p:sp>
        <p:nvSpPr>
          <p:cNvPr id="38915" name="Rectangle 3"/>
          <p:cNvSpPr>
            <a:spLocks noChangeArrowheads="1"/>
          </p:cNvSpPr>
          <p:nvPr/>
        </p:nvSpPr>
        <p:spPr bwMode="auto">
          <a:xfrm>
            <a:off x="0" y="2838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 name="Rectangle 2"/>
          <p:cNvSpPr>
            <a:spLocks noChangeArrowheads="1"/>
          </p:cNvSpPr>
          <p:nvPr/>
        </p:nvSpPr>
        <p:spPr bwMode="auto">
          <a:xfrm>
            <a:off x="5364163" y="331788"/>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第</a:t>
            </a: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章 </a:t>
            </a: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MCS-51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单片机结构组成</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
        <p:nvSpPr>
          <p:cNvPr id="9" name="Rectangle 2"/>
          <p:cNvSpPr>
            <a:spLocks noChangeArrowheads="1"/>
          </p:cNvSpPr>
          <p:nvPr/>
        </p:nvSpPr>
        <p:spPr bwMode="auto">
          <a:xfrm>
            <a:off x="576262" y="1412777"/>
            <a:ext cx="7991475" cy="104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indent="476250">
              <a:lnSpc>
                <a:spcPct val="114000"/>
              </a:lnSpc>
              <a:spcBef>
                <a:spcPts val="1200"/>
              </a:spcBef>
              <a:defRPr/>
            </a:pPr>
            <a:r>
              <a:rPr lang="zh-CN" altLang="en-US" sz="2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复位目的</a:t>
            </a:r>
            <a:r>
              <a:rPr lang="zh-CN" altLang="en-US" sz="2800" b="1" dirty="0">
                <a:effectLst>
                  <a:outerShdw blurRad="38100" dist="38100" dir="2700000" algn="tl">
                    <a:srgbClr val="000000">
                      <a:alpha val="43137"/>
                    </a:srgbClr>
                  </a:outerShdw>
                </a:effectLst>
                <a:latin typeface="Arial" panose="020B0604020202020204" pitchFamily="34" charset="0"/>
              </a:rPr>
              <a:t>：</a:t>
            </a:r>
            <a:r>
              <a:rPr lang="zh-CN" altLang="en-US" sz="2800" b="1" dirty="0">
                <a:solidFill>
                  <a:srgbClr val="FF0000"/>
                </a:solidFill>
                <a:effectLst>
                  <a:outerShdw blurRad="38100" dist="38100" dir="2700000" algn="tl">
                    <a:srgbClr val="000000">
                      <a:alpha val="43137"/>
                    </a:srgbClr>
                  </a:outerShdw>
                </a:effectLst>
                <a:latin typeface="Arial" panose="020B0604020202020204" pitchFamily="34" charset="0"/>
              </a:rPr>
              <a:t>使单片机</a:t>
            </a:r>
            <a:r>
              <a:rPr lang="zh-CN" altLang="en-US" sz="2800" b="1" dirty="0">
                <a:effectLst>
                  <a:outerShdw blurRad="38100" dist="38100" dir="2700000" algn="tl">
                    <a:srgbClr val="000000">
                      <a:alpha val="43137"/>
                    </a:srgbClr>
                  </a:outerShdw>
                </a:effectLst>
                <a:latin typeface="Arial" panose="020B0604020202020204" pitchFamily="34" charset="0"/>
              </a:rPr>
              <a:t>或系统中的其它部件</a:t>
            </a:r>
            <a:r>
              <a:rPr lang="zh-CN" altLang="en-US" sz="2800" b="1" dirty="0">
                <a:solidFill>
                  <a:srgbClr val="FF0000"/>
                </a:solidFill>
                <a:effectLst>
                  <a:outerShdw blurRad="38100" dist="38100" dir="2700000" algn="tl">
                    <a:srgbClr val="000000">
                      <a:alpha val="43137"/>
                    </a:srgbClr>
                  </a:outerShdw>
                </a:effectLst>
                <a:latin typeface="Arial" panose="020B0604020202020204" pitchFamily="34" charset="0"/>
              </a:rPr>
              <a:t>处于某种确定的初始状态。</a:t>
            </a:r>
            <a:r>
              <a:rPr lang="zh-CN" altLang="en-US" sz="2800" dirty="0">
                <a:solidFill>
                  <a:srgbClr val="FF0000"/>
                </a:solidFill>
                <a:effectLst>
                  <a:outerShdw blurRad="38100" dist="38100" dir="2700000" algn="tl">
                    <a:srgbClr val="000000">
                      <a:alpha val="43137"/>
                    </a:srgbClr>
                  </a:outerShdw>
                </a:effectLst>
                <a:latin typeface="Arial" panose="020B0604020202020204" pitchFamily="34" charset="0"/>
              </a:rPr>
              <a:t> </a:t>
            </a:r>
          </a:p>
        </p:txBody>
      </p:sp>
      <p:sp>
        <p:nvSpPr>
          <p:cNvPr id="10" name="Rectangle 2"/>
          <p:cNvSpPr>
            <a:spLocks noChangeArrowheads="1"/>
          </p:cNvSpPr>
          <p:nvPr/>
        </p:nvSpPr>
        <p:spPr bwMode="auto">
          <a:xfrm>
            <a:off x="579112" y="2564903"/>
            <a:ext cx="7991475" cy="252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indent="476250">
              <a:spcBef>
                <a:spcPts val="1200"/>
              </a:spcBef>
              <a:defRPr/>
            </a:pPr>
            <a:r>
              <a:rPr lang="zh-CN" altLang="en-US" sz="2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单片机在何种情况下需要复位？</a:t>
            </a:r>
            <a:endParaRPr lang="en-US" altLang="zh-CN" sz="2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a:p>
            <a:pPr marL="514350" indent="-514350">
              <a:spcBef>
                <a:spcPts val="1200"/>
              </a:spcBef>
              <a:buFont typeface="+mj-ea"/>
              <a:buAutoNum type="circleNumDbPlain"/>
              <a:defRPr/>
            </a:pPr>
            <a:r>
              <a:rPr lang="zh-CN" altLang="en-US" sz="2800" b="1" dirty="0">
                <a:effectLst>
                  <a:outerShdw blurRad="38100" dist="38100" dir="2700000" algn="tl">
                    <a:srgbClr val="000000">
                      <a:alpha val="43137"/>
                    </a:srgbClr>
                  </a:outerShdw>
                </a:effectLst>
                <a:latin typeface="Arial" panose="020B0604020202020204" pitchFamily="34" charset="0"/>
              </a:rPr>
              <a:t> </a:t>
            </a:r>
            <a:r>
              <a:rPr lang="zh-CN" altLang="en-US" sz="2800" b="1" dirty="0">
                <a:solidFill>
                  <a:srgbClr val="CC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开机时复位</a:t>
            </a:r>
            <a:r>
              <a:rPr lang="zh-CN" altLang="en-US" sz="2800" b="1" dirty="0">
                <a:effectLst>
                  <a:outerShdw blurRad="38100" dist="38100" dir="2700000" algn="tl">
                    <a:srgbClr val="000000">
                      <a:alpha val="43137"/>
                    </a:srgbClr>
                  </a:outerShdw>
                </a:effectLst>
                <a:latin typeface="Arial" panose="020B0604020202020204" pitchFamily="34" charset="0"/>
              </a:rPr>
              <a:t>，使</a:t>
            </a:r>
            <a:r>
              <a:rPr lang="en-US" altLang="zh-CN" sz="2800" b="1" dirty="0">
                <a:effectLst>
                  <a:outerShdw blurRad="38100" dist="38100" dir="2700000" algn="tl">
                    <a:srgbClr val="000000">
                      <a:alpha val="43137"/>
                    </a:srgbClr>
                  </a:outerShdw>
                </a:effectLst>
                <a:latin typeface="Arial" panose="020B0604020202020204" pitchFamily="34" charset="0"/>
              </a:rPr>
              <a:t>CPU</a:t>
            </a:r>
            <a:r>
              <a:rPr lang="zh-CN" altLang="en-US" sz="2800" b="1" dirty="0">
                <a:effectLst>
                  <a:outerShdw blurRad="38100" dist="38100" dir="2700000" algn="tl">
                    <a:srgbClr val="000000">
                      <a:alpha val="43137"/>
                    </a:srgbClr>
                  </a:outerShdw>
                </a:effectLst>
                <a:latin typeface="Arial" panose="020B0604020202020204" pitchFamily="34" charset="0"/>
              </a:rPr>
              <a:t>及其他功能部件处于一个确定的初始状态，并从此状态开始工作。</a:t>
            </a:r>
            <a:endParaRPr lang="en-US" altLang="zh-CN" sz="2800" b="1" dirty="0">
              <a:effectLst>
                <a:outerShdw blurRad="38100" dist="38100" dir="2700000" algn="tl">
                  <a:srgbClr val="000000">
                    <a:alpha val="43137"/>
                  </a:srgbClr>
                </a:outerShdw>
              </a:effectLst>
              <a:latin typeface="Arial" panose="020B0604020202020204" pitchFamily="34" charset="0"/>
            </a:endParaRPr>
          </a:p>
          <a:p>
            <a:pPr marL="514350" indent="-514350">
              <a:spcBef>
                <a:spcPts val="1200"/>
              </a:spcBef>
              <a:buFont typeface="+mj-ea"/>
              <a:buAutoNum type="circleNumDbPlain"/>
              <a:defRPr/>
            </a:pPr>
            <a:r>
              <a:rPr lang="zh-CN" altLang="en-US" sz="2800" b="1" dirty="0">
                <a:effectLst>
                  <a:outerShdw blurRad="38100" dist="38100" dir="2700000" algn="tl">
                    <a:srgbClr val="000000">
                      <a:alpha val="43137"/>
                    </a:srgbClr>
                  </a:outerShdw>
                </a:effectLst>
                <a:latin typeface="Arial" panose="020B0604020202020204" pitchFamily="34" charset="0"/>
              </a:rPr>
              <a:t> 出现</a:t>
            </a:r>
            <a:r>
              <a:rPr lang="zh-CN" altLang="en-US" sz="2800" b="1" dirty="0">
                <a:solidFill>
                  <a:srgbClr val="CC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死机时</a:t>
            </a:r>
            <a:r>
              <a:rPr lang="zh-CN" altLang="en-US" sz="2800" b="1" dirty="0">
                <a:effectLst>
                  <a:outerShdw blurRad="38100" dist="38100" dir="2700000" algn="tl">
                    <a:srgbClr val="000000">
                      <a:alpha val="43137"/>
                    </a:srgbClr>
                  </a:outerShdw>
                </a:effectLst>
                <a:latin typeface="Arial" panose="020B0604020202020204" pitchFamily="34" charset="0"/>
              </a:rPr>
              <a:t>需要</a:t>
            </a:r>
            <a:r>
              <a:rPr lang="zh-CN" altLang="en-US" sz="2800" b="1" dirty="0">
                <a:solidFill>
                  <a:srgbClr val="CC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复位</a:t>
            </a:r>
            <a:r>
              <a:rPr lang="zh-CN" altLang="en-US" sz="2800" b="1" dirty="0">
                <a:effectLst>
                  <a:outerShdw blurRad="38100" dist="38100" dir="2700000" algn="tl">
                    <a:srgbClr val="000000">
                      <a:alpha val="43137"/>
                    </a:srgbClr>
                  </a:outerShdw>
                </a:effectLst>
                <a:latin typeface="Arial" panose="020B0604020202020204" pitchFamily="34" charset="0"/>
              </a:rPr>
              <a:t>，使其重新开始工作。</a:t>
            </a:r>
            <a:endParaRPr lang="en-US" altLang="zh-CN" sz="2800" b="1" dirty="0">
              <a:effectLst>
                <a:outerShdw blurRad="38100" dist="38100" dir="2700000" algn="tl">
                  <a:srgbClr val="000000">
                    <a:alpha val="43137"/>
                  </a:srgbClr>
                </a:outerShdw>
              </a:effectLst>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Effect transition="in" filter="randombar(horizontal)">
                                      <p:cBhvr>
                                        <p:cTn id="7" dur="500"/>
                                        <p:tgtEl>
                                          <p:spTgt spid="194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randombar(horizontal)">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17" dur="500"/>
                                        <p:tgtEl>
                                          <p:spTgt spid="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0">
                                            <p:txEl>
                                              <p:pRg st="1" end="1"/>
                                            </p:txEl>
                                          </p:spTgt>
                                        </p:tgtEl>
                                        <p:attrNameLst>
                                          <p:attrName>style.visibility</p:attrName>
                                        </p:attrNameLst>
                                      </p:cBhvr>
                                      <p:to>
                                        <p:strVal val="visible"/>
                                      </p:to>
                                    </p:set>
                                    <p:animEffect transition="in" filter="randombar(horizontal)">
                                      <p:cBhvr>
                                        <p:cTn id="22" dur="500"/>
                                        <p:tgtEl>
                                          <p:spTgt spid="1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0">
                                            <p:txEl>
                                              <p:pRg st="2" end="2"/>
                                            </p:txEl>
                                          </p:spTgt>
                                        </p:tgtEl>
                                        <p:attrNameLst>
                                          <p:attrName>style.visibility</p:attrName>
                                        </p:attrNameLst>
                                      </p:cBhvr>
                                      <p:to>
                                        <p:strVal val="visible"/>
                                      </p:to>
                                    </p:set>
                                    <p:animEffect transition="in" filter="randombar(horizontal)">
                                      <p:cBhvr>
                                        <p:cTn id="27"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uild="p"/>
      <p:bldP spid="9" grpId="0" build="p"/>
      <p:bldP spid="1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ChangeAspect="1" noChangeArrowheads="1"/>
          </p:cNvSpPr>
          <p:nvPr/>
        </p:nvSpPr>
        <p:spPr bwMode="auto">
          <a:xfrm>
            <a:off x="904836" y="1340768"/>
            <a:ext cx="7850708" cy="1152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FontTx/>
              <a:buNone/>
              <a:defRPr/>
            </a:pPr>
            <a:r>
              <a:rPr lang="zh-CN" altLang="en-US" sz="2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复位条件</a:t>
            </a:r>
            <a:r>
              <a:rPr kumimoji="1" lang="zh-CN" altLang="en-US" sz="2800" b="1" dirty="0">
                <a:effectLst>
                  <a:outerShdw blurRad="38100" dist="38100" dir="2700000" algn="tl">
                    <a:srgbClr val="000000">
                      <a:alpha val="43137"/>
                    </a:srgbClr>
                  </a:outerShdw>
                </a:effectLst>
                <a:latin typeface="Times New Roman" panose="02020603050405020304" pitchFamily="18" charset="0"/>
              </a:rPr>
              <a:t>：在</a:t>
            </a:r>
            <a:r>
              <a:rPr kumimoji="1" lang="en-US" altLang="zh-CN" sz="2800" b="1" dirty="0">
                <a:effectLst>
                  <a:outerShdw blurRad="38100" dist="38100" dir="2700000" algn="tl">
                    <a:srgbClr val="000000">
                      <a:alpha val="43137"/>
                    </a:srgbClr>
                  </a:outerShdw>
                </a:effectLst>
                <a:latin typeface="Times New Roman" panose="02020603050405020304" pitchFamily="18" charset="0"/>
              </a:rPr>
              <a:t>RST</a:t>
            </a:r>
            <a:r>
              <a:rPr kumimoji="1" lang="zh-CN" altLang="en-US" sz="2800" b="1" dirty="0">
                <a:effectLst>
                  <a:outerShdw blurRad="38100" dist="38100" dir="2700000" algn="tl">
                    <a:srgbClr val="000000">
                      <a:alpha val="43137"/>
                    </a:srgbClr>
                  </a:outerShdw>
                </a:effectLst>
                <a:latin typeface="Times New Roman" panose="02020603050405020304" pitchFamily="18" charset="0"/>
              </a:rPr>
              <a:t>引脚端出现</a:t>
            </a:r>
            <a:r>
              <a:rPr kumimoji="1" lang="zh-CN" altLang="en-US" sz="2800" b="1" dirty="0">
                <a:solidFill>
                  <a:srgbClr val="FF3300"/>
                </a:solidFill>
                <a:effectLst>
                  <a:outerShdw blurRad="38100" dist="38100" dir="2700000" algn="tl">
                    <a:srgbClr val="000000">
                      <a:alpha val="43137"/>
                    </a:srgbClr>
                  </a:outerShdw>
                </a:effectLst>
                <a:latin typeface="Times New Roman" panose="02020603050405020304" pitchFamily="18" charset="0"/>
              </a:rPr>
              <a:t>≥</a:t>
            </a:r>
            <a:r>
              <a:rPr kumimoji="1" lang="en-US" altLang="zh-CN" sz="2800" b="1" dirty="0">
                <a:solidFill>
                  <a:srgbClr val="FF3300"/>
                </a:solidFill>
                <a:effectLst>
                  <a:outerShdw blurRad="38100" dist="38100" dir="2700000" algn="tl">
                    <a:srgbClr val="000000">
                      <a:alpha val="43137"/>
                    </a:srgbClr>
                  </a:outerShdw>
                </a:effectLst>
                <a:latin typeface="Times New Roman" panose="02020603050405020304" pitchFamily="18" charset="0"/>
              </a:rPr>
              <a:t>10ms</a:t>
            </a:r>
            <a:r>
              <a:rPr kumimoji="1" lang="zh-CN" altLang="en-US" sz="2800" b="1" dirty="0">
                <a:solidFill>
                  <a:srgbClr val="FF3300"/>
                </a:solidFill>
                <a:effectLst>
                  <a:outerShdw blurRad="38100" dist="38100" dir="2700000" algn="tl">
                    <a:srgbClr val="000000">
                      <a:alpha val="43137"/>
                    </a:srgbClr>
                  </a:outerShdw>
                </a:effectLst>
                <a:latin typeface="Times New Roman" panose="02020603050405020304" pitchFamily="18" charset="0"/>
              </a:rPr>
              <a:t>时间的</a:t>
            </a:r>
            <a:r>
              <a:rPr kumimoji="1" lang="zh-CN" altLang="en-US" sz="2800" b="1" dirty="0">
                <a:solidFill>
                  <a:srgbClr val="0000FF"/>
                </a:solidFill>
                <a:effectLst>
                  <a:outerShdw blurRad="38100" dist="38100" dir="2700000" algn="tl">
                    <a:srgbClr val="000000">
                      <a:alpha val="43137"/>
                    </a:srgbClr>
                  </a:outerShdw>
                </a:effectLst>
                <a:latin typeface="Times New Roman" panose="02020603050405020304" pitchFamily="18" charset="0"/>
              </a:rPr>
              <a:t>高电平</a:t>
            </a:r>
            <a:r>
              <a:rPr kumimoji="1" lang="zh-CN" altLang="en-US" sz="2800" b="1" dirty="0">
                <a:solidFill>
                  <a:srgbClr val="FF3300"/>
                </a:solidFill>
                <a:effectLst>
                  <a:outerShdw blurRad="38100" dist="38100" dir="2700000" algn="tl">
                    <a:srgbClr val="000000">
                      <a:alpha val="43137"/>
                    </a:srgbClr>
                  </a:outerShdw>
                </a:effectLst>
                <a:latin typeface="Times New Roman" panose="02020603050405020304" pitchFamily="18" charset="0"/>
              </a:rPr>
              <a:t>（≥</a:t>
            </a:r>
            <a:r>
              <a:rPr kumimoji="1" lang="en-US" altLang="zh-CN" sz="2800" b="1" dirty="0">
                <a:solidFill>
                  <a:srgbClr val="FF3300"/>
                </a:solidFill>
                <a:effectLst>
                  <a:outerShdw blurRad="38100" dist="38100" dir="2700000" algn="tl">
                    <a:srgbClr val="000000">
                      <a:alpha val="43137"/>
                    </a:srgbClr>
                  </a:outerShdw>
                </a:effectLst>
                <a:latin typeface="Times New Roman" panose="02020603050405020304" pitchFamily="18" charset="0"/>
              </a:rPr>
              <a:t>3V</a:t>
            </a:r>
            <a:r>
              <a:rPr kumimoji="1" lang="zh-CN" altLang="en-US" sz="2800" b="1" dirty="0">
                <a:solidFill>
                  <a:srgbClr val="FF3300"/>
                </a:solidFill>
                <a:effectLst>
                  <a:outerShdw blurRad="38100" dist="38100" dir="2700000" algn="tl">
                    <a:srgbClr val="000000">
                      <a:alpha val="43137"/>
                    </a:srgbClr>
                  </a:outerShdw>
                </a:effectLst>
                <a:latin typeface="Times New Roman" panose="02020603050405020304" pitchFamily="18" charset="0"/>
              </a:rPr>
              <a:t>）状态</a:t>
            </a:r>
            <a:endParaRPr kumimoji="1" lang="zh-CN" altLang="en-US" sz="2800" b="1" dirty="0">
              <a:effectLst>
                <a:outerShdw blurRad="38100" dist="38100" dir="2700000" algn="tl">
                  <a:srgbClr val="000000">
                    <a:alpha val="43137"/>
                  </a:srgbClr>
                </a:outerShdw>
              </a:effectLst>
              <a:latin typeface="Times New Roman" panose="02020603050405020304" pitchFamily="18" charset="0"/>
            </a:endParaRPr>
          </a:p>
        </p:txBody>
      </p:sp>
      <p:sp>
        <p:nvSpPr>
          <p:cNvPr id="13" name="Rectangle 7"/>
          <p:cNvSpPr>
            <a:spLocks noChangeAspect="1" noChangeArrowheads="1"/>
          </p:cNvSpPr>
          <p:nvPr/>
        </p:nvSpPr>
        <p:spPr bwMode="auto">
          <a:xfrm>
            <a:off x="886437" y="2924944"/>
            <a:ext cx="7850708" cy="1152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FontTx/>
              <a:buNone/>
              <a:defRPr/>
            </a:pPr>
            <a:r>
              <a:rPr lang="zh-CN" altLang="en-US" sz="2800" b="1" dirty="0">
                <a:solidFill>
                  <a:srgbClr val="0000FF"/>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复位方法</a:t>
            </a:r>
            <a:r>
              <a:rPr kumimoji="1" lang="zh-CN" altLang="en-US" sz="2800" b="1" dirty="0">
                <a:effectLst>
                  <a:outerShdw blurRad="38100" dist="38100" dir="2700000" algn="tl">
                    <a:srgbClr val="000000">
                      <a:alpha val="43137"/>
                    </a:srgbClr>
                  </a:outerShdw>
                </a:effectLst>
                <a:latin typeface="Times New Roman" panose="02020603050405020304" pitchFamily="18" charset="0"/>
              </a:rPr>
              <a:t>：上电复位、按键复位、按键与上电复合复位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randombar(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1026158" y="4150604"/>
            <a:ext cx="2914496"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47625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None/>
            </a:pPr>
            <a:r>
              <a:rPr lang="zh-CN" altLang="en-US" sz="2400" b="1" dirty="0"/>
              <a:t>上电复位电路</a:t>
            </a:r>
            <a:endParaRPr lang="zh-CN" altLang="en-US" dirty="0"/>
          </a:p>
        </p:txBody>
      </p:sp>
      <p:pic>
        <p:nvPicPr>
          <p:cNvPr id="4" name="图片 3"/>
          <p:cNvPicPr>
            <a:picLocks noChangeAspect="1"/>
          </p:cNvPicPr>
          <p:nvPr/>
        </p:nvPicPr>
        <p:blipFill>
          <a:blip r:embed="rId2"/>
          <a:stretch>
            <a:fillRect/>
          </a:stretch>
        </p:blipFill>
        <p:spPr>
          <a:xfrm>
            <a:off x="4518658" y="1397352"/>
            <a:ext cx="4170894" cy="2437656"/>
          </a:xfrm>
          <a:prstGeom prst="rect">
            <a:avLst/>
          </a:prstGeom>
        </p:spPr>
      </p:pic>
      <p:pic>
        <p:nvPicPr>
          <p:cNvPr id="5" name="图片 4"/>
          <p:cNvPicPr>
            <a:picLocks noChangeAspect="1"/>
          </p:cNvPicPr>
          <p:nvPr/>
        </p:nvPicPr>
        <p:blipFill>
          <a:blip r:embed="rId3"/>
          <a:stretch>
            <a:fillRect/>
          </a:stretch>
        </p:blipFill>
        <p:spPr>
          <a:xfrm>
            <a:off x="628286" y="1291182"/>
            <a:ext cx="3171275" cy="2520280"/>
          </a:xfrm>
          <a:prstGeom prst="rect">
            <a:avLst/>
          </a:prstGeom>
        </p:spPr>
      </p:pic>
      <p:sp>
        <p:nvSpPr>
          <p:cNvPr id="6" name="对话气泡: 圆角矩形 5"/>
          <p:cNvSpPr/>
          <p:nvPr/>
        </p:nvSpPr>
        <p:spPr>
          <a:xfrm>
            <a:off x="2540151" y="283070"/>
            <a:ext cx="2518819" cy="891899"/>
          </a:xfrm>
          <a:prstGeom prst="wedgeRoundRectCallout">
            <a:avLst>
              <a:gd name="adj1" fmla="val -65136"/>
              <a:gd name="adj2" fmla="val 114865"/>
              <a:gd name="adj3" fmla="val 16667"/>
            </a:avLst>
          </a:prstGeom>
          <a:solidFill>
            <a:srgbClr val="66FFFF"/>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tx1"/>
                </a:solidFill>
              </a:rPr>
              <a:t>上电瞬间，电容充电电流最大，电容相当于短路，</a:t>
            </a:r>
            <a:r>
              <a:rPr lang="en-US" altLang="zh-CN" b="1" dirty="0">
                <a:solidFill>
                  <a:schemeClr val="tx1"/>
                </a:solidFill>
              </a:rPr>
              <a:t>V</a:t>
            </a:r>
            <a:r>
              <a:rPr lang="en-US" altLang="zh-CN" b="1" baseline="-25000" dirty="0">
                <a:solidFill>
                  <a:schemeClr val="tx1"/>
                </a:solidFill>
              </a:rPr>
              <a:t>A</a:t>
            </a:r>
            <a:r>
              <a:rPr lang="en-US" altLang="zh-CN" b="1" dirty="0">
                <a:solidFill>
                  <a:schemeClr val="tx1"/>
                </a:solidFill>
              </a:rPr>
              <a:t>=5V</a:t>
            </a:r>
            <a:endParaRPr lang="zh-CN" altLang="en-US" b="1" dirty="0">
              <a:solidFill>
                <a:schemeClr val="tx1"/>
              </a:solidFill>
            </a:endParaRPr>
          </a:p>
        </p:txBody>
      </p:sp>
      <p:sp>
        <p:nvSpPr>
          <p:cNvPr id="7" name="文本框 6"/>
          <p:cNvSpPr txBox="1"/>
          <p:nvPr/>
        </p:nvSpPr>
        <p:spPr>
          <a:xfrm>
            <a:off x="1865213" y="1488352"/>
            <a:ext cx="288032" cy="369332"/>
          </a:xfrm>
          <a:prstGeom prst="rect">
            <a:avLst/>
          </a:prstGeom>
          <a:noFill/>
        </p:spPr>
        <p:txBody>
          <a:bodyPr wrap="square" rtlCol="0">
            <a:spAutoFit/>
          </a:bodyPr>
          <a:lstStyle/>
          <a:p>
            <a:r>
              <a:rPr lang="en-US" altLang="zh-CN" b="1" dirty="0">
                <a:solidFill>
                  <a:srgbClr val="0000FF"/>
                </a:solidFill>
              </a:rPr>
              <a:t>A</a:t>
            </a:r>
            <a:endParaRPr lang="zh-CN" altLang="en-US" b="1" dirty="0">
              <a:solidFill>
                <a:srgbClr val="0000FF"/>
              </a:solidFill>
            </a:endParaRPr>
          </a:p>
        </p:txBody>
      </p:sp>
      <p:sp>
        <p:nvSpPr>
          <p:cNvPr id="8" name="对话气泡: 圆角矩形 7"/>
          <p:cNvSpPr/>
          <p:nvPr/>
        </p:nvSpPr>
        <p:spPr>
          <a:xfrm>
            <a:off x="6237640" y="505453"/>
            <a:ext cx="2518819" cy="891899"/>
          </a:xfrm>
          <a:prstGeom prst="wedgeRoundRectCallout">
            <a:avLst>
              <a:gd name="adj1" fmla="val -63365"/>
              <a:gd name="adj2" fmla="val 162376"/>
              <a:gd name="adj3" fmla="val 16667"/>
            </a:avLst>
          </a:prstGeom>
          <a:solidFill>
            <a:srgbClr val="66FFFF"/>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tx1"/>
                </a:solidFill>
              </a:rPr>
              <a:t>随时间的推移，</a:t>
            </a:r>
            <a:r>
              <a:rPr lang="en-US" altLang="zh-CN" b="1" dirty="0">
                <a:solidFill>
                  <a:schemeClr val="tx1"/>
                </a:solidFill>
              </a:rPr>
              <a:t> V</a:t>
            </a:r>
            <a:r>
              <a:rPr lang="en-US" altLang="zh-CN" b="1" baseline="-25000" dirty="0">
                <a:solidFill>
                  <a:schemeClr val="tx1"/>
                </a:solidFill>
              </a:rPr>
              <a:t>A</a:t>
            </a:r>
            <a:r>
              <a:rPr lang="zh-CN" altLang="en-US" b="1" dirty="0">
                <a:solidFill>
                  <a:schemeClr val="tx1"/>
                </a:solidFill>
              </a:rPr>
              <a:t>通过</a:t>
            </a:r>
            <a:r>
              <a:rPr lang="en-US" altLang="zh-CN" b="1" dirty="0">
                <a:solidFill>
                  <a:schemeClr val="tx1"/>
                </a:solidFill>
              </a:rPr>
              <a:t>R1</a:t>
            </a:r>
            <a:r>
              <a:rPr lang="zh-CN" altLang="en-US" b="1" dirty="0">
                <a:solidFill>
                  <a:schemeClr val="tx1"/>
                </a:solidFill>
              </a:rPr>
              <a:t>而放电，导致</a:t>
            </a:r>
            <a:r>
              <a:rPr lang="en-US" altLang="zh-CN" b="1" dirty="0">
                <a:solidFill>
                  <a:schemeClr val="tx1"/>
                </a:solidFill>
              </a:rPr>
              <a:t>RST</a:t>
            </a:r>
            <a:r>
              <a:rPr lang="zh-CN" altLang="en-US" b="1" dirty="0">
                <a:solidFill>
                  <a:schemeClr val="tx1"/>
                </a:solidFill>
              </a:rPr>
              <a:t>端电压下降</a:t>
            </a:r>
          </a:p>
        </p:txBody>
      </p:sp>
      <p:sp>
        <p:nvSpPr>
          <p:cNvPr id="9" name="Rectangle 5"/>
          <p:cNvSpPr>
            <a:spLocks noChangeArrowheads="1"/>
          </p:cNvSpPr>
          <p:nvPr/>
        </p:nvSpPr>
        <p:spPr bwMode="auto">
          <a:xfrm>
            <a:off x="4572000" y="4077072"/>
            <a:ext cx="3979002" cy="1750614"/>
          </a:xfrm>
          <a:prstGeom prst="rect">
            <a:avLst/>
          </a:prstGeom>
          <a:solidFill>
            <a:srgbClr val="FFC000"/>
          </a:solidFill>
          <a:ln>
            <a:noFill/>
          </a:ln>
          <a:effectLst/>
        </p:spPr>
        <p:txBody>
          <a:bodyPr/>
          <a:lstStyle>
            <a:lvl1pPr indent="47625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indent="0" eaLnBrk="1" hangingPunct="1">
              <a:lnSpc>
                <a:spcPct val="90000"/>
              </a:lnSpc>
              <a:buFontTx/>
              <a:buNone/>
            </a:pPr>
            <a:r>
              <a:rPr lang="en-US" altLang="zh-CN" sz="2400" b="1" dirty="0"/>
              <a:t>RST</a:t>
            </a:r>
            <a:r>
              <a:rPr lang="zh-CN" altLang="en-US" sz="2400" b="1" dirty="0"/>
              <a:t>端电压衰减的快慢取决于</a:t>
            </a:r>
            <a:r>
              <a:rPr lang="en-US" altLang="zh-CN" sz="2400" b="1" dirty="0"/>
              <a:t>C1</a:t>
            </a:r>
            <a:r>
              <a:rPr lang="zh-CN" altLang="en-US" sz="2400" b="1" dirty="0"/>
              <a:t>和</a:t>
            </a:r>
            <a:r>
              <a:rPr lang="en-US" altLang="zh-CN" sz="2400" b="1" dirty="0"/>
              <a:t>R1</a:t>
            </a:r>
            <a:r>
              <a:rPr lang="zh-CN" altLang="en-US" sz="2400" b="1" dirty="0"/>
              <a:t>的值。通过设置合适的</a:t>
            </a:r>
            <a:r>
              <a:rPr lang="en-US" altLang="zh-CN" sz="2400" b="1" dirty="0"/>
              <a:t>C1</a:t>
            </a:r>
            <a:r>
              <a:rPr lang="zh-CN" altLang="en-US" sz="2400" b="1" dirty="0"/>
              <a:t>和</a:t>
            </a:r>
            <a:r>
              <a:rPr lang="en-US" altLang="zh-CN" sz="2400" b="1" dirty="0"/>
              <a:t>R1</a:t>
            </a:r>
            <a:r>
              <a:rPr lang="zh-CN" altLang="en-US" sz="2400" b="1" dirty="0"/>
              <a:t>，以实现</a:t>
            </a:r>
            <a:r>
              <a:rPr lang="en-US" altLang="zh-CN" sz="2400" b="1" dirty="0"/>
              <a:t>RST</a:t>
            </a:r>
            <a:r>
              <a:rPr lang="zh-CN" altLang="en-US" sz="2400" b="1" dirty="0"/>
              <a:t>端电压高于</a:t>
            </a:r>
            <a:r>
              <a:rPr lang="en-US" altLang="zh-CN" sz="2400" b="1" dirty="0"/>
              <a:t>3V</a:t>
            </a:r>
            <a:r>
              <a:rPr lang="zh-CN" altLang="en-US" sz="2400" b="1" dirty="0"/>
              <a:t>的时间在</a:t>
            </a:r>
            <a:r>
              <a:rPr lang="en-US" altLang="zh-CN" sz="2400" b="1" dirty="0"/>
              <a:t>10ms</a:t>
            </a:r>
            <a:r>
              <a:rPr lang="zh-CN" altLang="en-US" sz="2400" b="1" dirty="0"/>
              <a:t>以上。</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9"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1272270" y="4507837"/>
            <a:ext cx="2914496"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47625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None/>
            </a:pPr>
            <a:r>
              <a:rPr lang="zh-CN" altLang="en-US" sz="2400" b="1" dirty="0"/>
              <a:t>按键复位电路</a:t>
            </a:r>
            <a:endParaRPr lang="zh-CN" altLang="en-US" dirty="0"/>
          </a:p>
        </p:txBody>
      </p:sp>
      <p:sp>
        <p:nvSpPr>
          <p:cNvPr id="5" name="Rectangle 5"/>
          <p:cNvSpPr>
            <a:spLocks noChangeArrowheads="1"/>
          </p:cNvSpPr>
          <p:nvPr/>
        </p:nvSpPr>
        <p:spPr bwMode="auto">
          <a:xfrm>
            <a:off x="4788024" y="1646596"/>
            <a:ext cx="3979002" cy="3222564"/>
          </a:xfrm>
          <a:prstGeom prst="rect">
            <a:avLst/>
          </a:prstGeom>
          <a:solidFill>
            <a:srgbClr val="FFC000"/>
          </a:solidFill>
          <a:ln>
            <a:noFill/>
          </a:ln>
          <a:effectLst/>
        </p:spPr>
        <p:txBody>
          <a:bodyPr/>
          <a:lstStyle>
            <a:lvl1pPr indent="47625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FontTx/>
              <a:buNone/>
            </a:pPr>
            <a:r>
              <a:rPr lang="zh-CN" altLang="en-US" sz="2400" b="1" dirty="0"/>
              <a:t>当键</a:t>
            </a:r>
            <a:r>
              <a:rPr lang="en-US" altLang="zh-CN" sz="2400" b="1" dirty="0"/>
              <a:t>K</a:t>
            </a:r>
            <a:r>
              <a:rPr lang="zh-CN" altLang="en-US" sz="2400" b="1" dirty="0"/>
              <a:t>按下时，</a:t>
            </a:r>
            <a:r>
              <a:rPr lang="en-US" altLang="zh-CN" sz="2400" b="1" dirty="0"/>
              <a:t>R2</a:t>
            </a:r>
            <a:r>
              <a:rPr lang="zh-CN" altLang="en-US" sz="2400" b="1" dirty="0"/>
              <a:t>的分压使得</a:t>
            </a:r>
            <a:r>
              <a:rPr lang="en-US" altLang="zh-CN" sz="2400" b="1" dirty="0"/>
              <a:t>RST</a:t>
            </a:r>
            <a:r>
              <a:rPr lang="zh-CN" altLang="en-US" sz="2400" b="1" dirty="0"/>
              <a:t>端产生高电压，按键松开时，</a:t>
            </a:r>
            <a:r>
              <a:rPr lang="en-US" altLang="zh-CN" sz="2400" b="1" dirty="0"/>
              <a:t>RST</a:t>
            </a:r>
            <a:r>
              <a:rPr lang="zh-CN" altLang="en-US" sz="2400" b="1" dirty="0"/>
              <a:t>端电压慢慢衰减至低电平。</a:t>
            </a:r>
            <a:endParaRPr lang="en-US" altLang="zh-CN" sz="2400" b="1" dirty="0"/>
          </a:p>
          <a:p>
            <a:pPr eaLnBrk="1" hangingPunct="1">
              <a:lnSpc>
                <a:spcPct val="120000"/>
              </a:lnSpc>
              <a:buFontTx/>
              <a:buNone/>
            </a:pPr>
            <a:r>
              <a:rPr lang="zh-CN" altLang="en-US" sz="2400" b="1" dirty="0"/>
              <a:t>只要按键动作产生的复位脉冲宽度大于复位时间即可保证复位的发生。</a:t>
            </a:r>
            <a:endParaRPr lang="zh-CN" altLang="en-US" sz="2400" dirty="0"/>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587" y="1610768"/>
            <a:ext cx="4099966" cy="26772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p:cNvSpPr>
            <a:spLocks noChangeArrowheads="1"/>
          </p:cNvSpPr>
          <p:nvPr/>
        </p:nvSpPr>
        <p:spPr bwMode="auto">
          <a:xfrm>
            <a:off x="1979712" y="4869160"/>
            <a:ext cx="4233485"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47625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None/>
            </a:pPr>
            <a:r>
              <a:rPr lang="zh-CN" altLang="en-US" sz="2400" b="1" dirty="0"/>
              <a:t>按键与上电复合复位电路</a:t>
            </a:r>
            <a:r>
              <a:rPr lang="zh-CN" altLang="en-US" dirty="0"/>
              <a:t> </a:t>
            </a:r>
          </a:p>
        </p:txBody>
      </p:sp>
      <p:pic>
        <p:nvPicPr>
          <p:cNvPr id="4" name="图片 3"/>
          <p:cNvPicPr>
            <a:picLocks noChangeAspect="1"/>
          </p:cNvPicPr>
          <p:nvPr/>
        </p:nvPicPr>
        <p:blipFill>
          <a:blip r:embed="rId2"/>
          <a:stretch>
            <a:fillRect/>
          </a:stretch>
        </p:blipFill>
        <p:spPr>
          <a:xfrm>
            <a:off x="2123728" y="1628800"/>
            <a:ext cx="3865691" cy="2520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589349" y="548481"/>
            <a:ext cx="5040312"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90000"/>
              </a:lnSpc>
              <a:spcBef>
                <a:spcPct val="20000"/>
              </a:spcBef>
              <a:defRPr/>
            </a:pPr>
            <a:r>
              <a:rPr lang="zh-CN" altLang="en-US" sz="3200" b="1" dirty="0">
                <a:effectLst>
                  <a:outerShdw blurRad="38100" dist="38100" dir="2700000" algn="tl">
                    <a:srgbClr val="000000">
                      <a:alpha val="43137"/>
                    </a:srgbClr>
                  </a:outerShdw>
                </a:effectLst>
              </a:rPr>
              <a:t>单片机复位后的状态</a:t>
            </a:r>
            <a:endParaRPr lang="zh-CN" altLang="en-US" sz="3200" dirty="0">
              <a:effectLst>
                <a:outerShdw blurRad="38100" dist="38100" dir="2700000" algn="tl">
                  <a:srgbClr val="000000">
                    <a:alpha val="43137"/>
                  </a:srgbClr>
                </a:outerShdw>
              </a:effectLst>
            </a:endParaRPr>
          </a:p>
        </p:txBody>
      </p:sp>
      <p:sp>
        <p:nvSpPr>
          <p:cNvPr id="20484" name="Rectangle 4"/>
          <p:cNvSpPr>
            <a:spLocks noChangeArrowheads="1"/>
          </p:cNvSpPr>
          <p:nvPr/>
        </p:nvSpPr>
        <p:spPr bwMode="auto">
          <a:xfrm>
            <a:off x="611188" y="1196975"/>
            <a:ext cx="8137525" cy="143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20000"/>
              </a:lnSpc>
              <a:spcBef>
                <a:spcPct val="20000"/>
              </a:spcBef>
              <a:defRPr/>
            </a:pPr>
            <a:r>
              <a:rPr lang="en-US" altLang="zh-CN" sz="2800" b="1" dirty="0">
                <a:solidFill>
                  <a:srgbClr val="FF3300"/>
                </a:solidFill>
                <a:effectLst>
                  <a:outerShdw blurRad="38100" dist="38100" dir="2700000" algn="tl">
                    <a:srgbClr val="000000">
                      <a:alpha val="43137"/>
                    </a:srgbClr>
                  </a:outerShdw>
                </a:effectLst>
                <a:latin typeface="宋体" panose="02010600030101010101" pitchFamily="2" charset="-122"/>
              </a:rPr>
              <a:t>PC=0000H</a:t>
            </a:r>
            <a:r>
              <a:rPr lang="zh-CN" altLang="en-US" sz="2800" b="1" dirty="0">
                <a:effectLst>
                  <a:outerShdw blurRad="38100" dist="38100" dir="2700000" algn="tl">
                    <a:srgbClr val="000000">
                      <a:alpha val="43137"/>
                    </a:srgbClr>
                  </a:outerShdw>
                </a:effectLst>
                <a:latin typeface="宋体" panose="02010600030101010101" pitchFamily="2" charset="-122"/>
              </a:rPr>
              <a:t>，所以程序从</a:t>
            </a:r>
            <a:r>
              <a:rPr lang="en-US" altLang="zh-CN" sz="2800" b="1" dirty="0">
                <a:effectLst>
                  <a:outerShdw blurRad="38100" dist="38100" dir="2700000" algn="tl">
                    <a:srgbClr val="000000">
                      <a:alpha val="43137"/>
                    </a:srgbClr>
                  </a:outerShdw>
                </a:effectLst>
                <a:latin typeface="宋体" panose="02010600030101010101" pitchFamily="2" charset="-122"/>
              </a:rPr>
              <a:t>0000H</a:t>
            </a:r>
            <a:r>
              <a:rPr lang="zh-CN" altLang="en-US" sz="2800" b="1" dirty="0">
                <a:effectLst>
                  <a:outerShdw blurRad="38100" dist="38100" dir="2700000" algn="tl">
                    <a:srgbClr val="000000">
                      <a:alpha val="43137"/>
                    </a:srgbClr>
                  </a:outerShdw>
                </a:effectLst>
                <a:latin typeface="宋体" panose="02010600030101010101" pitchFamily="2" charset="-122"/>
              </a:rPr>
              <a:t>地址单元开始执行；</a:t>
            </a:r>
          </a:p>
          <a:p>
            <a:pPr>
              <a:lnSpc>
                <a:spcPct val="120000"/>
              </a:lnSpc>
              <a:spcBef>
                <a:spcPct val="20000"/>
              </a:spcBef>
              <a:defRPr/>
            </a:pPr>
            <a:r>
              <a:rPr lang="zh-CN" altLang="en-US" sz="2800" b="1" dirty="0">
                <a:effectLst>
                  <a:outerShdw blurRad="38100" dist="38100" dir="2700000" algn="tl">
                    <a:srgbClr val="000000">
                      <a:alpha val="43137"/>
                    </a:srgbClr>
                  </a:outerShdw>
                </a:effectLst>
                <a:latin typeface="宋体" panose="02010600030101010101" pitchFamily="2" charset="-122"/>
              </a:rPr>
              <a:t>启动后，片内</a:t>
            </a:r>
            <a:r>
              <a:rPr lang="en-US" altLang="zh-CN" sz="2800" b="1" dirty="0">
                <a:effectLst>
                  <a:outerShdw blurRad="38100" dist="38100" dir="2700000" algn="tl">
                    <a:srgbClr val="000000">
                      <a:alpha val="43137"/>
                    </a:srgbClr>
                  </a:outerShdw>
                </a:effectLst>
                <a:latin typeface="宋体" panose="02010600030101010101" pitchFamily="2" charset="-122"/>
              </a:rPr>
              <a:t>RAM</a:t>
            </a:r>
            <a:r>
              <a:rPr lang="zh-CN" altLang="en-US" sz="2800" b="1" dirty="0">
                <a:effectLst>
                  <a:outerShdw blurRad="38100" dist="38100" dir="2700000" algn="tl">
                    <a:srgbClr val="000000">
                      <a:alpha val="43137"/>
                    </a:srgbClr>
                  </a:outerShdw>
                </a:effectLst>
                <a:latin typeface="宋体" panose="02010600030101010101" pitchFamily="2" charset="-122"/>
              </a:rPr>
              <a:t>为随机值，运行中的复位操作不改变片内</a:t>
            </a:r>
            <a:r>
              <a:rPr lang="en-US" altLang="zh-CN" sz="2800" b="1" dirty="0">
                <a:effectLst>
                  <a:outerShdw blurRad="38100" dist="38100" dir="2700000" algn="tl">
                    <a:srgbClr val="000000">
                      <a:alpha val="43137"/>
                    </a:srgbClr>
                  </a:outerShdw>
                </a:effectLst>
                <a:latin typeface="宋体" panose="02010600030101010101" pitchFamily="2" charset="-122"/>
              </a:rPr>
              <a:t>RAM</a:t>
            </a:r>
            <a:r>
              <a:rPr lang="zh-CN" altLang="en-US" sz="2800" b="1" dirty="0">
                <a:effectLst>
                  <a:outerShdw blurRad="38100" dist="38100" dir="2700000" algn="tl">
                    <a:srgbClr val="000000">
                      <a:alpha val="43137"/>
                    </a:srgbClr>
                  </a:outerShdw>
                </a:effectLst>
                <a:latin typeface="宋体" panose="02010600030101010101" pitchFamily="2" charset="-122"/>
              </a:rPr>
              <a:t>的内容</a:t>
            </a:r>
            <a:r>
              <a:rPr lang="zh-CN" altLang="en-US" sz="2800" dirty="0">
                <a:effectLst>
                  <a:outerShdw blurRad="38100" dist="38100" dir="2700000" algn="tl">
                    <a:srgbClr val="000000">
                      <a:alpha val="43137"/>
                    </a:srgbClr>
                  </a:outerShdw>
                </a:effectLst>
                <a:latin typeface="宋体" panose="02010600030101010101" pitchFamily="2" charset="-122"/>
              </a:rPr>
              <a:t>；</a:t>
            </a:r>
          </a:p>
        </p:txBody>
      </p:sp>
      <p:sp>
        <p:nvSpPr>
          <p:cNvPr id="20485" name="Rectangle 5"/>
          <p:cNvSpPr>
            <a:spLocks noChangeArrowheads="1"/>
          </p:cNvSpPr>
          <p:nvPr/>
        </p:nvSpPr>
        <p:spPr bwMode="auto">
          <a:xfrm>
            <a:off x="611188" y="2924175"/>
            <a:ext cx="7993062" cy="302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90000"/>
              </a:lnSpc>
              <a:spcBef>
                <a:spcPct val="20000"/>
              </a:spcBef>
              <a:defRPr/>
            </a:pPr>
            <a:r>
              <a:rPr lang="zh-CN" altLang="en-US" sz="2800" b="1" dirty="0">
                <a:solidFill>
                  <a:srgbClr val="0000FF"/>
                </a:solidFill>
                <a:effectLst>
                  <a:outerShdw blurRad="38100" dist="38100" dir="2700000" algn="tl">
                    <a:srgbClr val="000000">
                      <a:alpha val="43137"/>
                    </a:srgbClr>
                  </a:outerShdw>
                </a:effectLst>
                <a:latin typeface="宋体" panose="02010600030101010101" pitchFamily="2" charset="-122"/>
              </a:rPr>
              <a:t>特殊功能寄存器复位后的状态是确定的</a:t>
            </a:r>
            <a:r>
              <a:rPr lang="zh-CN" altLang="en-US" sz="2800" b="1" dirty="0">
                <a:effectLst>
                  <a:outerShdw blurRad="38100" dist="38100" dir="2700000" algn="tl">
                    <a:srgbClr val="000000">
                      <a:alpha val="43137"/>
                    </a:srgbClr>
                  </a:outerShdw>
                </a:effectLst>
                <a:latin typeface="宋体" panose="02010600030101010101" pitchFamily="2" charset="-122"/>
              </a:rPr>
              <a:t> ：</a:t>
            </a:r>
          </a:p>
          <a:p>
            <a:pPr>
              <a:spcBef>
                <a:spcPct val="20000"/>
              </a:spcBef>
              <a:buFontTx/>
              <a:buChar char="•"/>
              <a:defRPr/>
            </a:pPr>
            <a:r>
              <a:rPr lang="zh-CN" altLang="en-US" sz="2800" b="1" dirty="0">
                <a:solidFill>
                  <a:srgbClr val="FF0000"/>
                </a:solidFill>
                <a:effectLst>
                  <a:outerShdw blurRad="38100" dist="38100" dir="2700000" algn="tl">
                    <a:srgbClr val="000000">
                      <a:alpha val="43137"/>
                    </a:srgbClr>
                  </a:outerShdw>
                </a:effectLst>
                <a:latin typeface="宋体" panose="02010600030101010101" pitchFamily="2" charset="-122"/>
              </a:rPr>
              <a:t>P0</a:t>
            </a:r>
            <a:r>
              <a:rPr lang="en-US" sz="3200" b="1" dirty="0">
                <a:solidFill>
                  <a:srgbClr val="FF3300"/>
                </a:solidFill>
                <a:effectLst>
                  <a:outerShdw blurRad="38100" dist="38100" dir="2700000" algn="tl">
                    <a:srgbClr val="000000">
                      <a:alpha val="43137"/>
                    </a:srgbClr>
                  </a:outerShdw>
                </a:effectLst>
              </a:rPr>
              <a:t>～</a:t>
            </a:r>
            <a:r>
              <a:rPr lang="zh-CN" altLang="en-US" sz="2800" b="1" dirty="0">
                <a:solidFill>
                  <a:srgbClr val="FF0000"/>
                </a:solidFill>
                <a:effectLst>
                  <a:outerShdw blurRad="38100" dist="38100" dir="2700000" algn="tl">
                    <a:srgbClr val="000000">
                      <a:alpha val="43137"/>
                    </a:srgbClr>
                  </a:outerShdw>
                </a:effectLst>
                <a:latin typeface="宋体" panose="02010600030101010101" pitchFamily="2" charset="-122"/>
              </a:rPr>
              <a:t>P3=FFH</a:t>
            </a:r>
            <a:r>
              <a:rPr lang="zh-CN" altLang="en-US" sz="2800" b="1" dirty="0">
                <a:effectLst>
                  <a:outerShdw blurRad="38100" dist="38100" dir="2700000" algn="tl">
                    <a:srgbClr val="000000">
                      <a:alpha val="43137"/>
                    </a:srgbClr>
                  </a:outerShdw>
                </a:effectLst>
                <a:latin typeface="宋体" panose="02010600030101010101" pitchFamily="2" charset="-122"/>
              </a:rPr>
              <a:t>，各口可用于输出，也可用于输入；</a:t>
            </a:r>
          </a:p>
          <a:p>
            <a:pPr>
              <a:spcBef>
                <a:spcPct val="20000"/>
              </a:spcBef>
              <a:buFontTx/>
              <a:buChar char="•"/>
              <a:defRPr/>
            </a:pPr>
            <a:r>
              <a:rPr lang="zh-CN" altLang="en-US" sz="2800" b="1" dirty="0">
                <a:solidFill>
                  <a:srgbClr val="FF0000"/>
                </a:solidFill>
                <a:effectLst>
                  <a:outerShdw blurRad="38100" dist="38100" dir="2700000" algn="tl">
                    <a:srgbClr val="000000">
                      <a:alpha val="43137"/>
                    </a:srgbClr>
                  </a:outerShdw>
                </a:effectLst>
                <a:latin typeface="宋体" panose="02010600030101010101" pitchFamily="2" charset="-122"/>
              </a:rPr>
              <a:t>SP=07H</a:t>
            </a:r>
            <a:r>
              <a:rPr lang="zh-CN" altLang="en-US" sz="2800" b="1" dirty="0">
                <a:effectLst>
                  <a:outerShdw blurRad="38100" dist="38100" dir="2700000" algn="tl">
                    <a:srgbClr val="000000">
                      <a:alpha val="43137"/>
                    </a:srgbClr>
                  </a:outerShdw>
                </a:effectLst>
                <a:latin typeface="宋体" panose="02010600030101010101" pitchFamily="2" charset="-122"/>
              </a:rPr>
              <a:t>，第1个入栈内容将写入08H单元；</a:t>
            </a:r>
          </a:p>
          <a:p>
            <a:pPr>
              <a:spcBef>
                <a:spcPct val="20000"/>
              </a:spcBef>
              <a:buFontTx/>
              <a:buChar char="•"/>
              <a:defRPr/>
            </a:pPr>
            <a:r>
              <a:rPr lang="zh-CN" altLang="en-US" sz="2800" b="1" dirty="0">
                <a:solidFill>
                  <a:srgbClr val="FF0000"/>
                </a:solidFill>
                <a:effectLst>
                  <a:outerShdw blurRad="38100" dist="38100" dir="2700000" algn="tl">
                    <a:srgbClr val="000000">
                      <a:alpha val="43137"/>
                    </a:srgbClr>
                  </a:outerShdw>
                </a:effectLst>
                <a:latin typeface="宋体" panose="02010600030101010101" pitchFamily="2" charset="-122"/>
              </a:rPr>
              <a:t>IP、IE</a:t>
            </a:r>
            <a:r>
              <a:rPr lang="zh-CN" altLang="en-US" sz="2800" b="1" dirty="0">
                <a:effectLst>
                  <a:outerShdw blurRad="38100" dist="38100" dir="2700000" algn="tl">
                    <a:srgbClr val="000000">
                      <a:alpha val="43137"/>
                    </a:srgbClr>
                  </a:outerShdw>
                </a:effectLst>
                <a:latin typeface="宋体" panose="02010600030101010101" pitchFamily="2" charset="-122"/>
              </a:rPr>
              <a:t>和</a:t>
            </a:r>
            <a:r>
              <a:rPr lang="zh-CN" altLang="en-US" sz="2800" b="1" dirty="0">
                <a:solidFill>
                  <a:srgbClr val="FF0000"/>
                </a:solidFill>
                <a:effectLst>
                  <a:outerShdw blurRad="38100" dist="38100" dir="2700000" algn="tl">
                    <a:srgbClr val="000000">
                      <a:alpha val="43137"/>
                    </a:srgbClr>
                  </a:outerShdw>
                </a:effectLst>
                <a:latin typeface="宋体" panose="02010600030101010101" pitchFamily="2" charset="-122"/>
              </a:rPr>
              <a:t>PCON</a:t>
            </a:r>
            <a:r>
              <a:rPr lang="zh-CN" altLang="en-US" sz="2800" b="1" dirty="0">
                <a:effectLst>
                  <a:outerShdw blurRad="38100" dist="38100" dir="2700000" algn="tl">
                    <a:srgbClr val="000000">
                      <a:alpha val="43137"/>
                    </a:srgbClr>
                  </a:outerShdw>
                </a:effectLst>
                <a:latin typeface="宋体" panose="02010600030101010101" pitchFamily="2" charset="-122"/>
              </a:rPr>
              <a:t>的</a:t>
            </a:r>
            <a:r>
              <a:rPr lang="zh-CN" altLang="en-US" sz="2800" b="1" dirty="0">
                <a:solidFill>
                  <a:srgbClr val="FF0000"/>
                </a:solidFill>
                <a:effectLst>
                  <a:outerShdw blurRad="38100" dist="38100" dir="2700000" algn="tl">
                    <a:srgbClr val="000000">
                      <a:alpha val="43137"/>
                    </a:srgbClr>
                  </a:outerShdw>
                </a:effectLst>
                <a:latin typeface="宋体" panose="02010600030101010101" pitchFamily="2" charset="-122"/>
              </a:rPr>
              <a:t>有效位为0</a:t>
            </a:r>
            <a:r>
              <a:rPr lang="zh-CN" altLang="en-US" sz="2800" b="1" dirty="0">
                <a:effectLst>
                  <a:outerShdw blurRad="38100" dist="38100" dir="2700000" algn="tl">
                    <a:srgbClr val="000000">
                      <a:alpha val="43137"/>
                    </a:srgbClr>
                  </a:outerShdw>
                </a:effectLst>
                <a:latin typeface="宋体" panose="02010600030101010101" pitchFamily="2" charset="-122"/>
              </a:rPr>
              <a:t>，各中断源处于低优先级且均被关闭、串行通讯的波特率不加倍；</a:t>
            </a:r>
          </a:p>
          <a:p>
            <a:pPr>
              <a:spcBef>
                <a:spcPct val="20000"/>
              </a:spcBef>
              <a:buFontTx/>
              <a:buChar char="•"/>
              <a:defRPr/>
            </a:pPr>
            <a:r>
              <a:rPr lang="zh-CN" altLang="en-US" sz="2800" b="1" dirty="0">
                <a:solidFill>
                  <a:srgbClr val="FF0000"/>
                </a:solidFill>
                <a:effectLst>
                  <a:outerShdw blurRad="38100" dist="38100" dir="2700000" algn="tl">
                    <a:srgbClr val="000000">
                      <a:alpha val="43137"/>
                    </a:srgbClr>
                  </a:outerShdw>
                </a:effectLst>
                <a:latin typeface="宋体" panose="02010600030101010101" pitchFamily="2" charset="-122"/>
              </a:rPr>
              <a:t>PSW=00H</a:t>
            </a:r>
            <a:r>
              <a:rPr lang="zh-CN" altLang="en-US" sz="2800" b="1" dirty="0">
                <a:effectLst>
                  <a:outerShdw blurRad="38100" dist="38100" dir="2700000" algn="tl">
                    <a:srgbClr val="000000">
                      <a:alpha val="43137"/>
                    </a:srgbClr>
                  </a:outerShdw>
                </a:effectLst>
                <a:latin typeface="宋体" panose="02010600030101010101" pitchFamily="2" charset="-122"/>
              </a:rPr>
              <a:t>，当前工作寄存器为0组。</a:t>
            </a:r>
          </a:p>
        </p:txBody>
      </p:sp>
      <p:pic>
        <p:nvPicPr>
          <p:cNvPr id="39941" name="Picture 6" descr="GIF014">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6408738"/>
            <a:ext cx="76200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p:cNvSpPr>
            <a:spLocks noChangeArrowheads="1"/>
          </p:cNvSpPr>
          <p:nvPr/>
        </p:nvSpPr>
        <p:spPr bwMode="auto">
          <a:xfrm>
            <a:off x="5364163" y="331788"/>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第</a:t>
            </a: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章 </a:t>
            </a: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MCS-51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单片机结构组成</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0482"/>
                                        </p:tgtEl>
                                        <p:attrNameLst>
                                          <p:attrName>style.visibility</p:attrName>
                                        </p:attrNameLst>
                                      </p:cBhvr>
                                      <p:to>
                                        <p:strVal val="visible"/>
                                      </p:to>
                                    </p:set>
                                    <p:anim calcmode="lin" valueType="num">
                                      <p:cBhvr additive="base">
                                        <p:cTn id="7" dur="500" fill="hold"/>
                                        <p:tgtEl>
                                          <p:spTgt spid="20482"/>
                                        </p:tgtEl>
                                        <p:attrNameLst>
                                          <p:attrName>ppt_x</p:attrName>
                                        </p:attrNameLst>
                                      </p:cBhvr>
                                      <p:tavLst>
                                        <p:tav tm="0">
                                          <p:val>
                                            <p:strVal val="#ppt_x"/>
                                          </p:val>
                                        </p:tav>
                                        <p:tav tm="100000">
                                          <p:val>
                                            <p:strVal val="#ppt_x"/>
                                          </p:val>
                                        </p:tav>
                                      </p:tavLst>
                                    </p:anim>
                                    <p:anim calcmode="lin" valueType="num">
                                      <p:cBhvr additive="base">
                                        <p:cTn id="8" dur="500" fill="hold"/>
                                        <p:tgtEl>
                                          <p:spTgt spid="2048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484"/>
                                        </p:tgtEl>
                                        <p:attrNameLst>
                                          <p:attrName>style.visibility</p:attrName>
                                        </p:attrNameLst>
                                      </p:cBhvr>
                                      <p:to>
                                        <p:strVal val="visible"/>
                                      </p:to>
                                    </p:set>
                                    <p:anim calcmode="lin" valueType="num">
                                      <p:cBhvr additive="base">
                                        <p:cTn id="13" dur="500" fill="hold"/>
                                        <p:tgtEl>
                                          <p:spTgt spid="20484"/>
                                        </p:tgtEl>
                                        <p:attrNameLst>
                                          <p:attrName>ppt_x</p:attrName>
                                        </p:attrNameLst>
                                      </p:cBhvr>
                                      <p:tavLst>
                                        <p:tav tm="0">
                                          <p:val>
                                            <p:strVal val="0-#ppt_w/2"/>
                                          </p:val>
                                        </p:tav>
                                        <p:tav tm="100000">
                                          <p:val>
                                            <p:strVal val="#ppt_x"/>
                                          </p:val>
                                        </p:tav>
                                      </p:tavLst>
                                    </p:anim>
                                    <p:anim calcmode="lin" valueType="num">
                                      <p:cBhvr additive="base">
                                        <p:cTn id="14" dur="500" fill="hold"/>
                                        <p:tgtEl>
                                          <p:spTgt spid="2048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485"/>
                                        </p:tgtEl>
                                        <p:attrNameLst>
                                          <p:attrName>style.visibility</p:attrName>
                                        </p:attrNameLst>
                                      </p:cBhvr>
                                      <p:to>
                                        <p:strVal val="visible"/>
                                      </p:to>
                                    </p:set>
                                    <p:anim calcmode="lin" valueType="num">
                                      <p:cBhvr additive="base">
                                        <p:cTn id="19" dur="500" fill="hold"/>
                                        <p:tgtEl>
                                          <p:spTgt spid="20485"/>
                                        </p:tgtEl>
                                        <p:attrNameLst>
                                          <p:attrName>ppt_x</p:attrName>
                                        </p:attrNameLst>
                                      </p:cBhvr>
                                      <p:tavLst>
                                        <p:tav tm="0">
                                          <p:val>
                                            <p:strVal val="#ppt_x"/>
                                          </p:val>
                                        </p:tav>
                                        <p:tav tm="100000">
                                          <p:val>
                                            <p:strVal val="#ppt_x"/>
                                          </p:val>
                                        </p:tav>
                                      </p:tavLst>
                                    </p:anim>
                                    <p:anim calcmode="lin" valueType="num">
                                      <p:cBhvr additive="base">
                                        <p:cTn id="20" dur="500" fill="hold"/>
                                        <p:tgtEl>
                                          <p:spTgt spid="204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4" grpId="0" autoUpdateAnimBg="0"/>
      <p:bldP spid="20485"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4768" y="747712"/>
            <a:ext cx="6494463" cy="5362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文本框 1">
            <a:extLst>
              <a:ext uri="{FF2B5EF4-FFF2-40B4-BE49-F238E27FC236}">
                <a16:creationId xmlns:a16="http://schemas.microsoft.com/office/drawing/2014/main" id="{FFEB687F-92D5-43FC-BA5E-C509289D736F}"/>
              </a:ext>
            </a:extLst>
          </p:cNvPr>
          <p:cNvSpPr txBox="1"/>
          <p:nvPr/>
        </p:nvSpPr>
        <p:spPr>
          <a:xfrm>
            <a:off x="4952360" y="5270728"/>
            <a:ext cx="971992" cy="400110"/>
          </a:xfrm>
          <a:prstGeom prst="rect">
            <a:avLst/>
          </a:prstGeom>
          <a:solidFill>
            <a:srgbClr val="E5F5FF"/>
          </a:solid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PCON</a:t>
            </a:r>
            <a:endParaRPr lang="zh-CN" alt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755650" y="355600"/>
            <a:ext cx="4392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3200" b="1" dirty="0">
                <a:solidFill>
                  <a:srgbClr val="0000FF"/>
                </a:solidFill>
                <a:effectLst>
                  <a:outerShdw blurRad="38100" dist="38100" dir="2700000" algn="tl">
                    <a:srgbClr val="C0C0C0"/>
                  </a:outerShdw>
                </a:effectLst>
                <a:latin typeface="楷体_GB2312" pitchFamily="49" charset="-122"/>
                <a:ea typeface="楷体_GB2312" pitchFamily="49" charset="-122"/>
              </a:rPr>
              <a:t>2</a:t>
            </a:r>
            <a:r>
              <a:rPr lang="zh-CN" altLang="en-US" sz="3200" b="1" dirty="0">
                <a:solidFill>
                  <a:srgbClr val="0000FF"/>
                </a:solidFill>
                <a:effectLst>
                  <a:outerShdw blurRad="38100" dist="38100" dir="2700000" algn="tl">
                    <a:srgbClr val="C0C0C0"/>
                  </a:outerShdw>
                </a:effectLst>
                <a:latin typeface="楷体_GB2312" pitchFamily="49" charset="-122"/>
                <a:ea typeface="楷体_GB2312" pitchFamily="49" charset="-122"/>
              </a:rPr>
              <a:t>、时钟电路</a:t>
            </a:r>
          </a:p>
        </p:txBody>
      </p:sp>
      <p:pic>
        <p:nvPicPr>
          <p:cNvPr id="40963" name="Picture 3"/>
          <p:cNvPicPr>
            <a:picLocks noChangeAspect="1" noChangeArrowheads="1"/>
          </p:cNvPicPr>
          <p:nvPr/>
        </p:nvPicPr>
        <p:blipFill>
          <a:blip r:embed="rId2">
            <a:grayscl/>
            <a:lum bright="-42000" contrast="24000"/>
            <a:extLst>
              <a:ext uri="{28A0092B-C50C-407E-A947-70E740481C1C}">
                <a14:useLocalDpi xmlns:a14="http://schemas.microsoft.com/office/drawing/2010/main" val="0"/>
              </a:ext>
            </a:extLst>
          </a:blip>
          <a:srcRect t="-2856" r="1772" b="6857"/>
          <a:stretch>
            <a:fillRect/>
          </a:stretch>
        </p:blipFill>
        <p:spPr bwMode="auto">
          <a:xfrm>
            <a:off x="488950" y="1268413"/>
            <a:ext cx="7777163" cy="336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Text Box 4"/>
          <p:cNvSpPr txBox="1">
            <a:spLocks noChangeArrowheads="1"/>
          </p:cNvSpPr>
          <p:nvPr/>
        </p:nvSpPr>
        <p:spPr bwMode="auto">
          <a:xfrm>
            <a:off x="1619250" y="4724400"/>
            <a:ext cx="2232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000" b="1"/>
              <a:t>内部时钟电路</a:t>
            </a:r>
          </a:p>
        </p:txBody>
      </p:sp>
      <p:sp>
        <p:nvSpPr>
          <p:cNvPr id="40965" name="Text Box 5"/>
          <p:cNvSpPr txBox="1">
            <a:spLocks noChangeArrowheads="1"/>
          </p:cNvSpPr>
          <p:nvPr/>
        </p:nvSpPr>
        <p:spPr bwMode="auto">
          <a:xfrm>
            <a:off x="5219700" y="4724400"/>
            <a:ext cx="2232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000" b="1"/>
              <a:t>外部时钟电路</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ChangeAspect="1" noChangeArrowheads="1"/>
          </p:cNvSpPr>
          <p:nvPr/>
        </p:nvSpPr>
        <p:spPr bwMode="auto">
          <a:xfrm>
            <a:off x="603250" y="1471613"/>
            <a:ext cx="8016875"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30000"/>
              </a:spcBef>
              <a:buFontTx/>
              <a:buNone/>
              <a:defRPr/>
            </a:pPr>
            <a:r>
              <a:rPr lang="zh-CN" altLang="en-US" sz="2400" b="1" dirty="0">
                <a:effectLst>
                  <a:outerShdw blurRad="38100" dist="38100" dir="2700000" algn="tl">
                    <a:srgbClr val="000000">
                      <a:alpha val="43137"/>
                    </a:srgbClr>
                  </a:outerShdw>
                </a:effectLst>
              </a:rPr>
              <a:t>时钟的度量单位：</a:t>
            </a:r>
          </a:p>
          <a:p>
            <a:pPr>
              <a:spcBef>
                <a:spcPct val="30000"/>
              </a:spcBef>
              <a:buFontTx/>
              <a:buNone/>
              <a:defRPr/>
            </a:pPr>
            <a:r>
              <a:rPr lang="zh-CN" altLang="en-US" sz="2400" b="1" dirty="0">
                <a:effectLst>
                  <a:outerShdw blurRad="38100" dist="38100" dir="2700000" algn="tl">
                    <a:srgbClr val="000000">
                      <a:alpha val="43137"/>
                    </a:srgbClr>
                  </a:outerShdw>
                </a:effectLst>
              </a:rPr>
              <a:t>时钟周期（或节拍）</a:t>
            </a:r>
            <a:r>
              <a:rPr lang="en-US" altLang="zh-CN" sz="2400" b="1" dirty="0">
                <a:solidFill>
                  <a:srgbClr val="FF3300"/>
                </a:solidFill>
                <a:effectLst>
                  <a:outerShdw blurRad="38100" dist="38100" dir="2700000" algn="tl">
                    <a:srgbClr val="000000">
                      <a:alpha val="43137"/>
                    </a:srgbClr>
                  </a:outerShdw>
                </a:effectLst>
              </a:rPr>
              <a:t>P</a:t>
            </a:r>
            <a:r>
              <a:rPr lang="zh-CN" altLang="en-US" sz="2400" b="1" dirty="0">
                <a:effectLst>
                  <a:outerShdw blurRad="38100" dist="38100" dir="2700000" algn="tl">
                    <a:srgbClr val="000000">
                      <a:alpha val="43137"/>
                    </a:srgbClr>
                  </a:outerShdw>
                </a:effectLst>
              </a:rPr>
              <a:t>、状态周期</a:t>
            </a:r>
            <a:r>
              <a:rPr lang="en-US" altLang="zh-CN" sz="2400" b="1" dirty="0">
                <a:solidFill>
                  <a:srgbClr val="FF3300"/>
                </a:solidFill>
                <a:effectLst>
                  <a:outerShdw blurRad="38100" dist="38100" dir="2700000" algn="tl">
                    <a:srgbClr val="000000">
                      <a:alpha val="43137"/>
                    </a:srgbClr>
                  </a:outerShdw>
                </a:effectLst>
              </a:rPr>
              <a:t>S</a:t>
            </a:r>
            <a:r>
              <a:rPr lang="zh-CN" altLang="en-US" sz="2400" b="1" dirty="0">
                <a:effectLst>
                  <a:outerShdw blurRad="38100" dist="38100" dir="2700000" algn="tl">
                    <a:srgbClr val="000000">
                      <a:alpha val="43137"/>
                    </a:srgbClr>
                  </a:outerShdw>
                </a:effectLst>
              </a:rPr>
              <a:t>、机器周期、指令周期</a:t>
            </a:r>
          </a:p>
        </p:txBody>
      </p:sp>
      <p:pic>
        <p:nvPicPr>
          <p:cNvPr id="43011" name="Picture 4"/>
          <p:cNvPicPr>
            <a:picLocks noChangeAspect="1" noChangeArrowheads="1"/>
          </p:cNvPicPr>
          <p:nvPr/>
        </p:nvPicPr>
        <p:blipFill>
          <a:blip r:embed="rId2" cstate="print">
            <a:biLevel thresh="50000"/>
            <a:grayscl/>
            <a:extLst>
              <a:ext uri="{28A0092B-C50C-407E-A947-70E740481C1C}">
                <a14:useLocalDpi xmlns:a14="http://schemas.microsoft.com/office/drawing/2010/main" val="0"/>
              </a:ext>
            </a:extLst>
          </a:blip>
          <a:srcRect l="-3075" t="-13173" r="-4684" b="-11226"/>
          <a:stretch>
            <a:fillRect/>
          </a:stretch>
        </p:blipFill>
        <p:spPr bwMode="auto">
          <a:xfrm>
            <a:off x="1281113" y="2498725"/>
            <a:ext cx="6357937"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Rectangle 5"/>
          <p:cNvSpPr>
            <a:spLocks noChangeAspect="1" noChangeArrowheads="1"/>
          </p:cNvSpPr>
          <p:nvPr/>
        </p:nvSpPr>
        <p:spPr bwMode="auto">
          <a:xfrm>
            <a:off x="777081" y="4970927"/>
            <a:ext cx="7589837" cy="1371600"/>
          </a:xfrm>
          <a:prstGeom prst="rect">
            <a:avLst/>
          </a:prstGeom>
          <a:solidFill>
            <a:srgbClr val="FFC000"/>
          </a:solidFill>
          <a:ln>
            <a:noFill/>
          </a:ln>
        </p:spPr>
        <p:txBody>
          <a:bodyPr>
            <a:spAutoFit/>
          </a:bodyPr>
          <a:lstStyle>
            <a:lvl1pPr marL="274955" indent="-274955"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25000"/>
              </a:spcBef>
            </a:pPr>
            <a:r>
              <a:rPr kumimoji="1" lang="en-US" altLang="zh-CN" sz="2400" b="1" dirty="0">
                <a:effectLst>
                  <a:outerShdw blurRad="38100" dist="38100" dir="2700000" algn="tl">
                    <a:srgbClr val="000000">
                      <a:alpha val="43137"/>
                    </a:srgbClr>
                  </a:outerShdw>
                </a:effectLst>
                <a:latin typeface="Times New Roman" panose="02020603050405020304" pitchFamily="18" charset="0"/>
              </a:rPr>
              <a:t>1</a:t>
            </a:r>
            <a:r>
              <a:rPr kumimoji="1" lang="zh-CN" altLang="en-US" sz="2400" b="1" dirty="0">
                <a:effectLst>
                  <a:outerShdw blurRad="38100" dist="38100" dir="2700000" algn="tl">
                    <a:srgbClr val="000000">
                      <a:alpha val="43137"/>
                    </a:srgbClr>
                  </a:outerShdw>
                </a:effectLst>
                <a:latin typeface="Times New Roman" panose="02020603050405020304" pitchFamily="18" charset="0"/>
              </a:rPr>
              <a:t>个状态周期（</a:t>
            </a:r>
            <a:r>
              <a:rPr kumimoji="1" lang="en-US" altLang="zh-CN" sz="2400" b="1" dirty="0">
                <a:effectLst>
                  <a:outerShdw blurRad="38100" dist="38100" dir="2700000" algn="tl">
                    <a:srgbClr val="000000">
                      <a:alpha val="43137"/>
                    </a:srgbClr>
                  </a:outerShdw>
                </a:effectLst>
                <a:latin typeface="Times New Roman" panose="02020603050405020304" pitchFamily="18" charset="0"/>
              </a:rPr>
              <a:t>S</a:t>
            </a:r>
            <a:r>
              <a:rPr kumimoji="1" lang="zh-CN" altLang="en-US" sz="2400" b="1" dirty="0">
                <a:effectLst>
                  <a:outerShdw blurRad="38100" dist="38100" dir="2700000" algn="tl">
                    <a:srgbClr val="000000">
                      <a:alpha val="43137"/>
                    </a:srgbClr>
                  </a:outerShdw>
                </a:effectLst>
                <a:latin typeface="Times New Roman" panose="02020603050405020304" pitchFamily="18" charset="0"/>
              </a:rPr>
              <a:t>）</a:t>
            </a:r>
            <a:r>
              <a:rPr kumimoji="1" lang="en-US" altLang="zh-CN" sz="2400" b="1" dirty="0">
                <a:effectLst>
                  <a:outerShdw blurRad="38100" dist="38100" dir="2700000" algn="tl">
                    <a:srgbClr val="000000">
                      <a:alpha val="43137"/>
                    </a:srgbClr>
                  </a:outerShdw>
                </a:effectLst>
                <a:latin typeface="Times New Roman" panose="02020603050405020304" pitchFamily="18" charset="0"/>
              </a:rPr>
              <a:t>= 2</a:t>
            </a:r>
            <a:r>
              <a:rPr kumimoji="1" lang="zh-CN" altLang="en-US" sz="2400" b="1" dirty="0">
                <a:effectLst>
                  <a:outerShdw blurRad="38100" dist="38100" dir="2700000" algn="tl">
                    <a:srgbClr val="000000">
                      <a:alpha val="43137"/>
                    </a:srgbClr>
                  </a:outerShdw>
                </a:effectLst>
                <a:latin typeface="Times New Roman" panose="02020603050405020304" pitchFamily="18" charset="0"/>
              </a:rPr>
              <a:t>个节拍（</a:t>
            </a:r>
            <a:r>
              <a:rPr kumimoji="1" lang="en-US" altLang="zh-CN" sz="2400" b="1" dirty="0">
                <a:effectLst>
                  <a:outerShdw blurRad="38100" dist="38100" dir="2700000" algn="tl">
                    <a:srgbClr val="000000">
                      <a:alpha val="43137"/>
                    </a:srgbClr>
                  </a:outerShdw>
                </a:effectLst>
                <a:latin typeface="Times New Roman" panose="02020603050405020304" pitchFamily="18" charset="0"/>
              </a:rPr>
              <a:t>P</a:t>
            </a:r>
            <a:r>
              <a:rPr kumimoji="1" lang="zh-CN" altLang="en-US" sz="2400" b="1" dirty="0">
                <a:effectLst>
                  <a:outerShdw blurRad="38100" dist="38100" dir="2700000" algn="tl">
                    <a:srgbClr val="000000">
                      <a:alpha val="43137"/>
                    </a:srgbClr>
                  </a:outerShdw>
                </a:effectLst>
                <a:latin typeface="Times New Roman" panose="02020603050405020304" pitchFamily="18" charset="0"/>
              </a:rPr>
              <a:t>）</a:t>
            </a:r>
            <a:endParaRPr kumimoji="1" lang="en-US" altLang="zh-CN" sz="2400" b="1" dirty="0">
              <a:effectLst>
                <a:outerShdw blurRad="38100" dist="38100" dir="2700000" algn="tl">
                  <a:srgbClr val="000000">
                    <a:alpha val="43137"/>
                  </a:srgbClr>
                </a:outerShdw>
              </a:effectLst>
              <a:latin typeface="Times New Roman" panose="02020603050405020304" pitchFamily="18" charset="0"/>
            </a:endParaRPr>
          </a:p>
          <a:p>
            <a:pPr eaLnBrk="1" hangingPunct="1">
              <a:spcBef>
                <a:spcPct val="25000"/>
              </a:spcBef>
            </a:pPr>
            <a:r>
              <a:rPr kumimoji="1" lang="en-US" altLang="zh-CN" sz="2400" b="1" dirty="0">
                <a:effectLst>
                  <a:outerShdw blurRad="38100" dist="38100" dir="2700000" algn="tl">
                    <a:srgbClr val="000000">
                      <a:alpha val="43137"/>
                    </a:srgbClr>
                  </a:outerShdw>
                </a:effectLst>
                <a:latin typeface="Times New Roman" panose="02020603050405020304" pitchFamily="18" charset="0"/>
              </a:rPr>
              <a:t>1</a:t>
            </a:r>
            <a:r>
              <a:rPr kumimoji="1" lang="zh-CN" altLang="en-US" sz="2400" b="1" dirty="0">
                <a:effectLst>
                  <a:outerShdw blurRad="38100" dist="38100" dir="2700000" algn="tl">
                    <a:srgbClr val="000000">
                      <a:alpha val="43137"/>
                    </a:srgbClr>
                  </a:outerShdw>
                </a:effectLst>
                <a:latin typeface="Times New Roman" panose="02020603050405020304" pitchFamily="18" charset="0"/>
              </a:rPr>
              <a:t>个机器周期 </a:t>
            </a:r>
            <a:r>
              <a:rPr kumimoji="1" lang="en-US" altLang="zh-CN" sz="2400" b="1" dirty="0">
                <a:effectLst>
                  <a:outerShdw blurRad="38100" dist="38100" dir="2700000" algn="tl">
                    <a:srgbClr val="000000">
                      <a:alpha val="43137"/>
                    </a:srgbClr>
                  </a:outerShdw>
                </a:effectLst>
                <a:latin typeface="Times New Roman" panose="02020603050405020304" pitchFamily="18" charset="0"/>
              </a:rPr>
              <a:t>= 6</a:t>
            </a:r>
            <a:r>
              <a:rPr kumimoji="1" lang="zh-CN" altLang="en-US" sz="2400" b="1" dirty="0">
                <a:effectLst>
                  <a:outerShdw blurRad="38100" dist="38100" dir="2700000" algn="tl">
                    <a:srgbClr val="000000">
                      <a:alpha val="43137"/>
                    </a:srgbClr>
                  </a:outerShdw>
                </a:effectLst>
                <a:latin typeface="Times New Roman" panose="02020603050405020304" pitchFamily="18" charset="0"/>
              </a:rPr>
              <a:t>个状态（</a:t>
            </a:r>
            <a:r>
              <a:rPr kumimoji="1" lang="en-US" altLang="zh-CN" sz="2400" b="1" dirty="0">
                <a:effectLst>
                  <a:outerShdw blurRad="38100" dist="38100" dir="2700000" algn="tl">
                    <a:srgbClr val="000000">
                      <a:alpha val="43137"/>
                    </a:srgbClr>
                  </a:outerShdw>
                </a:effectLst>
                <a:latin typeface="Times New Roman" panose="02020603050405020304" pitchFamily="18" charset="0"/>
              </a:rPr>
              <a:t>S</a:t>
            </a:r>
            <a:r>
              <a:rPr kumimoji="1" lang="zh-CN" altLang="en-US" sz="2400" b="1" dirty="0">
                <a:effectLst>
                  <a:outerShdw blurRad="38100" dist="38100" dir="2700000" algn="tl">
                    <a:srgbClr val="000000">
                      <a:alpha val="43137"/>
                    </a:srgbClr>
                  </a:outerShdw>
                </a:effectLst>
                <a:latin typeface="Times New Roman" panose="02020603050405020304" pitchFamily="18" charset="0"/>
              </a:rPr>
              <a:t>） </a:t>
            </a:r>
            <a:r>
              <a:rPr kumimoji="1" lang="en-US" altLang="zh-CN" sz="2400" b="1" dirty="0">
                <a:effectLst>
                  <a:outerShdw blurRad="38100" dist="38100" dir="2700000" algn="tl">
                    <a:srgbClr val="000000">
                      <a:alpha val="43137"/>
                    </a:srgbClr>
                  </a:outerShdw>
                </a:effectLst>
                <a:latin typeface="Times New Roman" panose="02020603050405020304" pitchFamily="18" charset="0"/>
              </a:rPr>
              <a:t>=12</a:t>
            </a:r>
            <a:r>
              <a:rPr kumimoji="1" lang="zh-CN" altLang="en-US" sz="2400" b="1" dirty="0">
                <a:effectLst>
                  <a:outerShdw blurRad="38100" dist="38100" dir="2700000" algn="tl">
                    <a:srgbClr val="000000">
                      <a:alpha val="43137"/>
                    </a:srgbClr>
                  </a:outerShdw>
                </a:effectLst>
                <a:latin typeface="Times New Roman" panose="02020603050405020304" pitchFamily="18" charset="0"/>
              </a:rPr>
              <a:t>个节拍（</a:t>
            </a:r>
            <a:r>
              <a:rPr kumimoji="1" lang="en-US" altLang="zh-CN" sz="2400" b="1" dirty="0">
                <a:effectLst>
                  <a:outerShdw blurRad="38100" dist="38100" dir="2700000" algn="tl">
                    <a:srgbClr val="000000">
                      <a:alpha val="43137"/>
                    </a:srgbClr>
                  </a:outerShdw>
                </a:effectLst>
                <a:latin typeface="Times New Roman" panose="02020603050405020304" pitchFamily="18" charset="0"/>
              </a:rPr>
              <a:t>P</a:t>
            </a:r>
            <a:r>
              <a:rPr kumimoji="1" lang="zh-CN" altLang="en-US" sz="2400" b="1" dirty="0">
                <a:effectLst>
                  <a:outerShdw blurRad="38100" dist="38100" dir="2700000" algn="tl">
                    <a:srgbClr val="000000">
                      <a:alpha val="43137"/>
                    </a:srgbClr>
                  </a:outerShdw>
                </a:effectLst>
                <a:latin typeface="Times New Roman" panose="02020603050405020304" pitchFamily="18" charset="0"/>
              </a:rPr>
              <a:t>）</a:t>
            </a:r>
          </a:p>
          <a:p>
            <a:pPr eaLnBrk="1" hangingPunct="1">
              <a:spcBef>
                <a:spcPct val="25000"/>
              </a:spcBef>
            </a:pPr>
            <a:r>
              <a:rPr kumimoji="1" lang="en-US" altLang="zh-CN" sz="2400" b="1" dirty="0">
                <a:effectLst>
                  <a:outerShdw blurRad="38100" dist="38100" dir="2700000" algn="tl">
                    <a:srgbClr val="000000">
                      <a:alpha val="43137"/>
                    </a:srgbClr>
                  </a:outerShdw>
                </a:effectLst>
                <a:latin typeface="Times New Roman" panose="02020603050405020304" pitchFamily="18" charset="0"/>
              </a:rPr>
              <a:t>1</a:t>
            </a:r>
            <a:r>
              <a:rPr kumimoji="1" lang="zh-CN" altLang="en-US" sz="2400" b="1" dirty="0">
                <a:effectLst>
                  <a:outerShdw blurRad="38100" dist="38100" dir="2700000" algn="tl">
                    <a:srgbClr val="000000">
                      <a:alpha val="43137"/>
                    </a:srgbClr>
                  </a:outerShdw>
                </a:effectLst>
                <a:latin typeface="Times New Roman" panose="02020603050405020304" pitchFamily="18" charset="0"/>
              </a:rPr>
              <a:t>个指令周期约为</a:t>
            </a:r>
            <a:r>
              <a:rPr kumimoji="1" lang="en-US" altLang="zh-CN" sz="2400" b="1" dirty="0">
                <a:effectLst>
                  <a:outerShdw blurRad="38100" dist="38100" dir="2700000" algn="tl">
                    <a:srgbClr val="000000">
                      <a:alpha val="43137"/>
                    </a:srgbClr>
                  </a:outerShdw>
                </a:effectLst>
                <a:latin typeface="Times New Roman" panose="02020603050405020304" pitchFamily="18" charset="0"/>
              </a:rPr>
              <a:t>1</a:t>
            </a:r>
            <a:r>
              <a:rPr kumimoji="1" lang="zh-CN" altLang="en-US" sz="2400" b="1" dirty="0">
                <a:effectLst>
                  <a:outerShdw blurRad="38100" dist="38100" dir="2700000" algn="tl">
                    <a:srgbClr val="000000">
                      <a:alpha val="43137"/>
                    </a:srgbClr>
                  </a:outerShdw>
                </a:effectLst>
                <a:latin typeface="Times New Roman" panose="02020603050405020304" pitchFamily="18" charset="0"/>
              </a:rPr>
              <a:t>～</a:t>
            </a:r>
            <a:r>
              <a:rPr kumimoji="1" lang="en-US" altLang="zh-CN" sz="2400" b="1" dirty="0">
                <a:effectLst>
                  <a:outerShdw blurRad="38100" dist="38100" dir="2700000" algn="tl">
                    <a:srgbClr val="000000">
                      <a:alpha val="43137"/>
                    </a:srgbClr>
                  </a:outerShdw>
                </a:effectLst>
                <a:latin typeface="Times New Roman" panose="02020603050405020304" pitchFamily="18" charset="0"/>
              </a:rPr>
              <a:t>4</a:t>
            </a:r>
            <a:r>
              <a:rPr kumimoji="1" lang="zh-CN" altLang="en-US" sz="2400" b="1" dirty="0">
                <a:effectLst>
                  <a:outerShdw blurRad="38100" dist="38100" dir="2700000" algn="tl">
                    <a:srgbClr val="000000">
                      <a:alpha val="43137"/>
                    </a:srgbClr>
                  </a:outerShdw>
                </a:effectLst>
                <a:latin typeface="Times New Roman" panose="02020603050405020304" pitchFamily="18" charset="0"/>
              </a:rPr>
              <a:t>个机器周期</a:t>
            </a:r>
          </a:p>
        </p:txBody>
      </p:sp>
      <p:sp>
        <p:nvSpPr>
          <p:cNvPr id="6" name="Rectangle 9"/>
          <p:cNvSpPr>
            <a:spLocks noChangeArrowheads="1"/>
          </p:cNvSpPr>
          <p:nvPr/>
        </p:nvSpPr>
        <p:spPr bwMode="auto">
          <a:xfrm>
            <a:off x="585788" y="549275"/>
            <a:ext cx="7488237"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20000"/>
              </a:lnSpc>
              <a:spcBef>
                <a:spcPct val="20000"/>
              </a:spcBef>
              <a:defRPr/>
            </a:pPr>
            <a:r>
              <a:rPr lang="zh-CN" altLang="en-US" sz="2600" b="1" dirty="0">
                <a:effectLst>
                  <a:outerShdw blurRad="38100" dist="38100" dir="2700000" algn="tl">
                    <a:srgbClr val="000000">
                      <a:alpha val="43137"/>
                    </a:srgbClr>
                  </a:outerShdw>
                </a:effectLst>
                <a:latin typeface="宋体" panose="02010600030101010101" pitchFamily="2" charset="-122"/>
              </a:rPr>
              <a:t>   各指令的微操作在时间上有严格的次序，这种</a:t>
            </a:r>
            <a:r>
              <a:rPr lang="zh-CN" altLang="en-US" sz="2600" b="1" dirty="0">
                <a:solidFill>
                  <a:srgbClr val="FF0000"/>
                </a:solidFill>
                <a:effectLst>
                  <a:outerShdw blurRad="38100" dist="38100" dir="2700000" algn="tl">
                    <a:srgbClr val="000000">
                      <a:alpha val="43137"/>
                    </a:srgbClr>
                  </a:outerShdw>
                </a:effectLst>
                <a:latin typeface="宋体" panose="02010600030101010101" pitchFamily="2" charset="-122"/>
              </a:rPr>
              <a:t>微操作的时间次序</a:t>
            </a:r>
            <a:r>
              <a:rPr lang="zh-CN" altLang="en-US" sz="2600" b="1" dirty="0">
                <a:effectLst>
                  <a:outerShdw blurRad="38100" dist="38100" dir="2700000" algn="tl">
                    <a:srgbClr val="000000">
                      <a:alpha val="43137"/>
                    </a:srgbClr>
                  </a:outerShdw>
                </a:effectLst>
                <a:latin typeface="宋体" panose="02010600030101010101" pitchFamily="2" charset="-122"/>
              </a:rPr>
              <a:t>我们称作</a:t>
            </a:r>
            <a:r>
              <a:rPr lang="zh-CN" altLang="en-US" sz="2600" b="1" dirty="0">
                <a:solidFill>
                  <a:srgbClr val="FF0000"/>
                </a:solidFill>
                <a:effectLst>
                  <a:outerShdw blurRad="38100" dist="38100" dir="2700000" algn="tl">
                    <a:srgbClr val="000000">
                      <a:alpha val="43137"/>
                    </a:srgbClr>
                  </a:outerShdw>
                </a:effectLst>
                <a:latin typeface="宋体" panose="02010600030101010101" pitchFamily="2" charset="-122"/>
              </a:rPr>
              <a:t>时序。</a:t>
            </a:r>
            <a:r>
              <a:rPr lang="zh-CN" altLang="en-US" sz="2600" dirty="0">
                <a:effectLst>
                  <a:outerShdw blurRad="38100" dist="38100" dir="2700000" algn="tl">
                    <a:srgbClr val="000000">
                      <a:alpha val="43137"/>
                    </a:srgbClr>
                  </a:outerShdw>
                </a:effectLst>
                <a:latin typeface="宋体" panose="02010600030101010101" pitchFamily="2" charset="-122"/>
              </a:rPr>
              <a:t> </a:t>
            </a:r>
          </a:p>
        </p:txBody>
      </p:sp>
      <p:sp>
        <p:nvSpPr>
          <p:cNvPr id="7" name="Text Box 2"/>
          <p:cNvSpPr txBox="1">
            <a:spLocks noChangeArrowheads="1"/>
          </p:cNvSpPr>
          <p:nvPr/>
        </p:nvSpPr>
        <p:spPr bwMode="auto">
          <a:xfrm>
            <a:off x="323850" y="76200"/>
            <a:ext cx="41529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3200" b="1" dirty="0">
                <a:solidFill>
                  <a:srgbClr val="0000FF"/>
                </a:solidFill>
                <a:effectLst>
                  <a:outerShdw blurRad="38100" dist="38100" dir="2700000" algn="tl">
                    <a:srgbClr val="000000">
                      <a:alpha val="43137"/>
                    </a:srgbClr>
                  </a:outerShdw>
                </a:effectLst>
                <a:latin typeface="楷体_GB2312" pitchFamily="49" charset="-122"/>
                <a:ea typeface="楷体_GB2312" pitchFamily="49" charset="-122"/>
              </a:rPr>
              <a:t>3</a:t>
            </a:r>
            <a:r>
              <a:rPr lang="zh-CN" altLang="en-US" sz="3200" b="1" dirty="0">
                <a:solidFill>
                  <a:srgbClr val="0000FF"/>
                </a:solidFill>
                <a:effectLst>
                  <a:outerShdw blurRad="38100" dist="38100" dir="2700000" algn="tl">
                    <a:srgbClr val="000000">
                      <a:alpha val="43137"/>
                    </a:srgbClr>
                  </a:outerShdw>
                </a:effectLst>
                <a:latin typeface="楷体_GB2312" pitchFamily="49" charset="-122"/>
                <a:ea typeface="楷体_GB2312" pitchFamily="49" charset="-122"/>
              </a:rPr>
              <a:t>、</a:t>
            </a:r>
            <a:r>
              <a:rPr lang="en-US" altLang="zh-CN" sz="3200" b="1" dirty="0">
                <a:solidFill>
                  <a:srgbClr val="0000FF"/>
                </a:solidFill>
                <a:effectLst>
                  <a:outerShdw blurRad="38100" dist="38100" dir="2700000" algn="tl">
                    <a:srgbClr val="000000">
                      <a:alpha val="43137"/>
                    </a:srgbClr>
                  </a:outerShdw>
                </a:effectLst>
                <a:latin typeface="楷体_GB2312" pitchFamily="49" charset="-122"/>
                <a:ea typeface="楷体_GB2312" pitchFamily="49" charset="-122"/>
              </a:rPr>
              <a:t>CPU</a:t>
            </a:r>
            <a:r>
              <a:rPr lang="zh-CN" altLang="en-US" sz="3200" b="1" dirty="0">
                <a:solidFill>
                  <a:srgbClr val="0000FF"/>
                </a:solidFill>
                <a:effectLst>
                  <a:outerShdw blurRad="38100" dist="38100" dir="2700000" algn="tl">
                    <a:srgbClr val="000000">
                      <a:alpha val="43137"/>
                    </a:srgbClr>
                  </a:outerShdw>
                </a:effectLst>
                <a:latin typeface="楷体_GB2312" pitchFamily="49" charset="-122"/>
                <a:ea typeface="楷体_GB2312" pitchFamily="49" charset="-122"/>
              </a:rPr>
              <a:t>时序</a:t>
            </a:r>
          </a:p>
        </p:txBody>
      </p:sp>
      <p:sp>
        <p:nvSpPr>
          <p:cNvPr id="8" name="Rectangle 3"/>
          <p:cNvSpPr>
            <a:spLocks noChangeAspect="1" noChangeArrowheads="1"/>
          </p:cNvSpPr>
          <p:nvPr/>
        </p:nvSpPr>
        <p:spPr bwMode="auto">
          <a:xfrm>
            <a:off x="683568" y="4374353"/>
            <a:ext cx="80168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30000"/>
              </a:spcBef>
              <a:buFontTx/>
              <a:buNone/>
              <a:defRPr/>
            </a:pPr>
            <a:r>
              <a:rPr lang="zh-CN" altLang="en-US" sz="2400" b="1" dirty="0">
                <a:effectLst>
                  <a:outerShdw blurRad="38100" dist="38100" dir="2700000" algn="tl">
                    <a:srgbClr val="000000">
                      <a:alpha val="43137"/>
                    </a:srgbClr>
                  </a:outerShdw>
                </a:effectLst>
              </a:rPr>
              <a:t>时钟周期是指晶振或外加振荡源的振荡周期，又称节拍。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1266"/>
                                        </p:tgtEl>
                                        <p:attrNameLst>
                                          <p:attrName>style.visibility</p:attrName>
                                        </p:attrNameLst>
                                      </p:cBhvr>
                                      <p:to>
                                        <p:strVal val="visible"/>
                                      </p:to>
                                    </p:set>
                                    <p:animEffect transition="in" filter="randombar(horizontal)">
                                      <p:cBhvr>
                                        <p:cTn id="12" dur="500"/>
                                        <p:tgtEl>
                                          <p:spTgt spid="1126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3011"/>
                                        </p:tgtEl>
                                        <p:attrNameLst>
                                          <p:attrName>style.visibility</p:attrName>
                                        </p:attrNameLst>
                                      </p:cBhvr>
                                      <p:to>
                                        <p:strVal val="visible"/>
                                      </p:to>
                                    </p:set>
                                    <p:animEffect transition="in" filter="barn(inVertical)">
                                      <p:cBhvr>
                                        <p:cTn id="17" dur="500"/>
                                        <p:tgtEl>
                                          <p:spTgt spid="43011"/>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randombar(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43012">
                                            <p:bg/>
                                          </p:spTgt>
                                        </p:tgtEl>
                                        <p:attrNameLst>
                                          <p:attrName>style.visibility</p:attrName>
                                        </p:attrNameLst>
                                      </p:cBhvr>
                                      <p:to>
                                        <p:strVal val="visible"/>
                                      </p:to>
                                    </p:set>
                                    <p:animEffect transition="in" filter="randombar(horizontal)">
                                      <p:cBhvr>
                                        <p:cTn id="27" dur="500"/>
                                        <p:tgtEl>
                                          <p:spTgt spid="43012">
                                            <p:bg/>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43012">
                                            <p:txEl>
                                              <p:pRg st="0" end="0"/>
                                            </p:txEl>
                                          </p:spTgt>
                                        </p:tgtEl>
                                        <p:attrNameLst>
                                          <p:attrName>style.visibility</p:attrName>
                                        </p:attrNameLst>
                                      </p:cBhvr>
                                      <p:to>
                                        <p:strVal val="visible"/>
                                      </p:to>
                                    </p:set>
                                    <p:animEffect transition="in" filter="randombar(horizontal)">
                                      <p:cBhvr>
                                        <p:cTn id="32" dur="500"/>
                                        <p:tgtEl>
                                          <p:spTgt spid="4301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43012">
                                            <p:txEl>
                                              <p:pRg st="1" end="1"/>
                                            </p:txEl>
                                          </p:spTgt>
                                        </p:tgtEl>
                                        <p:attrNameLst>
                                          <p:attrName>style.visibility</p:attrName>
                                        </p:attrNameLst>
                                      </p:cBhvr>
                                      <p:to>
                                        <p:strVal val="visible"/>
                                      </p:to>
                                    </p:set>
                                    <p:animEffect transition="in" filter="randombar(horizontal)">
                                      <p:cBhvr>
                                        <p:cTn id="37" dur="500"/>
                                        <p:tgtEl>
                                          <p:spTgt spid="4301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43012">
                                            <p:txEl>
                                              <p:pRg st="2" end="2"/>
                                            </p:txEl>
                                          </p:spTgt>
                                        </p:tgtEl>
                                        <p:attrNameLst>
                                          <p:attrName>style.visibility</p:attrName>
                                        </p:attrNameLst>
                                      </p:cBhvr>
                                      <p:to>
                                        <p:strVal val="visible"/>
                                      </p:to>
                                    </p:set>
                                    <p:animEffect transition="in" filter="randombar(horizontal)">
                                      <p:cBhvr>
                                        <p:cTn id="42" dur="500"/>
                                        <p:tgtEl>
                                          <p:spTgt spid="430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43012" grpId="0" build="p" animBg="1"/>
      <p:bldP spid="6"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75556" y="332656"/>
            <a:ext cx="7992888" cy="2593980"/>
          </a:xfrm>
          <a:prstGeom prst="rect">
            <a:avLst/>
          </a:prstGeom>
          <a:noFill/>
        </p:spPr>
        <p:txBody>
          <a:bodyPr wrap="square" rtlCol="0">
            <a:spAutoFit/>
          </a:bodyPr>
          <a:lstStyle/>
          <a:p>
            <a:pPr>
              <a:lnSpc>
                <a:spcPct val="150000"/>
              </a:lnSpc>
            </a:pPr>
            <a:r>
              <a:rPr lang="en-US" altLang="zh-CN" sz="2800" b="1" dirty="0">
                <a:effectLst>
                  <a:outerShdw blurRad="38100" dist="38100" dir="2700000" algn="tl">
                    <a:srgbClr val="000000">
                      <a:alpha val="43137"/>
                    </a:srgbClr>
                  </a:outerShdw>
                </a:effectLst>
              </a:rPr>
              <a:t>CPU</a:t>
            </a:r>
            <a:r>
              <a:rPr lang="zh-CN" altLang="en-US" sz="2800" b="1" dirty="0">
                <a:effectLst>
                  <a:outerShdw blurRad="38100" dist="38100" dir="2700000" algn="tl">
                    <a:srgbClr val="000000">
                      <a:alpha val="43137"/>
                    </a:srgbClr>
                  </a:outerShdw>
                </a:effectLst>
              </a:rPr>
              <a:t>发出的时序信号分为两类：</a:t>
            </a:r>
            <a:endParaRPr lang="en-US" altLang="zh-CN" sz="2800" b="1" dirty="0">
              <a:effectLst>
                <a:outerShdw blurRad="38100" dist="38100" dir="2700000" algn="tl">
                  <a:srgbClr val="000000">
                    <a:alpha val="43137"/>
                  </a:srgbClr>
                </a:outerShdw>
              </a:effectLst>
            </a:endParaRPr>
          </a:p>
          <a:p>
            <a:pPr>
              <a:lnSpc>
                <a:spcPct val="150000"/>
              </a:lnSpc>
            </a:pPr>
            <a:r>
              <a:rPr lang="zh-CN" altLang="en-US" sz="2800" b="1" dirty="0">
                <a:effectLst>
                  <a:outerShdw blurRad="38100" dist="38100" dir="2700000" algn="tl">
                    <a:srgbClr val="000000">
                      <a:alpha val="43137"/>
                    </a:srgbClr>
                  </a:outerShdw>
                </a:effectLst>
              </a:rPr>
              <a:t>一类用于片内各功能部件的控制；</a:t>
            </a:r>
            <a:endParaRPr lang="en-US" altLang="zh-CN" sz="2800" b="1" dirty="0">
              <a:effectLst>
                <a:outerShdw blurRad="38100" dist="38100" dir="2700000" algn="tl">
                  <a:srgbClr val="000000">
                    <a:alpha val="43137"/>
                  </a:srgbClr>
                </a:outerShdw>
              </a:effectLst>
            </a:endParaRPr>
          </a:p>
          <a:p>
            <a:pPr>
              <a:lnSpc>
                <a:spcPct val="150000"/>
              </a:lnSpc>
            </a:pPr>
            <a:r>
              <a:rPr lang="zh-CN" altLang="en-US" sz="2800" b="1" dirty="0">
                <a:effectLst>
                  <a:outerShdw blurRad="38100" dist="38100" dir="2700000" algn="tl">
                    <a:srgbClr val="000000">
                      <a:alpha val="43137"/>
                    </a:srgbClr>
                  </a:outerShdw>
                </a:effectLst>
              </a:rPr>
              <a:t>另一类用于外存储器或</a:t>
            </a:r>
            <a:r>
              <a:rPr lang="en-US" altLang="zh-CN" sz="2800" b="1" dirty="0">
                <a:effectLst>
                  <a:outerShdw blurRad="38100" dist="38100" dir="2700000" algn="tl">
                    <a:srgbClr val="000000">
                      <a:alpha val="43137"/>
                    </a:srgbClr>
                  </a:outerShdw>
                </a:effectLst>
              </a:rPr>
              <a:t>I/O</a:t>
            </a:r>
            <a:r>
              <a:rPr lang="zh-CN" altLang="en-US" sz="2800" b="1" dirty="0">
                <a:effectLst>
                  <a:outerShdw blurRad="38100" dist="38100" dir="2700000" algn="tl">
                    <a:srgbClr val="000000">
                      <a:alpha val="43137"/>
                    </a:srgbClr>
                  </a:outerShdw>
                </a:effectLst>
              </a:rPr>
              <a:t>端口的控制，需要通过单片机的控制引脚送到片外单元。</a:t>
            </a:r>
          </a:p>
        </p:txBody>
      </p:sp>
      <p:sp>
        <p:nvSpPr>
          <p:cNvPr id="3" name="文本框 2"/>
          <p:cNvSpPr txBox="1"/>
          <p:nvPr/>
        </p:nvSpPr>
        <p:spPr>
          <a:xfrm>
            <a:off x="575556" y="2926636"/>
            <a:ext cx="7992888" cy="658835"/>
          </a:xfrm>
          <a:prstGeom prst="rect">
            <a:avLst/>
          </a:prstGeom>
          <a:noFill/>
        </p:spPr>
        <p:txBody>
          <a:bodyPr wrap="square" rtlCol="0">
            <a:spAutoFit/>
          </a:bodyPr>
          <a:lstStyle/>
          <a:p>
            <a:pPr>
              <a:lnSpc>
                <a:spcPct val="150000"/>
              </a:lnSpc>
            </a:pPr>
            <a:r>
              <a:rPr lang="zh-CN" altLang="en-US" sz="2800" b="1" dirty="0">
                <a:effectLst>
                  <a:outerShdw blurRad="38100" dist="38100" dir="2700000" algn="tl">
                    <a:srgbClr val="000000">
                      <a:alpha val="43137"/>
                    </a:srgbClr>
                  </a:outerShdw>
                </a:effectLst>
              </a:rPr>
              <a:t>单片机中常用</a:t>
            </a:r>
            <a:r>
              <a:rPr lang="en-US" altLang="zh-CN" sz="2800" b="1" dirty="0">
                <a:solidFill>
                  <a:srgbClr val="FF0000"/>
                </a:solidFill>
                <a:effectLst>
                  <a:outerShdw blurRad="38100" dist="38100" dir="2700000" algn="tl">
                    <a:srgbClr val="000000">
                      <a:alpha val="43137"/>
                    </a:srgbClr>
                  </a:outerShdw>
                </a:effectLst>
              </a:rPr>
              <a:t>D</a:t>
            </a:r>
            <a:r>
              <a:rPr lang="zh-CN" altLang="en-US" sz="2800" b="1" dirty="0">
                <a:solidFill>
                  <a:srgbClr val="FF0000"/>
                </a:solidFill>
                <a:effectLst>
                  <a:outerShdw blurRad="38100" dist="38100" dir="2700000" algn="tl">
                    <a:srgbClr val="000000">
                      <a:alpha val="43137"/>
                    </a:srgbClr>
                  </a:outerShdw>
                </a:effectLst>
              </a:rPr>
              <a:t>触发器</a:t>
            </a:r>
            <a:r>
              <a:rPr lang="zh-CN" altLang="en-US" sz="2800" b="1" dirty="0">
                <a:effectLst>
                  <a:outerShdw blurRad="38100" dist="38100" dir="2700000" algn="tl">
                    <a:srgbClr val="000000">
                      <a:alpha val="43137"/>
                    </a:srgbClr>
                  </a:outerShdw>
                </a:effectLst>
              </a:rPr>
              <a:t>实现</a:t>
            </a:r>
            <a:r>
              <a:rPr lang="en-US" altLang="zh-CN" sz="2800" b="1" dirty="0">
                <a:effectLst>
                  <a:outerShdw blurRad="38100" dist="38100" dir="2700000" algn="tl">
                    <a:srgbClr val="000000">
                      <a:alpha val="43137"/>
                    </a:srgbClr>
                  </a:outerShdw>
                </a:effectLst>
              </a:rPr>
              <a:t>CPU</a:t>
            </a:r>
            <a:r>
              <a:rPr lang="zh-CN" altLang="en-US" sz="2800" b="1" dirty="0">
                <a:effectLst>
                  <a:outerShdw blurRad="38100" dist="38100" dir="2700000" algn="tl">
                    <a:srgbClr val="000000">
                      <a:alpha val="43137"/>
                    </a:srgbClr>
                  </a:outerShdw>
                </a:effectLst>
              </a:rPr>
              <a:t>时序逻辑控制电路。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randombar(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2339752" y="260648"/>
            <a:ext cx="3979002" cy="720080"/>
          </a:xfrm>
          <a:prstGeom prst="rect">
            <a:avLst/>
          </a:prstGeom>
          <a:noFill/>
          <a:ln>
            <a:noFill/>
          </a:ln>
          <a:effectLst/>
        </p:spPr>
        <p:txBody>
          <a:bodyPr/>
          <a:lstStyle>
            <a:lvl1pPr indent="47625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buFontTx/>
              <a:buNone/>
            </a:pPr>
            <a:r>
              <a:rPr lang="en-US" altLang="zh-CN" sz="2600" b="1" dirty="0"/>
              <a:t>D</a:t>
            </a:r>
            <a:r>
              <a:rPr lang="zh-CN" altLang="en-US" sz="2600" b="1" dirty="0"/>
              <a:t>触发器</a:t>
            </a:r>
            <a:endParaRPr lang="zh-CN" altLang="en-US" sz="2600" dirty="0"/>
          </a:p>
        </p:txBody>
      </p:sp>
      <p:pic>
        <p:nvPicPr>
          <p:cNvPr id="3" name="图片 2"/>
          <p:cNvPicPr>
            <a:picLocks noChangeAspect="1"/>
          </p:cNvPicPr>
          <p:nvPr/>
        </p:nvPicPr>
        <p:blipFill>
          <a:blip r:embed="rId2"/>
          <a:stretch>
            <a:fillRect/>
          </a:stretch>
        </p:blipFill>
        <p:spPr>
          <a:xfrm>
            <a:off x="1475656" y="1196752"/>
            <a:ext cx="5936122" cy="3837562"/>
          </a:xfrm>
          <a:prstGeom prst="rect">
            <a:avLst/>
          </a:prstGeom>
        </p:spPr>
      </p:pic>
      <p:cxnSp>
        <p:nvCxnSpPr>
          <p:cNvPr id="6" name="直接箭头连接符 5"/>
          <p:cNvCxnSpPr/>
          <p:nvPr/>
        </p:nvCxnSpPr>
        <p:spPr>
          <a:xfrm flipV="1">
            <a:off x="4444917" y="1420390"/>
            <a:ext cx="0" cy="432000"/>
          </a:xfrm>
          <a:prstGeom prst="straightConnector1">
            <a:avLst/>
          </a:prstGeom>
          <a:ln w="444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5042190" y="1420390"/>
            <a:ext cx="0" cy="432000"/>
          </a:xfrm>
          <a:prstGeom prst="straightConnector1">
            <a:avLst/>
          </a:prstGeom>
          <a:ln w="444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6228184" y="1412776"/>
            <a:ext cx="0" cy="432000"/>
          </a:xfrm>
          <a:prstGeom prst="straightConnector1">
            <a:avLst/>
          </a:prstGeom>
          <a:ln w="444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75556" y="5175295"/>
            <a:ext cx="7992888" cy="1316899"/>
          </a:xfrm>
          <a:prstGeom prst="rect">
            <a:avLst/>
          </a:prstGeom>
          <a:solidFill>
            <a:srgbClr val="FFC000"/>
          </a:solidFill>
        </p:spPr>
        <p:txBody>
          <a:bodyPr wrap="square" rtlCol="0">
            <a:spAutoFit/>
          </a:bodyPr>
          <a:lstStyle/>
          <a:p>
            <a:pPr>
              <a:lnSpc>
                <a:spcPct val="114000"/>
              </a:lnSpc>
            </a:pPr>
            <a:r>
              <a:rPr lang="zh-CN" altLang="en-US" sz="2400" b="1" dirty="0"/>
              <a:t>正边沿</a:t>
            </a:r>
            <a:r>
              <a:rPr lang="en-US" altLang="zh-CN" sz="2400" b="1" dirty="0"/>
              <a:t>D</a:t>
            </a:r>
            <a:r>
              <a:rPr lang="zh-CN" altLang="en-US" sz="2400" b="1" dirty="0"/>
              <a:t>触发器只在</a:t>
            </a:r>
            <a:r>
              <a:rPr lang="en-US" altLang="zh-CN" sz="2400" b="1" dirty="0"/>
              <a:t>CLK</a:t>
            </a:r>
            <a:r>
              <a:rPr lang="zh-CN" altLang="en-US" sz="2400" b="1" dirty="0"/>
              <a:t>上升沿到来时，才采样</a:t>
            </a:r>
            <a:r>
              <a:rPr lang="en-US" altLang="zh-CN" sz="2400" b="1" dirty="0"/>
              <a:t>D</a:t>
            </a:r>
            <a:r>
              <a:rPr lang="zh-CN" altLang="en-US" sz="2400" b="1" dirty="0"/>
              <a:t>端的输入信号，并依此立即改变</a:t>
            </a:r>
            <a:r>
              <a:rPr lang="en-US" altLang="zh-CN" sz="2400" b="1" dirty="0"/>
              <a:t>Q</a:t>
            </a:r>
            <a:r>
              <a:rPr lang="zh-CN" altLang="en-US" sz="2400" b="1" dirty="0"/>
              <a:t>和</a:t>
            </a:r>
            <a:r>
              <a:rPr lang="en-US" altLang="zh-CN" sz="2400" b="1" dirty="0"/>
              <a:t>/Q</a:t>
            </a:r>
            <a:r>
              <a:rPr lang="zh-CN" altLang="en-US" sz="2400" b="1" dirty="0"/>
              <a:t>的输出状态，其他时刻，</a:t>
            </a:r>
            <a:r>
              <a:rPr lang="en-US" altLang="zh-CN" sz="2400" b="1" dirty="0"/>
              <a:t>D</a:t>
            </a:r>
            <a:r>
              <a:rPr lang="zh-CN" altLang="en-US" sz="2400" b="1" dirty="0"/>
              <a:t>与</a:t>
            </a:r>
            <a:r>
              <a:rPr lang="en-US" altLang="zh-CN" sz="2400" b="1" dirty="0"/>
              <a:t>Q</a:t>
            </a:r>
            <a:r>
              <a:rPr lang="zh-CN" altLang="en-US" sz="2400" b="1" dirty="0"/>
              <a:t>是信号隔离的。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234520" y="764704"/>
            <a:ext cx="6890984" cy="3744416"/>
          </a:xfrm>
          <a:prstGeom prst="rect">
            <a:avLst/>
          </a:prstGeom>
        </p:spPr>
      </p:pic>
      <p:cxnSp>
        <p:nvCxnSpPr>
          <p:cNvPr id="4" name="直接箭头连接符 3"/>
          <p:cNvCxnSpPr/>
          <p:nvPr/>
        </p:nvCxnSpPr>
        <p:spPr>
          <a:xfrm>
            <a:off x="4978936" y="980728"/>
            <a:ext cx="0" cy="576064"/>
          </a:xfrm>
          <a:prstGeom prst="straightConnector1">
            <a:avLst/>
          </a:prstGeom>
          <a:ln w="4762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a:off x="5627008" y="980728"/>
            <a:ext cx="0" cy="576064"/>
          </a:xfrm>
          <a:prstGeom prst="straightConnector1">
            <a:avLst/>
          </a:prstGeom>
          <a:ln w="4762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6995160" y="980728"/>
            <a:ext cx="0" cy="576064"/>
          </a:xfrm>
          <a:prstGeom prst="straightConnector1">
            <a:avLst/>
          </a:prstGeom>
          <a:ln w="4762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575556" y="4776397"/>
            <a:ext cx="7992888" cy="1316899"/>
          </a:xfrm>
          <a:prstGeom prst="rect">
            <a:avLst/>
          </a:prstGeom>
          <a:solidFill>
            <a:srgbClr val="FFC000"/>
          </a:solidFill>
        </p:spPr>
        <p:txBody>
          <a:bodyPr wrap="square" rtlCol="0">
            <a:spAutoFit/>
          </a:bodyPr>
          <a:lstStyle/>
          <a:p>
            <a:pPr>
              <a:lnSpc>
                <a:spcPct val="114000"/>
              </a:lnSpc>
            </a:pPr>
            <a:r>
              <a:rPr lang="zh-CN" altLang="en-US" sz="2400" b="1" dirty="0"/>
              <a:t>负边沿</a:t>
            </a:r>
            <a:r>
              <a:rPr lang="en-US" altLang="zh-CN" sz="2400" b="1" dirty="0"/>
              <a:t>D</a:t>
            </a:r>
            <a:r>
              <a:rPr lang="zh-CN" altLang="en-US" sz="2400" b="1" dirty="0"/>
              <a:t>触发器只在</a:t>
            </a:r>
            <a:r>
              <a:rPr lang="en-US" altLang="zh-CN" sz="2400" b="1" dirty="0"/>
              <a:t>CLK</a:t>
            </a:r>
            <a:r>
              <a:rPr lang="zh-CN" altLang="en-US" sz="2400" b="1" dirty="0"/>
              <a:t>下降沿到来时，才采样</a:t>
            </a:r>
            <a:r>
              <a:rPr lang="en-US" altLang="zh-CN" sz="2400" b="1" dirty="0"/>
              <a:t>D</a:t>
            </a:r>
            <a:r>
              <a:rPr lang="zh-CN" altLang="en-US" sz="2400" b="1" dirty="0"/>
              <a:t>端的输入信号，并依此立即改变</a:t>
            </a:r>
            <a:r>
              <a:rPr lang="en-US" altLang="zh-CN" sz="2400" b="1" dirty="0"/>
              <a:t>Q</a:t>
            </a:r>
            <a:r>
              <a:rPr lang="zh-CN" altLang="en-US" sz="2400" b="1" dirty="0"/>
              <a:t>和</a:t>
            </a:r>
            <a:r>
              <a:rPr lang="en-US" altLang="zh-CN" sz="2400" b="1" dirty="0"/>
              <a:t>/Q</a:t>
            </a:r>
            <a:r>
              <a:rPr lang="zh-CN" altLang="en-US" sz="2400" b="1" dirty="0"/>
              <a:t>的输出状态，其他时刻，</a:t>
            </a:r>
            <a:r>
              <a:rPr lang="en-US" altLang="zh-CN" sz="2400" b="1" dirty="0"/>
              <a:t>D</a:t>
            </a:r>
            <a:r>
              <a:rPr lang="zh-CN" altLang="en-US" sz="2400" b="1" dirty="0"/>
              <a:t>与</a:t>
            </a:r>
            <a:r>
              <a:rPr lang="en-US" altLang="zh-CN" sz="2400" b="1" dirty="0"/>
              <a:t>Q</a:t>
            </a:r>
            <a:r>
              <a:rPr lang="zh-CN" altLang="en-US" sz="2400" b="1" dirty="0"/>
              <a:t>是信号隔离的。</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DlhNzhkNzI3NzgzMjVmNTVjOTdmNzdiNmViZTJjM2M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708</Words>
  <Application>Microsoft Office PowerPoint</Application>
  <PresentationFormat>全屏显示(4:3)</PresentationFormat>
  <Paragraphs>59</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仿宋</vt:lpstr>
      <vt:lpstr>华文行楷</vt:lpstr>
      <vt:lpstr>楷体</vt:lpstr>
      <vt:lpstr>楷体_GB2312</vt:lpstr>
      <vt:lpstr>宋体</vt:lpstr>
      <vt:lpstr>Arial</vt:lpstr>
      <vt:lpstr>Calibri</vt:lpstr>
      <vt:lpstr>Times New Roman</vt:lpstr>
      <vt:lpstr>默认设计模板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Lenovo (Beijing)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Lenovo User</dc:creator>
  <cp:lastModifiedBy>admin</cp:lastModifiedBy>
  <cp:revision>83</cp:revision>
  <dcterms:created xsi:type="dcterms:W3CDTF">2013-01-22T02:28:00Z</dcterms:created>
  <dcterms:modified xsi:type="dcterms:W3CDTF">2025-03-03T12:27:31Z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01E6840F87CF410299A8743EC7B7A62C</vt:lpwstr>
  </property>
  <property fmtid="{D5CDD505-2E9C-101B-9397-08002B2CF9AE}" pid="3" name="KSOProductBuildVer">
    <vt:lpwstr>2052-11.1.0.12313</vt:lpwstr>
  </property>
</Properties>
</file>