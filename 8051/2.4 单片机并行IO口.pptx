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33" r:id="rId3"/>
    <p:sldId id="322" r:id="rId4"/>
    <p:sldId id="334" r:id="rId5"/>
    <p:sldId id="335" r:id="rId6"/>
    <p:sldId id="336" r:id="rId7"/>
    <p:sldId id="337" r:id="rId8"/>
    <p:sldId id="338" r:id="rId9"/>
    <p:sldId id="339" r:id="rId10"/>
    <p:sldId id="286" r:id="rId11"/>
    <p:sldId id="340" r:id="rId12"/>
    <p:sldId id="287" r:id="rId13"/>
    <p:sldId id="288" r:id="rId14"/>
    <p:sldId id="289" r:id="rId15"/>
    <p:sldId id="290" r:id="rId16"/>
    <p:sldId id="291" r:id="rId17"/>
    <p:sldId id="341" r:id="rId18"/>
    <p:sldId id="347" r:id="rId19"/>
    <p:sldId id="292" r:id="rId20"/>
    <p:sldId id="293" r:id="rId21"/>
    <p:sldId id="294" r:id="rId22"/>
    <p:sldId id="343" r:id="rId23"/>
    <p:sldId id="345" r:id="rId24"/>
    <p:sldId id="346" r:id="rId25"/>
    <p:sldId id="342" r:id="rId26"/>
    <p:sldId id="350" r:id="rId27"/>
    <p:sldId id="295" r:id="rId28"/>
    <p:sldId id="296" r:id="rId29"/>
    <p:sldId id="348" r:id="rId30"/>
    <p:sldId id="349" r:id="rId31"/>
    <p:sldId id="297" r:id="rId32"/>
    <p:sldId id="298" r:id="rId33"/>
    <p:sldId id="301" r:id="rId34"/>
    <p:sldId id="302" r:id="rId35"/>
    <p:sldId id="303" r:id="rId36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0000FF"/>
    <a:srgbClr val="66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026" autoAdjust="0"/>
    <p:restoredTop sz="94660"/>
  </p:normalViewPr>
  <p:slideViewPr>
    <p:cSldViewPr showGuides="1">
      <p:cViewPr varScale="1">
        <p:scale>
          <a:sx n="63" d="100"/>
          <a:sy n="63" d="100"/>
        </p:scale>
        <p:origin x="19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D74F550-567B-4AEF-991C-DBCF15ACC67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7D57C4A-AA19-4CE8-8467-A778EDE6BBC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78504B-F677-4269-96DE-9A1229FCB3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395288" y="1052513"/>
            <a:ext cx="8424862" cy="73025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03524-CFC1-4442-94A9-D9EDF499970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142EA-147D-49EF-9274-7554AD8E3A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75F359-6FF4-4C87-850B-4186BE0897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C1D86-6A11-45CD-A261-B8B47BEB62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37832-3B1A-46C2-8983-74BE6BDA2D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95288" y="1052513"/>
            <a:ext cx="8424862" cy="73025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9A870-BAD8-4ACB-B17D-C35AA0876A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17BEC-6450-42A7-803F-61FFEC1891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B259B-36D7-4EFF-A39B-11ABE027A1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0D21D-1D50-4D04-B2F7-8D36D62906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DB8090-0F65-48AC-AD35-D55B50A159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F0E12F3-7D43-417C-B868-22EF8A6B353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hyperlink" Target="https://wenku.baidu.com/view/96fe9091240c844769eaeedb.html" TargetMode="External"/><Relationship Id="rId1" Type="http://schemas.openxmlformats.org/officeDocument/2006/relationships/hyperlink" Target="https://wenku.baidu.com/view/f81d2fec1fd9ad51f01dc281e53a580216fc50e4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.GIF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enku.baidu.com/view/56fc8d3a844769eae009ed63.html" TargetMode="Externa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7462" name="Text Box 7"/>
          <p:cNvSpPr txBox="1">
            <a:spLocks noChangeArrowheads="1"/>
          </p:cNvSpPr>
          <p:nvPr/>
        </p:nvSpPr>
        <p:spPr bwMode="auto">
          <a:xfrm>
            <a:off x="2054225" y="1941513"/>
            <a:ext cx="5256213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单片机的基本结构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单片机的存储器结构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b="1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单片机的复位与时序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单片机并行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47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539750" y="249238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片外总线结构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5603" name="Picture 3" descr="GIF014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408738"/>
            <a:ext cx="7620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lum bright="-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9144000" cy="602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3376613" y="3068638"/>
            <a:ext cx="792162" cy="2089150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6948488" y="5300663"/>
            <a:ext cx="172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数据总线</a:t>
            </a: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</a:endParaRP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3375025" y="981075"/>
            <a:ext cx="792163" cy="4319588"/>
          </a:xfrm>
          <a:prstGeom prst="ellipse">
            <a:avLst/>
          </a:prstGeom>
          <a:noFill/>
          <a:ln w="34925">
            <a:solidFill>
              <a:srgbClr val="7513D7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6443663" y="2060575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7513D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地址总线</a:t>
            </a:r>
            <a:endParaRPr lang="zh-CN" altLang="en-US" sz="2800" b="1">
              <a:solidFill>
                <a:srgbClr val="7513D7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</a:endParaRPr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2051050" y="3068638"/>
            <a:ext cx="936625" cy="338455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539750" y="3860800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控制总线</a:t>
            </a:r>
            <a:endParaRPr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042988" y="6400800"/>
            <a:ext cx="5761037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en-US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口是单片机对外联络的重要通道</a:t>
            </a:r>
            <a:endParaRPr kumimoji="0"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  <p:bldP spid="9222" grpId="0"/>
      <p:bldP spid="9223" grpId="0" animBg="1"/>
      <p:bldP spid="9224" grpId="0"/>
      <p:bldP spid="9225" grpId="0" animBg="1"/>
      <p:bldP spid="9226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9552" y="1268760"/>
            <a:ext cx="8334573" cy="5006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口内部结构、功能（用作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地址总线、数据总线、普通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）、工作原理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口内部结构、功能（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普通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）、工作原理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口内部结构、功能（作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地址总线、普通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）、工作原理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口内部结构、功能（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第二功能、普通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）、工作原理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补充知识点：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00150" lvl="1" indent="-45720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00150" lvl="1" indent="-45720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反相器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00150" lvl="1" indent="-45720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三态门</a:t>
            </a:r>
            <a:endParaRPr lang="zh-CN" altLang="en-US" sz="2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主要内容</a:t>
            </a:r>
            <a:endParaRPr lang="zh-CN" altLang="en-US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场效应管</a:t>
            </a:r>
            <a:endParaRPr lang="zh-CN" altLang="en-US" sz="32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2325074"/>
            <a:ext cx="5976664" cy="26082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8690" y="1124744"/>
            <a:ext cx="7971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场效应管分结型、绝缘栅型两大类。应用最为广泛的是绝缘栅型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场效应管（即金属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氧化物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半导体场效应管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MOSFET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 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575" y="4911331"/>
            <a:ext cx="7971741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增强型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场效应管导通特性：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沟道型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为高电平时，源极和漏极之间导通，适合用于源极接地时的情况；一般栅极电压达到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4-10V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即可。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沟道型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为低电平时导通，适合用于源极接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VCC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时的情况。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570" y="1925708"/>
            <a:ext cx="3171359" cy="9667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84" y="3933056"/>
            <a:ext cx="7628732" cy="2267544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场效应管工作原理：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1"/>
              </a:rPr>
              <a:t>https://wenku.baidu.com/view/f81d2fec1fd9ad51f01dc281e53a580216fc50e4.html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https://wenku.baidu.com/view/96fe9091240c844769eaeedb.html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00" y="1268760"/>
            <a:ext cx="7628732" cy="24482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7584" y="404664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场效应管的作用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3021391"/>
            <a:ext cx="3337849" cy="259102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反相器</a:t>
            </a:r>
            <a:endParaRPr lang="zh-CN" altLang="en-US" sz="32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60" y="1340768"/>
            <a:ext cx="7704856" cy="934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反相器是可以将输入信号的相位反转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度，这种电路应用在模拟电路，比如说音频放大，时钟振荡器等。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三态门</a:t>
            </a:r>
            <a:endParaRPr lang="zh-CN" altLang="en-US" sz="32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200" y="1268760"/>
            <a:ext cx="8229600" cy="2861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三态门有输入端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、输出端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和控制端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三端，它的输出不但取决于输入，还与控制端有关。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若控制端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E=1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，三态门导通，输出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输入；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若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E=0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，输入端与输出端之间相当于开路，三态门处于高阻状态（又称悬浮状态或禁止状态），输入信号无法通过三态门。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5158" y="4573318"/>
            <a:ext cx="2011189" cy="151997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6347" y="4941168"/>
            <a:ext cx="39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45243" y="4779309"/>
            <a:ext cx="3998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5243" y="5722212"/>
            <a:ext cx="3998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593725" y="184150"/>
            <a:ext cx="7772400" cy="7965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4800" b="1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2.4.1  P0</a:t>
            </a:r>
            <a:r>
              <a:rPr lang="zh-CN" altLang="en-US" sz="4800" b="1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endParaRPr lang="zh-CN" altLang="en-US" sz="48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14174" y="1269434"/>
            <a:ext cx="8334573" cy="431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00"/>
              </a:spcBef>
              <a:buNone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知识要点：</a:t>
            </a:r>
            <a:endParaRPr lang="en-US" altLang="zh-CN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口内部结构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的功能及工作原理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通用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输出口时，向外输出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8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通用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输入口时，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读引脚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读锁存器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作地址总线时，向外输出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作地址总线时，向外输出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作数据总线时传输数据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400"/>
              </a:spcBef>
              <a:buFont typeface="Wingdings" panose="05000000000000000000" pitchFamily="2" charset="2"/>
              <a:buChar char="p"/>
              <a:defRPr/>
            </a:pPr>
            <a:endParaRPr lang="zh-CN" altLang="en-US" sz="2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5724128" y="3861048"/>
            <a:ext cx="360040" cy="1224136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53562" y="4057617"/>
            <a:ext cx="2376264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单片机需要访问外部存储器时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/>
          <p:cNvPicPr>
            <a:picLocks noChangeAspect="1" noChangeArrowheads="1"/>
          </p:cNvPicPr>
          <p:nvPr/>
        </p:nvPicPr>
        <p:blipFill>
          <a:blip r:embed="rId1">
            <a:grayscl/>
            <a:lum bright="-36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90" t="-1770" r="-1666" b="-1770"/>
          <a:stretch>
            <a:fillRect/>
          </a:stretch>
        </p:blipFill>
        <p:spPr bwMode="auto">
          <a:xfrm>
            <a:off x="900113" y="2133600"/>
            <a:ext cx="7704137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5" name="组合 2"/>
          <p:cNvGrpSpPr/>
          <p:nvPr/>
        </p:nvGrpSpPr>
        <p:grpSpPr bwMode="auto">
          <a:xfrm>
            <a:off x="34925" y="1268413"/>
            <a:ext cx="8964613" cy="5040312"/>
            <a:chOff x="1091" y="2633216"/>
            <a:chExt cx="8964612" cy="5040312"/>
          </a:xfrm>
        </p:grpSpPr>
        <p:pic>
          <p:nvPicPr>
            <p:cNvPr id="44053" name="Picture 6" descr="openfil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1" y="2633216"/>
              <a:ext cx="8964612" cy="5040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7702053" y="5297041"/>
              <a:ext cx="1260475" cy="369887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P0.x</a:t>
              </a:r>
              <a:r>
                <a:rPr lang="zh-CN" alt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引脚</a:t>
              </a:r>
              <a:endPara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88342" y="632947"/>
            <a:ext cx="3888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口的位结构</a:t>
            </a:r>
            <a:endParaRPr lang="zh-CN" altLang="en-US" sz="2800" b="1" dirty="0">
              <a:solidFill>
                <a:srgbClr val="7513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608" y="149225"/>
            <a:ext cx="7772400" cy="574675"/>
          </a:xfrm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2.4.1  P0</a:t>
            </a:r>
            <a:r>
              <a:rPr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endParaRPr lang="zh-CN" altLang="en-US" sz="4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7380288" y="270827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源极</a:t>
            </a:r>
            <a:endParaRPr lang="zh-CN" altLang="en-US" sz="2400" b="1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7366000" y="1989138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漏极</a:t>
            </a:r>
            <a:endParaRPr lang="zh-CN" altLang="en-US" sz="2400" b="1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6300788" y="2133600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栅极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354263" y="1327150"/>
            <a:ext cx="1584325" cy="3698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输入缓冲器</a:t>
            </a:r>
            <a:endParaRPr lang="zh-CN" altLang="en-US" sz="24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2411413" y="4437063"/>
            <a:ext cx="1584325" cy="369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输入缓冲器</a:t>
            </a:r>
            <a:endParaRPr lang="zh-CN" altLang="en-US" sz="24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4787900" y="5291138"/>
            <a:ext cx="1296988" cy="369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多路开关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2051050" y="2852738"/>
            <a:ext cx="2160588" cy="1655762"/>
          </a:xfrm>
          <a:prstGeom prst="ellipse">
            <a:avLst/>
          </a:prstGeom>
          <a:noFill/>
          <a:ln w="317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82" name="Oval 14"/>
          <p:cNvSpPr>
            <a:spLocks noChangeArrowheads="1"/>
          </p:cNvSpPr>
          <p:nvPr/>
        </p:nvSpPr>
        <p:spPr bwMode="auto">
          <a:xfrm>
            <a:off x="4356100" y="2420938"/>
            <a:ext cx="935038" cy="1223962"/>
          </a:xfrm>
          <a:prstGeom prst="ellipse">
            <a:avLst/>
          </a:prstGeom>
          <a:noFill/>
          <a:ln w="317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83" name="Oval 15"/>
          <p:cNvSpPr>
            <a:spLocks noChangeArrowheads="1"/>
          </p:cNvSpPr>
          <p:nvPr/>
        </p:nvSpPr>
        <p:spPr bwMode="auto">
          <a:xfrm>
            <a:off x="4643438" y="3789363"/>
            <a:ext cx="1657350" cy="1368425"/>
          </a:xfrm>
          <a:prstGeom prst="ellipse">
            <a:avLst/>
          </a:prstGeom>
          <a:noFill/>
          <a:ln w="317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850" y="6092825"/>
            <a:ext cx="8424863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关于</a:t>
            </a:r>
            <a:r>
              <a:rPr lang="en-US" altLang="zh-CN" sz="20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P0</a:t>
            </a:r>
            <a:r>
              <a:rPr lang="zh-CN" altLang="en-US" sz="20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口的结构及原理可参考   </a:t>
            </a:r>
            <a:r>
              <a:rPr lang="en-US" altLang="zh-CN" sz="20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https://wenku.baidu.com/view/56fc8d3a844769eae009ed63.html</a:t>
            </a:r>
            <a:endParaRPr lang="zh-CN" altLang="en-US" sz="2000" b="1" dirty="0">
              <a:solidFill>
                <a:srgbClr val="99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5418138" y="4000500"/>
            <a:ext cx="0" cy="323850"/>
          </a:xfrm>
          <a:prstGeom prst="line">
            <a:avLst/>
          </a:prstGeom>
          <a:ln w="603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83075" y="1900238"/>
            <a:ext cx="433388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反相器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02500" y="2108200"/>
            <a:ext cx="433388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场效应管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  <p:bldP spid="32777" grpId="0"/>
      <p:bldP spid="32778" grpId="0" animBg="1"/>
      <p:bldP spid="32779" grpId="0" animBg="1"/>
      <p:bldP spid="32780" grpId="0" animBg="1"/>
      <p:bldP spid="32781" grpId="0" animBg="1"/>
      <p:bldP spid="32782" grpId="0" animBg="1"/>
      <p:bldP spid="32783" grpId="0" animBg="1"/>
      <p:bldP spid="13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593725" y="184150"/>
            <a:ext cx="7772400" cy="7965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说明</a:t>
            </a:r>
            <a:endParaRPr lang="zh-CN" altLang="en-US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3548" y="1052736"/>
            <a:ext cx="8136904" cy="57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多路开关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当单片机内部存储器够用时，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口可用作通用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口使用。多路开关与下面接通，控制信号为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当单片机需要访问外部存储器时，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口作“地址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数据”总线使用；多路开关与上面接通。</a:t>
            </a:r>
            <a:endParaRPr lang="en-US" altLang="zh-CN" sz="2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触发器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CLK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端有时序脉冲时，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端输入的数据会传输到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及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Q#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端，否则无法传输。当时序信号失效时，输出端将保持上次输入端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的数据。</a:t>
            </a:r>
            <a:endParaRPr lang="en-US" altLang="zh-CN" sz="2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输入输出驱动部分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由两个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V1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V2</a:t>
            </a:r>
            <a:r>
              <a:rPr lang="zh-CN" altLang="en-US" sz="2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组成的推拉式结构，一次只能导通一个。</a:t>
            </a:r>
            <a:endParaRPr lang="zh-CN" altLang="en-US" sz="2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8209284" cy="4968329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口既可作地址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/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数据总线使用，又可作通用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口用。当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口作地址／数据总线使用时，就不能再把它当通用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口使用了。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作通用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输出、读引脚（输入）、读锁存器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（输入）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通用输出条件：控制端 →“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0”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V1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截止，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MUX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下通。输出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时需外接上拉电阻。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通用输入条件：区分读引脚和读锁存器。读引脚时，应先向锁存器写“１”，这时输出级２个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FET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截止，可用作高阻抗输入。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852488" y="404813"/>
            <a:ext cx="37449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32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</a:t>
            </a:r>
            <a:r>
              <a:rPr lang="en-US" altLang="zh-CN" sz="32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P0</a:t>
            </a:r>
            <a:r>
              <a:rPr lang="zh-CN" altLang="en-US" sz="32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口的功能</a:t>
            </a:r>
            <a:endParaRPr lang="zh-CN" altLang="en-US" sz="3200" b="1" dirty="0">
              <a:solidFill>
                <a:srgbClr val="7513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1046"/>
            <a:ext cx="9144000" cy="543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AutoShape 3"/>
          <p:cNvSpPr>
            <a:spLocks noChangeArrowheads="1"/>
          </p:cNvSpPr>
          <p:nvPr/>
        </p:nvSpPr>
        <p:spPr bwMode="auto">
          <a:xfrm>
            <a:off x="5651500" y="0"/>
            <a:ext cx="3097213" cy="1168400"/>
          </a:xfrm>
          <a:prstGeom prst="wedgeEllipseCallout">
            <a:avLst>
              <a:gd name="adj1" fmla="val -46667"/>
              <a:gd name="adj2" fmla="val 65917"/>
            </a:avLst>
          </a:prstGeom>
          <a:solidFill>
            <a:srgbClr val="CCFFFF"/>
          </a:solidFill>
          <a:ln w="22225">
            <a:solidFill>
              <a:srgbClr val="7513D7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：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作普通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I/O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口；为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：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作地址总线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6084" name="WordArt 4"/>
          <p:cNvSpPr>
            <a:spLocks noChangeArrowheads="1" noChangeShapeType="1" noTextEdit="1"/>
          </p:cNvSpPr>
          <p:nvPr/>
        </p:nvSpPr>
        <p:spPr bwMode="auto">
          <a:xfrm>
            <a:off x="8172450" y="3860800"/>
            <a:ext cx="360363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用作通用输出口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WordArt 4"/>
          <p:cNvSpPr>
            <a:spLocks noChangeArrowheads="1" noChangeShapeType="1" noTextEdit="1"/>
          </p:cNvSpPr>
          <p:nvPr/>
        </p:nvSpPr>
        <p:spPr bwMode="auto">
          <a:xfrm>
            <a:off x="7596336" y="1988840"/>
            <a:ext cx="504056" cy="3600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截止</a:t>
            </a:r>
            <a:endParaRPr lang="zh-CN" altLang="en-US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0112" y="1596572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8027988" y="1341438"/>
            <a:ext cx="1116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V</a:t>
            </a:r>
            <a:r>
              <a:rPr lang="en-US" altLang="zh-CN" sz="2400" b="1" baseline="-25000"/>
              <a:t>CC</a:t>
            </a:r>
            <a:endParaRPr lang="en-US" altLang="zh-CN" sz="2400" b="1" baseline="-25000"/>
          </a:p>
        </p:txBody>
      </p:sp>
      <p:grpSp>
        <p:nvGrpSpPr>
          <p:cNvPr id="47107" name="Group 3"/>
          <p:cNvGrpSpPr/>
          <p:nvPr/>
        </p:nvGrpSpPr>
        <p:grpSpPr bwMode="auto">
          <a:xfrm>
            <a:off x="22929" y="728662"/>
            <a:ext cx="9144000" cy="5437188"/>
            <a:chOff x="0" y="436"/>
            <a:chExt cx="5760" cy="3425"/>
          </a:xfrm>
        </p:grpSpPr>
        <p:pic>
          <p:nvPicPr>
            <p:cNvPr id="47116" name="Picture 4" descr="openfil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36"/>
              <a:ext cx="5760" cy="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7" name="Rectangle 5"/>
            <p:cNvSpPr>
              <a:spLocks noChangeArrowheads="1"/>
            </p:cNvSpPr>
            <p:nvPr/>
          </p:nvSpPr>
          <p:spPr bwMode="auto">
            <a:xfrm>
              <a:off x="4894" y="1298"/>
              <a:ext cx="136" cy="363"/>
            </a:xfrm>
            <a:prstGeom prst="rect">
              <a:avLst/>
            </a:prstGeom>
            <a:solidFill>
              <a:srgbClr val="FFFF99"/>
            </a:solidFill>
            <a:ln w="317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7118" name="Line 6"/>
            <p:cNvSpPr>
              <a:spLocks noChangeShapeType="1"/>
            </p:cNvSpPr>
            <p:nvPr/>
          </p:nvSpPr>
          <p:spPr bwMode="auto">
            <a:xfrm flipV="1">
              <a:off x="4962" y="1661"/>
              <a:ext cx="0" cy="272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7"/>
            <p:cNvSpPr>
              <a:spLocks noChangeShapeType="1"/>
            </p:cNvSpPr>
            <p:nvPr/>
          </p:nvSpPr>
          <p:spPr bwMode="auto">
            <a:xfrm flipV="1">
              <a:off x="4962" y="935"/>
              <a:ext cx="0" cy="363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Oval 8"/>
            <p:cNvSpPr>
              <a:spLocks noChangeAspect="1" noChangeArrowheads="1"/>
            </p:cNvSpPr>
            <p:nvPr/>
          </p:nvSpPr>
          <p:spPr bwMode="auto">
            <a:xfrm>
              <a:off x="4930" y="872"/>
              <a:ext cx="68" cy="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8245475" y="1700213"/>
            <a:ext cx="0" cy="1008062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8245475" y="2693988"/>
            <a:ext cx="57467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1" name="Oval 11"/>
          <p:cNvSpPr>
            <a:spLocks noChangeArrowheads="1"/>
          </p:cNvSpPr>
          <p:nvPr/>
        </p:nvSpPr>
        <p:spPr bwMode="auto">
          <a:xfrm>
            <a:off x="7596188" y="1268413"/>
            <a:ext cx="504825" cy="1584325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5852" name="AutoShape 12"/>
          <p:cNvSpPr>
            <a:spLocks noChangeArrowheads="1"/>
          </p:cNvSpPr>
          <p:nvPr/>
        </p:nvSpPr>
        <p:spPr bwMode="auto">
          <a:xfrm>
            <a:off x="4621213" y="13564"/>
            <a:ext cx="2881312" cy="1412875"/>
          </a:xfrm>
          <a:prstGeom prst="cloudCallout">
            <a:avLst>
              <a:gd name="adj1" fmla="val 60927"/>
              <a:gd name="adj2" fmla="val 51344"/>
            </a:avLst>
          </a:prstGeom>
          <a:solidFill>
            <a:srgbClr val="CCFFFF"/>
          </a:solidFill>
          <a:ln w="31750">
            <a:solidFill>
              <a:srgbClr val="7513D7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作</a:t>
            </a:r>
            <a:r>
              <a:rPr lang="en-US" altLang="zh-CN" sz="2400" b="1"/>
              <a:t>I/O</a:t>
            </a:r>
            <a:r>
              <a:rPr lang="zh-CN" altLang="en-US" sz="2400" b="1"/>
              <a:t>口输出“</a:t>
            </a:r>
            <a:r>
              <a:rPr lang="en-US" altLang="zh-CN" sz="2400" b="1"/>
              <a:t>1”</a:t>
            </a:r>
            <a:r>
              <a:rPr lang="zh-CN" altLang="en-US" sz="2400" b="1"/>
              <a:t>时需外接电源控制</a:t>
            </a:r>
            <a:endParaRPr lang="zh-CN" altLang="en-US" sz="2400" b="1"/>
          </a:p>
        </p:txBody>
      </p:sp>
      <p:sp>
        <p:nvSpPr>
          <p:cNvPr id="47112" name="WordArt 13"/>
          <p:cNvSpPr>
            <a:spLocks noChangeArrowheads="1" noChangeShapeType="1" noTextEdit="1"/>
          </p:cNvSpPr>
          <p:nvPr/>
        </p:nvSpPr>
        <p:spPr bwMode="auto">
          <a:xfrm>
            <a:off x="8172450" y="3860800"/>
            <a:ext cx="23812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6311900" y="357822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用作通用输出口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6751817" y="2395538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80112" y="1515547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1" grpId="0" animBg="1"/>
      <p:bldP spid="358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44000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7513D7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AutoShape 3"/>
          <p:cNvSpPr/>
          <p:nvPr/>
        </p:nvSpPr>
        <p:spPr bwMode="auto">
          <a:xfrm>
            <a:off x="179388" y="1484313"/>
            <a:ext cx="1763712" cy="1144587"/>
          </a:xfrm>
          <a:prstGeom prst="borderCallout2">
            <a:avLst>
              <a:gd name="adj1" fmla="val 9986"/>
              <a:gd name="adj2" fmla="val 104319"/>
              <a:gd name="adj3" fmla="val 9986"/>
              <a:gd name="adj4" fmla="val 104319"/>
              <a:gd name="adj5" fmla="val 116366"/>
              <a:gd name="adj6" fmla="val 121333"/>
            </a:avLst>
          </a:prstGeom>
          <a:solidFill>
            <a:srgbClr val="FFC000"/>
          </a:solidFill>
          <a:ln w="28575">
            <a:solidFill>
              <a:srgbClr val="7513D7"/>
            </a:solidFill>
            <a:miter lim="800000"/>
          </a:ln>
          <a:effectLst/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读引脚时，应先向锁存器写“１”</a:t>
            </a:r>
            <a:endParaRPr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6300788" y="3586163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用作通用输入口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（读引脚）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751817" y="2395538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56962" y="1295622"/>
            <a:ext cx="218805" cy="40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21346" y="3191347"/>
            <a:ext cx="2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713"/>
            <a:ext cx="9144000" cy="536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68164" y="205442"/>
            <a:ext cx="5688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用作通用输入口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（读锁存器）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22237" y="1340768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8347" y="1184162"/>
            <a:ext cx="7992888" cy="2703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凡属于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读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修改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写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方式的指令，从锁存器读入信号，其它指令则从端口引脚线上读入信号。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修改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写指令的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特点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：从端口输入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信号，在单片机内加以运算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修改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后，再输出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写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到该端口上。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593725" y="184150"/>
            <a:ext cx="7772400" cy="7965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说明</a:t>
            </a:r>
            <a:endParaRPr lang="zh-CN" altLang="en-US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1613" y="3913460"/>
            <a:ext cx="5616624" cy="195970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ANL P0,#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立即数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	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P0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∧ 立即数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ORL P0, A;		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P0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∨ 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A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 P1;		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P1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＋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1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 P3		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P3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－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1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8347" y="1184162"/>
            <a:ext cx="7992888" cy="2780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数据输出的条件：控制端→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数据输入时，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自动使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，控制端→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，故分时复用方式为无条件的真双向口。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数据输出时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交替导通，无需外接上拉电阻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593725" y="184150"/>
            <a:ext cx="7772400" cy="7965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口地址</a:t>
            </a:r>
            <a:r>
              <a:rPr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数据总线分时复用方式：</a:t>
            </a:r>
            <a:r>
              <a:rPr lang="zh-CN" altLang="en-US" sz="2800" b="1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800" b="1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数据输出、数据输入</a:t>
            </a:r>
            <a:endParaRPr lang="zh-CN" altLang="en-US" sz="2800" b="1" kern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7280"/>
            <a:ext cx="91440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用作地址总线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5175"/>
            <a:ext cx="9144000" cy="542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用作地址总线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openf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653"/>
            <a:ext cx="91440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0" y="2533228"/>
            <a:ext cx="2124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先向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写入“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1”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614863" y="1267991"/>
            <a:ext cx="1081087" cy="72072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4572000" y="5732041"/>
            <a:ext cx="863600" cy="649287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6" name="文本框 5"/>
          <p:cNvSpPr txBox="1"/>
          <p:nvPr/>
        </p:nvSpPr>
        <p:spPr>
          <a:xfrm>
            <a:off x="467668" y="255348"/>
            <a:ext cx="7056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用作数据总线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（取指令）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控制信号为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5" grpId="0" animBg="1"/>
      <p:bldP spid="4096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5556" y="1124744"/>
            <a:ext cx="7992888" cy="5067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如果指令是输出数据，如：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20000"/>
              </a:lnSpc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MOVX @DPTR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功能：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将累加器的内容通过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</a:t>
            </a:r>
            <a:r>
              <a:rPr lang="zh-CN" alt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数据总线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传送到外部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方法：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多路开关“控制”信号为‘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1’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，“与门”解锁，与输出地址信号的工作流程类似。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：数据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’0’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由“地址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数据”线→反相器→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V2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场效应管栅极→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V2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漏极输出。</a:t>
            </a:r>
            <a:endParaRPr lang="en-US" altLang="zh-CN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：数据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’1’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由“地址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数据”线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控制信号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与门结果为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1V1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导通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VCC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高电平到达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P0.x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引脚。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668" y="255348"/>
            <a:ext cx="7056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用作数据总线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（输出数据）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控制信号为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 bwMode="auto">
          <a:xfrm>
            <a:off x="89693" y="1196752"/>
            <a:ext cx="8964613" cy="5040312"/>
            <a:chOff x="1091" y="2633216"/>
            <a:chExt cx="8964612" cy="5040312"/>
          </a:xfrm>
        </p:grpSpPr>
        <p:pic>
          <p:nvPicPr>
            <p:cNvPr id="3" name="Picture 6" descr="openfil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1" y="2633216"/>
              <a:ext cx="8964612" cy="5040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1"/>
            <p:cNvSpPr txBox="1"/>
            <p:nvPr/>
          </p:nvSpPr>
          <p:spPr>
            <a:xfrm>
              <a:off x="7702053" y="5297041"/>
              <a:ext cx="1260475" cy="369887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P0.x</a:t>
              </a:r>
              <a:r>
                <a:rPr lang="zh-CN" alt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引脚</a:t>
              </a:r>
              <a:endPara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5652120" y="602524"/>
            <a:ext cx="3097213" cy="826524"/>
          </a:xfrm>
          <a:prstGeom prst="wedgeEllipseCallout">
            <a:avLst>
              <a:gd name="adj1" fmla="val -46667"/>
              <a:gd name="adj2" fmla="val 65917"/>
            </a:avLst>
          </a:prstGeom>
          <a:solidFill>
            <a:srgbClr val="CCFFFF"/>
          </a:solidFill>
          <a:ln w="22225">
            <a:solidFill>
              <a:srgbClr val="7513D7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作数据总线时控制信号为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8104" y="195496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1999" y="195496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WordArt 4"/>
          <p:cNvSpPr>
            <a:spLocks noChangeArrowheads="1" noChangeShapeType="1" noTextEdit="1"/>
          </p:cNvSpPr>
          <p:nvPr/>
        </p:nvSpPr>
        <p:spPr bwMode="auto">
          <a:xfrm>
            <a:off x="6876256" y="2780928"/>
            <a:ext cx="504056" cy="3600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导通</a:t>
            </a:r>
            <a:endParaRPr lang="zh-CN" altLang="en-US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503318" y="2026987"/>
            <a:ext cx="0" cy="1330005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7489275" y="3356992"/>
            <a:ext cx="57467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88224" y="2307787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0031" y="3516853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00192" y="4060334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444208" y="4458556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用作数据总线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Oval 11"/>
          <p:cNvSpPr>
            <a:spLocks noChangeArrowheads="1"/>
          </p:cNvSpPr>
          <p:nvPr/>
        </p:nvSpPr>
        <p:spPr bwMode="auto">
          <a:xfrm>
            <a:off x="4643238" y="1268812"/>
            <a:ext cx="648842" cy="369887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 bwMode="auto">
          <a:xfrm>
            <a:off x="89693" y="1196752"/>
            <a:ext cx="8964613" cy="5040312"/>
            <a:chOff x="1091" y="2633216"/>
            <a:chExt cx="8964612" cy="5040312"/>
          </a:xfrm>
        </p:grpSpPr>
        <p:pic>
          <p:nvPicPr>
            <p:cNvPr id="3" name="Picture 6" descr="openfil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1" y="2633216"/>
              <a:ext cx="8964612" cy="5040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1"/>
            <p:cNvSpPr txBox="1"/>
            <p:nvPr/>
          </p:nvSpPr>
          <p:spPr>
            <a:xfrm>
              <a:off x="7702053" y="5297041"/>
              <a:ext cx="1260475" cy="369887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P0.x</a:t>
              </a:r>
              <a:r>
                <a:rPr lang="zh-CN" alt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引脚</a:t>
              </a:r>
              <a:endPara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5652120" y="602524"/>
            <a:ext cx="3097213" cy="826524"/>
          </a:xfrm>
          <a:prstGeom prst="wedgeEllipseCallout">
            <a:avLst>
              <a:gd name="adj1" fmla="val -46667"/>
              <a:gd name="adj2" fmla="val 65917"/>
            </a:avLst>
          </a:prstGeom>
          <a:solidFill>
            <a:srgbClr val="CCFFFF"/>
          </a:solidFill>
          <a:ln w="22225">
            <a:solidFill>
              <a:srgbClr val="7513D7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作数据总线时控制信号为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8104" y="195496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1999" y="1954961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WordArt 4"/>
          <p:cNvSpPr>
            <a:spLocks noChangeArrowheads="1" noChangeShapeType="1" noTextEdit="1"/>
          </p:cNvSpPr>
          <p:nvPr/>
        </p:nvSpPr>
        <p:spPr bwMode="auto">
          <a:xfrm>
            <a:off x="6624228" y="4549721"/>
            <a:ext cx="504056" cy="3600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导通</a:t>
            </a:r>
            <a:endParaRPr lang="zh-CN" altLang="en-US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510427" y="3705638"/>
            <a:ext cx="0" cy="1019506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7471419" y="3692109"/>
            <a:ext cx="57467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88224" y="2307787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0031" y="3516853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00192" y="4060334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32240" y="2740217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8164" y="205442"/>
            <a:ext cx="496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用作数据总线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（输出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Oval 11"/>
          <p:cNvSpPr>
            <a:spLocks noChangeArrowheads="1"/>
          </p:cNvSpPr>
          <p:nvPr/>
        </p:nvSpPr>
        <p:spPr bwMode="auto">
          <a:xfrm>
            <a:off x="4643238" y="1268812"/>
            <a:ext cx="648842" cy="369887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2902" y="476672"/>
            <a:ext cx="80515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口中的地址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数据总线分时复用的实现方法</a:t>
            </a:r>
            <a:endParaRPr lang="zh-CN" altLang="en-US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196752"/>
            <a:ext cx="8064896" cy="1959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口连接外部存储器时，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使“控制信号”保持“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”电平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，打开与门，控制权交给“地址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数据”端（即与门输出结果取决于“地址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数据”），多路开关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MUX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与反相器接通。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2902" y="3212976"/>
            <a:ext cx="8064896" cy="34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在前一个时刻输出地址的低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位，然后由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信号将它们锁存到逻辑芯片（如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74LS245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）里，之后再从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输出或输入数据，就实现了分时复用。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在这两个期间，地址的高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位，即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口的信号是不变的，并且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在后一半的时候也是不变的。这样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和之前输出的被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锁存到外面的逻辑芯片里的低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位共同组成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位访问外部存储器的地址。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27856" y="476672"/>
            <a:ext cx="7888287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580" indent="-44958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22705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0375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3868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958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30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102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674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P0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口的要点：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P0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口具有通用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I/O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口方式，可实现输出、读引脚（输入）和读锁存器三种功能；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P0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口为双向通用口，作为通用输入口时应先使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P0.n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→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；作为通用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I/O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口方式时，需要外接上拉电阻；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P0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口具有地址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数据分时复用方式，可实现地址输出、数据输入输出两种功能；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、地址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数据分时复用方式时无需外接上拉电阻；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5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、分时复用方式的数据输入时无需程序写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操作。</a:t>
            </a:r>
            <a:endParaRPr lang="en-US" altLang="zh-CN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4392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2.4.2  P1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口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1">
            <a:lum bright="-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765175"/>
            <a:ext cx="7488238" cy="439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971550" y="21336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1</a:t>
            </a:r>
            <a:endParaRPr lang="en-US" altLang="zh-CN" sz="2400" b="1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1994" name="Group 10"/>
          <p:cNvGrpSpPr/>
          <p:nvPr/>
        </p:nvGrpSpPr>
        <p:grpSpPr bwMode="auto">
          <a:xfrm>
            <a:off x="1979613" y="2205038"/>
            <a:ext cx="4897437" cy="936625"/>
            <a:chOff x="1247" y="1389"/>
            <a:chExt cx="3085" cy="590"/>
          </a:xfrm>
        </p:grpSpPr>
        <p:sp>
          <p:nvSpPr>
            <p:cNvPr id="53269" name="Line 11"/>
            <p:cNvSpPr>
              <a:spLocks noChangeShapeType="1"/>
            </p:cNvSpPr>
            <p:nvPr/>
          </p:nvSpPr>
          <p:spPr bwMode="auto">
            <a:xfrm>
              <a:off x="1247" y="1389"/>
              <a:ext cx="907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0" name="Line 12"/>
            <p:cNvSpPr>
              <a:spLocks noChangeShapeType="1"/>
            </p:cNvSpPr>
            <p:nvPr/>
          </p:nvSpPr>
          <p:spPr bwMode="auto">
            <a:xfrm>
              <a:off x="2154" y="1389"/>
              <a:ext cx="0" cy="59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1" name="Line 13"/>
            <p:cNvSpPr>
              <a:spLocks noChangeShapeType="1"/>
            </p:cNvSpPr>
            <p:nvPr/>
          </p:nvSpPr>
          <p:spPr bwMode="auto">
            <a:xfrm>
              <a:off x="2154" y="1979"/>
              <a:ext cx="1452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2" name="Line 14"/>
            <p:cNvSpPr>
              <a:spLocks noChangeShapeType="1"/>
            </p:cNvSpPr>
            <p:nvPr/>
          </p:nvSpPr>
          <p:spPr bwMode="auto">
            <a:xfrm flipV="1">
              <a:off x="3606" y="1389"/>
              <a:ext cx="0" cy="59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Line 15"/>
            <p:cNvSpPr>
              <a:spLocks noChangeShapeType="1"/>
            </p:cNvSpPr>
            <p:nvPr/>
          </p:nvSpPr>
          <p:spPr bwMode="auto">
            <a:xfrm>
              <a:off x="3606" y="1389"/>
              <a:ext cx="726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62"/>
          <p:cNvGrpSpPr/>
          <p:nvPr/>
        </p:nvGrpSpPr>
        <p:grpSpPr bwMode="auto">
          <a:xfrm>
            <a:off x="1476375" y="1628775"/>
            <a:ext cx="3167063" cy="733425"/>
            <a:chOff x="684" y="1515"/>
            <a:chExt cx="802" cy="318"/>
          </a:xfrm>
        </p:grpSpPr>
        <p:sp>
          <p:nvSpPr>
            <p:cNvPr id="53263" name="Line 18"/>
            <p:cNvSpPr>
              <a:spLocks noChangeShapeType="1"/>
            </p:cNvSpPr>
            <p:nvPr/>
          </p:nvSpPr>
          <p:spPr bwMode="auto">
            <a:xfrm flipH="1">
              <a:off x="1345" y="1821"/>
              <a:ext cx="14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Line 19"/>
            <p:cNvSpPr>
              <a:spLocks noChangeShapeType="1"/>
            </p:cNvSpPr>
            <p:nvPr/>
          </p:nvSpPr>
          <p:spPr bwMode="auto">
            <a:xfrm>
              <a:off x="1475" y="1520"/>
              <a:ext cx="0" cy="31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5" name="Line 20"/>
            <p:cNvSpPr>
              <a:spLocks noChangeShapeType="1"/>
            </p:cNvSpPr>
            <p:nvPr/>
          </p:nvSpPr>
          <p:spPr bwMode="auto">
            <a:xfrm flipH="1">
              <a:off x="1314" y="1522"/>
              <a:ext cx="17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6" name="Line 21"/>
            <p:cNvSpPr>
              <a:spLocks noChangeShapeType="1"/>
            </p:cNvSpPr>
            <p:nvPr/>
          </p:nvSpPr>
          <p:spPr bwMode="auto">
            <a:xfrm flipH="1">
              <a:off x="908" y="1522"/>
              <a:ext cx="21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Line 22"/>
            <p:cNvSpPr>
              <a:spLocks noChangeShapeType="1"/>
            </p:cNvSpPr>
            <p:nvPr/>
          </p:nvSpPr>
          <p:spPr bwMode="auto">
            <a:xfrm>
              <a:off x="917" y="1515"/>
              <a:ext cx="0" cy="29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23"/>
            <p:cNvSpPr>
              <a:spLocks noChangeShapeType="1"/>
            </p:cNvSpPr>
            <p:nvPr/>
          </p:nvSpPr>
          <p:spPr bwMode="auto">
            <a:xfrm flipH="1">
              <a:off x="684" y="1796"/>
              <a:ext cx="24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65"/>
          <p:cNvGrpSpPr/>
          <p:nvPr/>
        </p:nvGrpSpPr>
        <p:grpSpPr bwMode="auto">
          <a:xfrm>
            <a:off x="1757363" y="2414447"/>
            <a:ext cx="5524691" cy="1360009"/>
            <a:chOff x="550" y="3293"/>
            <a:chExt cx="1406" cy="456"/>
          </a:xfrm>
        </p:grpSpPr>
        <p:sp>
          <p:nvSpPr>
            <p:cNvPr id="53257" name="Line 11"/>
            <p:cNvSpPr>
              <a:spLocks noChangeShapeType="1"/>
            </p:cNvSpPr>
            <p:nvPr/>
          </p:nvSpPr>
          <p:spPr bwMode="auto">
            <a:xfrm flipH="1">
              <a:off x="1069" y="3749"/>
              <a:ext cx="6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12"/>
            <p:cNvSpPr>
              <a:spLocks noChangeShapeType="1"/>
            </p:cNvSpPr>
            <p:nvPr/>
          </p:nvSpPr>
          <p:spPr bwMode="auto">
            <a:xfrm flipH="1" flipV="1">
              <a:off x="798" y="3748"/>
              <a:ext cx="27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3"/>
            <p:cNvSpPr>
              <a:spLocks noChangeShapeType="1"/>
            </p:cNvSpPr>
            <p:nvPr/>
          </p:nvSpPr>
          <p:spPr bwMode="auto">
            <a:xfrm>
              <a:off x="1724" y="3308"/>
              <a:ext cx="0" cy="43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14"/>
            <p:cNvSpPr>
              <a:spLocks noChangeShapeType="1"/>
            </p:cNvSpPr>
            <p:nvPr/>
          </p:nvSpPr>
          <p:spPr bwMode="auto">
            <a:xfrm flipH="1">
              <a:off x="799" y="3293"/>
              <a:ext cx="5" cy="4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15"/>
            <p:cNvSpPr>
              <a:spLocks noChangeShapeType="1"/>
            </p:cNvSpPr>
            <p:nvPr/>
          </p:nvSpPr>
          <p:spPr bwMode="auto">
            <a:xfrm flipH="1">
              <a:off x="550" y="3311"/>
              <a:ext cx="2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16"/>
            <p:cNvSpPr>
              <a:spLocks noChangeShapeType="1"/>
            </p:cNvSpPr>
            <p:nvPr/>
          </p:nvSpPr>
          <p:spPr bwMode="auto">
            <a:xfrm flipH="1">
              <a:off x="1727" y="3308"/>
              <a:ext cx="22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808038" y="4657725"/>
            <a:ext cx="74930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580" indent="-44958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22705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0375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3868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958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30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102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674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口的要点：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口具有通用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口方式，可实现输出、读引脚（输入）和读锁存器三种功能；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口为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准双向通用口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，作为通用输入口时应先使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P1.n=1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，作为通用输出口时是无条件的。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95288" y="188913"/>
            <a:ext cx="43926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2.4.3  P2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口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1">
            <a:lum bright="-3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692150"/>
            <a:ext cx="7848600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1116013" y="4508500"/>
            <a:ext cx="7416800" cy="1679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600" b="1" dirty="0">
                <a:latin typeface="宋体" panose="02010600030101010101" pitchFamily="2" charset="-122"/>
              </a:rPr>
              <a:t>P2</a:t>
            </a:r>
            <a:r>
              <a:rPr lang="zh-CN" altLang="en-US" sz="2600" b="1" dirty="0">
                <a:latin typeface="宋体" panose="02010600030101010101" pitchFamily="2" charset="-122"/>
              </a:rPr>
              <a:t>口是一个</a:t>
            </a:r>
            <a:r>
              <a:rPr lang="en-US" altLang="zh-CN" sz="2600" b="1" dirty="0">
                <a:latin typeface="宋体" panose="02010600030101010101" pitchFamily="2" charset="-122"/>
              </a:rPr>
              <a:t>8</a:t>
            </a:r>
            <a:r>
              <a:rPr lang="zh-CN" altLang="en-US" sz="2600" b="1" dirty="0">
                <a:latin typeface="宋体" panose="02010600030101010101" pitchFamily="2" charset="-122"/>
              </a:rPr>
              <a:t>位准双向</a:t>
            </a:r>
            <a:r>
              <a:rPr lang="en-US" altLang="zh-CN" sz="2600" b="1" dirty="0">
                <a:latin typeface="宋体" panose="02010600030101010101" pitchFamily="2" charset="-122"/>
              </a:rPr>
              <a:t>I/O</a:t>
            </a:r>
            <a:r>
              <a:rPr lang="zh-CN" altLang="en-US" sz="2600" b="1" dirty="0">
                <a:latin typeface="宋体" panose="02010600030101010101" pitchFamily="2" charset="-122"/>
              </a:rPr>
              <a:t>口，具有两种功能。一是作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通用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I/O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口</a:t>
            </a:r>
            <a:r>
              <a:rPr lang="zh-CN" altLang="en-US" sz="2600" b="1" dirty="0">
                <a:latin typeface="宋体" panose="02010600030101010101" pitchFamily="2" charset="-122"/>
              </a:rPr>
              <a:t>用，与</a:t>
            </a:r>
            <a:r>
              <a:rPr lang="en-US" altLang="zh-CN" sz="2600" b="1" dirty="0">
                <a:latin typeface="宋体" panose="02010600030101010101" pitchFamily="2" charset="-122"/>
              </a:rPr>
              <a:t>P1</a:t>
            </a:r>
            <a:r>
              <a:rPr lang="zh-CN" altLang="en-US" sz="2600" b="1" dirty="0">
                <a:latin typeface="宋体" panose="02010600030101010101" pitchFamily="2" charset="-122"/>
              </a:rPr>
              <a:t>口相同。二是作扩展系统的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高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位地址总线</a:t>
            </a:r>
            <a:r>
              <a:rPr lang="zh-CN" altLang="en-US" sz="2600" b="1" dirty="0">
                <a:latin typeface="宋体" panose="02010600030101010101" pitchFamily="2" charset="-122"/>
              </a:rPr>
              <a:t>。输出高</a:t>
            </a:r>
            <a:r>
              <a:rPr lang="en-US" altLang="zh-CN" sz="2600" b="1" dirty="0">
                <a:latin typeface="宋体" panose="02010600030101010101" pitchFamily="2" charset="-122"/>
              </a:rPr>
              <a:t>8</a:t>
            </a:r>
            <a:r>
              <a:rPr lang="zh-CN" altLang="en-US" sz="2600" b="1" dirty="0">
                <a:latin typeface="宋体" panose="02010600030101010101" pitchFamily="2" charset="-122"/>
              </a:rPr>
              <a:t>位地址，与</a:t>
            </a:r>
            <a:r>
              <a:rPr lang="en-US" altLang="zh-CN" sz="2600" b="1" dirty="0">
                <a:latin typeface="宋体" panose="02010600030101010101" pitchFamily="2" charset="-122"/>
              </a:rPr>
              <a:t>P0</a:t>
            </a:r>
            <a:r>
              <a:rPr lang="zh-CN" altLang="en-US" sz="2600" b="1" dirty="0">
                <a:latin typeface="宋体" panose="02010600030101010101" pitchFamily="2" charset="-122"/>
              </a:rPr>
              <a:t>口一起组成</a:t>
            </a:r>
            <a:r>
              <a:rPr lang="en-US" altLang="zh-CN" sz="2600" b="1" dirty="0">
                <a:latin typeface="宋体" panose="02010600030101010101" pitchFamily="2" charset="-122"/>
              </a:rPr>
              <a:t>16</a:t>
            </a:r>
            <a:r>
              <a:rPr lang="zh-CN" altLang="en-US" sz="2600" b="1" dirty="0">
                <a:latin typeface="宋体" panose="02010600030101010101" pitchFamily="2" charset="-122"/>
              </a:rPr>
              <a:t>位地址总线。它的位结构如图所示。</a:t>
            </a:r>
            <a:endParaRPr lang="zh-CN" altLang="en-US" sz="2600" b="1" dirty="0">
              <a:latin typeface="宋体" panose="02010600030101010101" pitchFamily="2" charset="-122"/>
            </a:endParaRP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292725" y="4005263"/>
            <a:ext cx="3600450" cy="2678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输出地址时，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MUX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接地址信号；</a:t>
            </a:r>
            <a:endParaRPr lang="zh-CN" altLang="en-US" sz="2400" b="1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作通用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口时，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MUX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接锁存器</a:t>
            </a:r>
            <a:endParaRPr lang="zh-CN" altLang="en-US" sz="2400" b="1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作输入时，先对锁存器写“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1”</a:t>
            </a:r>
            <a:endParaRPr lang="en-US" altLang="zh-CN" sz="2400" b="1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6048375" y="0"/>
            <a:ext cx="3095625" cy="1628775"/>
          </a:xfrm>
          <a:prstGeom prst="wedgeRoundRectCallout">
            <a:avLst>
              <a:gd name="adj1" fmla="val -60769"/>
              <a:gd name="adj2" fmla="val 11597"/>
              <a:gd name="adj3" fmla="val 16667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控制信号为“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1”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时，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MUX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接上方；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为“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0”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时，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MUX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接下方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  <p:bldP spid="430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27856" y="548680"/>
            <a:ext cx="7888287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580" indent="-44958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22705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0375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3868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958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30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102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674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口的要点：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口具有通用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口方式，可实现输出、读引脚（输入）和读锁存器三种功能；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口为准双向通用口，作为通用输入口时应先使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P2.n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，作为通用输出口时应先使控制端→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；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、作为通用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口方式时，无需外接上拉电阻；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口具有地址输出方式，可实现地址输出功能。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27856" y="1336119"/>
            <a:ext cx="7888287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580" indent="-44958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22705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0375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3868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958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30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102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674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口的要点：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口具有通用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口方式，可实现输出、读引脚（输入）和读锁存器三种功能；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口为准双向通用口，作为通用输入口时应先使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P3.n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，作为通用输出口时应先使第二输出端→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；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口具有第二功能方式，可实现第二输出和第二输入两种功能。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684213" y="260350"/>
            <a:ext cx="4392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2.4.4  P3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口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84213" y="260350"/>
            <a:ext cx="4392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2.4.4  P3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口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5300" name="Picture 4" descr="GIF014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408738"/>
            <a:ext cx="7620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 descr="P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9064" r="15170"/>
          <a:stretch>
            <a:fillRect/>
          </a:stretch>
        </p:blipFill>
        <p:spPr bwMode="auto">
          <a:xfrm>
            <a:off x="1619250" y="1340768"/>
            <a:ext cx="6624638" cy="402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6877050" y="3283868"/>
            <a:ext cx="0" cy="12969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H="1">
            <a:off x="5148263" y="4580856"/>
            <a:ext cx="172878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0" name="Line 8"/>
          <p:cNvSpPr>
            <a:spLocks noChangeShapeType="1"/>
          </p:cNvSpPr>
          <p:nvPr/>
        </p:nvSpPr>
        <p:spPr bwMode="auto">
          <a:xfrm>
            <a:off x="5148263" y="4580856"/>
            <a:ext cx="0" cy="431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6948488" y="3572793"/>
            <a:ext cx="20161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仅第二功能输入时走此通路，其它则关闭第二功能输入，</a:t>
            </a:r>
            <a:r>
              <a:rPr lang="en-US" altLang="zh-CN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SFR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不接收数据。</a:t>
            </a:r>
            <a:endParaRPr lang="zh-CN" altLang="en-US" sz="2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0" y="1556668"/>
            <a:ext cx="1979613" cy="378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作为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时第二输出功能信号保持高电平，与非门的输出取决于锁存器的状态。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当输出第二功能信号时，锁存器置“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724525" y="4638006"/>
            <a:ext cx="11525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缓冲器</a:t>
            </a:r>
            <a:endParaRPr lang="zh-CN" altLang="en-US" sz="2000" b="1" dirty="0">
              <a:solidFill>
                <a:srgbClr val="99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1" grpId="0"/>
      <p:bldP spid="44042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lum bright="-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08050"/>
            <a:ext cx="8353425" cy="446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39552" y="5589240"/>
            <a:ext cx="792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关于双向与准双向的区别：</a:t>
            </a:r>
            <a:endParaRPr lang="en-US" altLang="zh-CN" sz="2400" b="1" dirty="0">
              <a:hlinkClick r:id="rId2"/>
            </a:endParaRPr>
          </a:p>
          <a:p>
            <a:r>
              <a:rPr lang="en-US" altLang="zh-CN" b="1" u="sng" dirty="0">
                <a:hlinkClick r:id="rId2"/>
              </a:rPr>
              <a:t>https://wenku.baidu.com/view/56fc8d3a844769eae009ed63.html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84213" y="260350"/>
            <a:ext cx="4392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2.4.4  P3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口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088" y="620713"/>
            <a:ext cx="72739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实例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：使用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P3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口流水点亮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8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位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LED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550" y="1628775"/>
            <a:ext cx="7416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要求：使用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口控制其外接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8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位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流水点亮。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550" y="2276475"/>
            <a:ext cx="7416800" cy="3240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分析：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先点亮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P3.0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引脚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，利用延时程序延时一段时间；接着点亮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P3.1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引脚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，利用延时程序延时一段时间；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……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依次类推，最后点亮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P3.7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引脚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，利用延时程序延时一段时间。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47813" y="765175"/>
            <a:ext cx="6496050" cy="44640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3350" y="260350"/>
            <a:ext cx="5375275" cy="64817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63938" y="260350"/>
            <a:ext cx="5472112" cy="3108325"/>
          </a:xfrm>
          <a:prstGeom prst="rect">
            <a:avLst/>
          </a:prstGeom>
          <a:solidFill>
            <a:srgbClr val="FFC000"/>
          </a:solidFill>
          <a:ln w="38100">
            <a:solidFill>
              <a:srgbClr val="7030A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void delay(void)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{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	 unsigned char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i,j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lvl="2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for(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=0;i&lt;250;i++)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	      for(j=0;j&lt;250;j++)  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		   ;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ags/tag1.xml><?xml version="1.0" encoding="utf-8"?>
<p:tagLst xmlns:p="http://schemas.openxmlformats.org/presentationml/2006/main">
  <p:tag name="COMMONDATA" val="eyJoZGlkIjoiZDlhNzhkNzI3NzgzMjVmNTVjOTdmNzdiNmViZTJjM2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3600</Words>
  <Application>WPS 演示</Application>
  <PresentationFormat>全屏显示(4:3)</PresentationFormat>
  <Paragraphs>301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仿宋</vt:lpstr>
      <vt:lpstr>楷体_GB2312</vt:lpstr>
      <vt:lpstr>新宋体</vt:lpstr>
      <vt:lpstr>隶书</vt:lpstr>
      <vt:lpstr>楷体</vt:lpstr>
      <vt:lpstr>华文行楷</vt:lpstr>
      <vt:lpstr>微软雅黑</vt:lpstr>
      <vt:lpstr>黑体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2.4.1  P0口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 User</dc:creator>
  <cp:lastModifiedBy>LmY</cp:lastModifiedBy>
  <cp:revision>113</cp:revision>
  <dcterms:created xsi:type="dcterms:W3CDTF">2013-01-22T02:28:00Z</dcterms:created>
  <dcterms:modified xsi:type="dcterms:W3CDTF">2025-03-02T08:32:05Z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07FB0B2223894758BFECFB75446BC492</vt:lpwstr>
  </property>
  <property fmtid="{D5CDD505-2E9C-101B-9397-08002B2CF9AE}" pid="3" name="KSOProductBuildVer">
    <vt:lpwstr>2052-12.1.0.19770</vt:lpwstr>
  </property>
</Properties>
</file>